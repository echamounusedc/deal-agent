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504" r:id="rId5"/>
    <p:sldId id="505" r:id="rId6"/>
    <p:sldId id="531" r:id="rId7"/>
    <p:sldId id="515" r:id="rId8"/>
    <p:sldId id="510" r:id="rId9"/>
    <p:sldId id="536" r:id="rId10"/>
    <p:sldId id="516" r:id="rId11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B513E8E-D741-6734-33BE-484CC60EF1AD}" name="Thi Dao" initials="TD" userId="S::tdao@USEDC.COM::9f99d11f-a059-4808-b8f8-ba18dbec277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bby Davis" initials="BD" lastIdx="2" clrIdx="0">
    <p:extLst>
      <p:ext uri="{19B8F6BF-5375-455C-9EA6-DF929625EA0E}">
        <p15:presenceInfo xmlns:p15="http://schemas.microsoft.com/office/powerpoint/2012/main" userId="S::bdavis@USEDC.COM::a4010fcb-01f1-4f84-ab5b-74f12dcfb21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24264A"/>
    <a:srgbClr val="02042E"/>
    <a:srgbClr val="0033CC"/>
    <a:srgbClr val="F99A95"/>
    <a:srgbClr val="97D9C7"/>
    <a:srgbClr val="F99893"/>
    <a:srgbClr val="96DACA"/>
    <a:srgbClr val="F99994"/>
    <a:srgbClr val="99BE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C44B05-DC94-9351-EBDC-C94BE95D3B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1CFEA7-9C44-54FD-9771-B1F9B138D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35CF70-0116-49ED-BFF7-4F13FE5C9DDA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3CCE64-6E45-A9B3-EFD4-5DDBE7F5E46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BD3869-3547-BE86-68DD-4CF3742A818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24CD8-97C3-466A-867E-7221CA8D3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6695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169811" cy="481370"/>
          </a:xfrm>
          <a:prstGeom prst="rect">
            <a:avLst/>
          </a:prstGeom>
        </p:spPr>
        <p:txBody>
          <a:bodyPr vert="horz" lIns="94661" tIns="47332" rIns="94661" bIns="4733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737" y="2"/>
            <a:ext cx="3169811" cy="481370"/>
          </a:xfrm>
          <a:prstGeom prst="rect">
            <a:avLst/>
          </a:prstGeom>
        </p:spPr>
        <p:txBody>
          <a:bodyPr vert="horz" lIns="94661" tIns="47332" rIns="94661" bIns="47332" rtlCol="0"/>
          <a:lstStyle>
            <a:lvl1pPr algn="r">
              <a:defRPr sz="1200"/>
            </a:lvl1pPr>
          </a:lstStyle>
          <a:p>
            <a:fld id="{A4AB815F-8DAA-4665-A89B-B7EE364ED138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61" tIns="47332" rIns="94661" bIns="4733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0861" y="4620498"/>
            <a:ext cx="5853483" cy="3780555"/>
          </a:xfrm>
          <a:prstGeom prst="rect">
            <a:avLst/>
          </a:prstGeom>
        </p:spPr>
        <p:txBody>
          <a:bodyPr vert="horz" lIns="94661" tIns="47332" rIns="94661" bIns="47332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119832"/>
            <a:ext cx="3169811" cy="481370"/>
          </a:xfrm>
          <a:prstGeom prst="rect">
            <a:avLst/>
          </a:prstGeom>
        </p:spPr>
        <p:txBody>
          <a:bodyPr vert="horz" lIns="94661" tIns="47332" rIns="94661" bIns="4733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737" y="9119832"/>
            <a:ext cx="3169811" cy="481370"/>
          </a:xfrm>
          <a:prstGeom prst="rect">
            <a:avLst/>
          </a:prstGeom>
        </p:spPr>
        <p:txBody>
          <a:bodyPr vert="horz" lIns="94661" tIns="47332" rIns="94661" bIns="47332" rtlCol="0" anchor="b"/>
          <a:lstStyle>
            <a:lvl1pPr algn="r">
              <a:defRPr sz="1200"/>
            </a:lvl1pPr>
          </a:lstStyle>
          <a:p>
            <a:fld id="{2CEDF81D-6627-4861-846D-D8A1C073A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733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FCFA71E0-1472-D661-6132-D9743A2001AB}"/>
              </a:ext>
            </a:extLst>
          </p:cNvPr>
          <p:cNvGrpSpPr/>
          <p:nvPr userDrawn="1"/>
        </p:nvGrpSpPr>
        <p:grpSpPr>
          <a:xfrm>
            <a:off x="27778" y="-1161370"/>
            <a:ext cx="12164222" cy="8658722"/>
            <a:chOff x="27778" y="-1161370"/>
            <a:chExt cx="12164222" cy="8658722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4075C657-CEE8-66E9-32DD-312C83EF104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4000" y="6253534"/>
              <a:ext cx="2942306" cy="51700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BC6C65B-2685-0953-1FD1-C1C9475BE6C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061145" y="519137"/>
              <a:ext cx="6096000" cy="3841422"/>
            </a:xfrm>
            <a:prstGeom prst="rect">
              <a:avLst/>
            </a:prstGeom>
            <a:ln w="28575">
              <a:solidFill>
                <a:schemeClr val="bg1"/>
              </a:solidFill>
            </a:ln>
          </p:spPr>
        </p:pic>
        <p:sp>
          <p:nvSpPr>
            <p:cNvPr id="28" name="Rectangle 20">
              <a:extLst>
                <a:ext uri="{FF2B5EF4-FFF2-40B4-BE49-F238E27FC236}">
                  <a16:creationId xmlns:a16="http://schemas.microsoft.com/office/drawing/2014/main" id="{E9364D65-66E9-BB8E-498E-957C6555F43B}"/>
                </a:ext>
              </a:extLst>
            </p:cNvPr>
            <p:cNvSpPr/>
            <p:nvPr userDrawn="1"/>
          </p:nvSpPr>
          <p:spPr>
            <a:xfrm rot="17967265">
              <a:off x="1012584" y="1840075"/>
              <a:ext cx="8658722" cy="2655832"/>
            </a:xfrm>
            <a:custGeom>
              <a:avLst/>
              <a:gdLst>
                <a:gd name="connsiteX0" fmla="*/ 0 w 8658722"/>
                <a:gd name="connsiteY0" fmla="*/ 0 h 2653396"/>
                <a:gd name="connsiteX1" fmla="*/ 8658722 w 8658722"/>
                <a:gd name="connsiteY1" fmla="*/ 0 h 2653396"/>
                <a:gd name="connsiteX2" fmla="*/ 8658722 w 8658722"/>
                <a:gd name="connsiteY2" fmla="*/ 2653396 h 2653396"/>
                <a:gd name="connsiteX3" fmla="*/ 0 w 8658722"/>
                <a:gd name="connsiteY3" fmla="*/ 2653396 h 2653396"/>
                <a:gd name="connsiteX4" fmla="*/ 0 w 8658722"/>
                <a:gd name="connsiteY4" fmla="*/ 0 h 2653396"/>
                <a:gd name="connsiteX0" fmla="*/ 0 w 8658722"/>
                <a:gd name="connsiteY0" fmla="*/ 2436 h 2655832"/>
                <a:gd name="connsiteX1" fmla="*/ 6733490 w 8658722"/>
                <a:gd name="connsiteY1" fmla="*/ 0 h 2655832"/>
                <a:gd name="connsiteX2" fmla="*/ 8658722 w 8658722"/>
                <a:gd name="connsiteY2" fmla="*/ 2655832 h 2655832"/>
                <a:gd name="connsiteX3" fmla="*/ 0 w 8658722"/>
                <a:gd name="connsiteY3" fmla="*/ 2655832 h 2655832"/>
                <a:gd name="connsiteX4" fmla="*/ 0 w 8658722"/>
                <a:gd name="connsiteY4" fmla="*/ 2436 h 2655832"/>
                <a:gd name="connsiteX0" fmla="*/ 0 w 8658722"/>
                <a:gd name="connsiteY0" fmla="*/ 2436 h 2655832"/>
                <a:gd name="connsiteX1" fmla="*/ 6733490 w 8658722"/>
                <a:gd name="connsiteY1" fmla="*/ 0 h 2655832"/>
                <a:gd name="connsiteX2" fmla="*/ 8658722 w 8658722"/>
                <a:gd name="connsiteY2" fmla="*/ 2655832 h 2655832"/>
                <a:gd name="connsiteX3" fmla="*/ 924880 w 8658722"/>
                <a:gd name="connsiteY3" fmla="*/ 2036340 h 2655832"/>
                <a:gd name="connsiteX4" fmla="*/ 0 w 8658722"/>
                <a:gd name="connsiteY4" fmla="*/ 2436 h 265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58722" h="2655832">
                  <a:moveTo>
                    <a:pt x="0" y="2436"/>
                  </a:moveTo>
                  <a:lnTo>
                    <a:pt x="6733490" y="0"/>
                  </a:lnTo>
                  <a:lnTo>
                    <a:pt x="8658722" y="2655832"/>
                  </a:lnTo>
                  <a:lnTo>
                    <a:pt x="924880" y="2036340"/>
                  </a:lnTo>
                  <a:lnTo>
                    <a:pt x="0" y="24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1">
              <a:extLst>
                <a:ext uri="{FF2B5EF4-FFF2-40B4-BE49-F238E27FC236}">
                  <a16:creationId xmlns:a16="http://schemas.microsoft.com/office/drawing/2014/main" id="{2403FE68-F2DF-39D7-731B-11180DB9F649}"/>
                </a:ext>
              </a:extLst>
            </p:cNvPr>
            <p:cNvSpPr/>
            <p:nvPr userDrawn="1"/>
          </p:nvSpPr>
          <p:spPr>
            <a:xfrm>
              <a:off x="27778" y="1974634"/>
              <a:ext cx="5124306" cy="1297328"/>
            </a:xfrm>
            <a:custGeom>
              <a:avLst/>
              <a:gdLst>
                <a:gd name="connsiteX0" fmla="*/ 0 w 4186052"/>
                <a:gd name="connsiteY0" fmla="*/ 0 h 2638567"/>
                <a:gd name="connsiteX1" fmla="*/ 4186052 w 4186052"/>
                <a:gd name="connsiteY1" fmla="*/ 0 h 2638567"/>
                <a:gd name="connsiteX2" fmla="*/ 4186052 w 4186052"/>
                <a:gd name="connsiteY2" fmla="*/ 2638567 h 2638567"/>
                <a:gd name="connsiteX3" fmla="*/ 0 w 4186052"/>
                <a:gd name="connsiteY3" fmla="*/ 2638567 h 2638567"/>
                <a:gd name="connsiteX4" fmla="*/ 0 w 4186052"/>
                <a:gd name="connsiteY4" fmla="*/ 0 h 2638567"/>
                <a:gd name="connsiteX0" fmla="*/ 0 w 5967144"/>
                <a:gd name="connsiteY0" fmla="*/ 7952 h 2646519"/>
                <a:gd name="connsiteX1" fmla="*/ 5967144 w 5967144"/>
                <a:gd name="connsiteY1" fmla="*/ 0 h 2646519"/>
                <a:gd name="connsiteX2" fmla="*/ 4186052 w 5967144"/>
                <a:gd name="connsiteY2" fmla="*/ 2646519 h 2646519"/>
                <a:gd name="connsiteX3" fmla="*/ 0 w 5967144"/>
                <a:gd name="connsiteY3" fmla="*/ 2646519 h 2646519"/>
                <a:gd name="connsiteX4" fmla="*/ 0 w 5967144"/>
                <a:gd name="connsiteY4" fmla="*/ 7952 h 2646519"/>
                <a:gd name="connsiteX0" fmla="*/ 0 w 5124306"/>
                <a:gd name="connsiteY0" fmla="*/ 7952 h 2646519"/>
                <a:gd name="connsiteX1" fmla="*/ 5124306 w 5124306"/>
                <a:gd name="connsiteY1" fmla="*/ 0 h 2646519"/>
                <a:gd name="connsiteX2" fmla="*/ 4186052 w 5124306"/>
                <a:gd name="connsiteY2" fmla="*/ 2646519 h 2646519"/>
                <a:gd name="connsiteX3" fmla="*/ 0 w 5124306"/>
                <a:gd name="connsiteY3" fmla="*/ 2646519 h 2646519"/>
                <a:gd name="connsiteX4" fmla="*/ 0 w 5124306"/>
                <a:gd name="connsiteY4" fmla="*/ 7952 h 264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24306" h="2646519">
                  <a:moveTo>
                    <a:pt x="0" y="7952"/>
                  </a:moveTo>
                  <a:lnTo>
                    <a:pt x="5124306" y="0"/>
                  </a:lnTo>
                  <a:lnTo>
                    <a:pt x="4186052" y="2646519"/>
                  </a:lnTo>
                  <a:lnTo>
                    <a:pt x="0" y="2646519"/>
                  </a:lnTo>
                  <a:lnTo>
                    <a:pt x="0" y="7952"/>
                  </a:lnTo>
                  <a:close/>
                </a:path>
              </a:pathLst>
            </a:custGeom>
            <a:solidFill>
              <a:srgbClr val="AA2226"/>
            </a:solidFill>
            <a:ln w="381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71FADA22-22DA-6E79-0F79-2AC01738452D}"/>
                </a:ext>
              </a:extLst>
            </p:cNvPr>
            <p:cNvSpPr/>
            <p:nvPr userDrawn="1"/>
          </p:nvSpPr>
          <p:spPr>
            <a:xfrm>
              <a:off x="27778" y="2873952"/>
              <a:ext cx="5818263" cy="2123567"/>
            </a:xfrm>
            <a:custGeom>
              <a:avLst/>
              <a:gdLst>
                <a:gd name="connsiteX0" fmla="*/ 0 w 4186052"/>
                <a:gd name="connsiteY0" fmla="*/ 0 h 2638567"/>
                <a:gd name="connsiteX1" fmla="*/ 4186052 w 4186052"/>
                <a:gd name="connsiteY1" fmla="*/ 0 h 2638567"/>
                <a:gd name="connsiteX2" fmla="*/ 4186052 w 4186052"/>
                <a:gd name="connsiteY2" fmla="*/ 2638567 h 2638567"/>
                <a:gd name="connsiteX3" fmla="*/ 0 w 4186052"/>
                <a:gd name="connsiteY3" fmla="*/ 2638567 h 2638567"/>
                <a:gd name="connsiteX4" fmla="*/ 0 w 4186052"/>
                <a:gd name="connsiteY4" fmla="*/ 0 h 2638567"/>
                <a:gd name="connsiteX0" fmla="*/ 0 w 5967144"/>
                <a:gd name="connsiteY0" fmla="*/ 7952 h 2646519"/>
                <a:gd name="connsiteX1" fmla="*/ 5967144 w 5967144"/>
                <a:gd name="connsiteY1" fmla="*/ 0 h 2646519"/>
                <a:gd name="connsiteX2" fmla="*/ 4186052 w 5967144"/>
                <a:gd name="connsiteY2" fmla="*/ 2646519 h 2646519"/>
                <a:gd name="connsiteX3" fmla="*/ 0 w 5967144"/>
                <a:gd name="connsiteY3" fmla="*/ 2646519 h 2646519"/>
                <a:gd name="connsiteX4" fmla="*/ 0 w 5967144"/>
                <a:gd name="connsiteY4" fmla="*/ 7952 h 264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67144" h="2646519">
                  <a:moveTo>
                    <a:pt x="0" y="7952"/>
                  </a:moveTo>
                  <a:lnTo>
                    <a:pt x="5967144" y="0"/>
                  </a:lnTo>
                  <a:lnTo>
                    <a:pt x="4186052" y="2646519"/>
                  </a:lnTo>
                  <a:lnTo>
                    <a:pt x="0" y="2646519"/>
                  </a:lnTo>
                  <a:lnTo>
                    <a:pt x="0" y="7952"/>
                  </a:lnTo>
                  <a:close/>
                </a:path>
              </a:pathLst>
            </a:custGeom>
            <a:solidFill>
              <a:srgbClr val="02042E"/>
            </a:solidFill>
            <a:ln w="28575"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CB08E51-2B22-6FCF-06FF-52C973944A98}"/>
                </a:ext>
              </a:extLst>
            </p:cNvPr>
            <p:cNvSpPr txBox="1"/>
            <p:nvPr userDrawn="1"/>
          </p:nvSpPr>
          <p:spPr>
            <a:xfrm>
              <a:off x="220806" y="2883490"/>
              <a:ext cx="4846494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U.S. ENERGY</a:t>
              </a:r>
            </a:p>
            <a:p>
              <a:r>
                <a:rPr lang="en-US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Development Corporation</a:t>
              </a:r>
            </a:p>
          </p:txBody>
        </p:sp>
        <p:sp>
          <p:nvSpPr>
            <p:cNvPr id="25" name="Rectangle 2">
              <a:extLst>
                <a:ext uri="{FF2B5EF4-FFF2-40B4-BE49-F238E27FC236}">
                  <a16:creationId xmlns:a16="http://schemas.microsoft.com/office/drawing/2014/main" id="{C45E9BD3-D6B6-74F4-74E8-7E2729E7E93C}"/>
                </a:ext>
              </a:extLst>
            </p:cNvPr>
            <p:cNvSpPr/>
            <p:nvPr userDrawn="1"/>
          </p:nvSpPr>
          <p:spPr>
            <a:xfrm>
              <a:off x="3267075" y="3897769"/>
              <a:ext cx="8909023" cy="1184745"/>
            </a:xfrm>
            <a:custGeom>
              <a:avLst/>
              <a:gdLst>
                <a:gd name="connsiteX0" fmla="*/ 0 w 8033468"/>
                <a:gd name="connsiteY0" fmla="*/ 0 h 1184745"/>
                <a:gd name="connsiteX1" fmla="*/ 8033468 w 8033468"/>
                <a:gd name="connsiteY1" fmla="*/ 0 h 1184745"/>
                <a:gd name="connsiteX2" fmla="*/ 8033468 w 8033468"/>
                <a:gd name="connsiteY2" fmla="*/ 1184745 h 1184745"/>
                <a:gd name="connsiteX3" fmla="*/ 0 w 8033468"/>
                <a:gd name="connsiteY3" fmla="*/ 1184745 h 1184745"/>
                <a:gd name="connsiteX4" fmla="*/ 0 w 8033468"/>
                <a:gd name="connsiteY4" fmla="*/ 0 h 1184745"/>
                <a:gd name="connsiteX0" fmla="*/ 771276 w 8804744"/>
                <a:gd name="connsiteY0" fmla="*/ 0 h 1184745"/>
                <a:gd name="connsiteX1" fmla="*/ 8804744 w 8804744"/>
                <a:gd name="connsiteY1" fmla="*/ 0 h 1184745"/>
                <a:gd name="connsiteX2" fmla="*/ 8804744 w 8804744"/>
                <a:gd name="connsiteY2" fmla="*/ 1184745 h 1184745"/>
                <a:gd name="connsiteX3" fmla="*/ 0 w 8804744"/>
                <a:gd name="connsiteY3" fmla="*/ 1184745 h 1184745"/>
                <a:gd name="connsiteX4" fmla="*/ 771276 w 8804744"/>
                <a:gd name="connsiteY4" fmla="*/ 0 h 1184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4744" h="1184745">
                  <a:moveTo>
                    <a:pt x="771276" y="0"/>
                  </a:moveTo>
                  <a:lnTo>
                    <a:pt x="8804744" y="0"/>
                  </a:lnTo>
                  <a:lnTo>
                    <a:pt x="8804744" y="1184745"/>
                  </a:lnTo>
                  <a:lnTo>
                    <a:pt x="0" y="1184745"/>
                  </a:lnTo>
                  <a:lnTo>
                    <a:pt x="771276" y="0"/>
                  </a:lnTo>
                  <a:close/>
                </a:path>
              </a:pathLst>
            </a:custGeom>
            <a:solidFill>
              <a:srgbClr val="02042E"/>
            </a:solidFill>
            <a:ln w="38100"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9961A5F-779F-28D7-F34C-4A4C96F4B9E7}"/>
                </a:ext>
              </a:extLst>
            </p:cNvPr>
            <p:cNvSpPr/>
            <p:nvPr userDrawn="1"/>
          </p:nvSpPr>
          <p:spPr>
            <a:xfrm>
              <a:off x="4822922" y="83758"/>
              <a:ext cx="7369078" cy="18582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066BCEE-6617-B4EA-3A12-2EAB85DDAB76}"/>
                </a:ext>
              </a:extLst>
            </p:cNvPr>
            <p:cNvSpPr txBox="1"/>
            <p:nvPr userDrawn="1"/>
          </p:nvSpPr>
          <p:spPr>
            <a:xfrm>
              <a:off x="10286961" y="79684"/>
              <a:ext cx="188748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b="1" spc="3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STRICTLY CONFIDENTIAL</a:t>
              </a:r>
            </a:p>
          </p:txBody>
        </p:sp>
      </p:grp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E105C02A-A537-6247-55DE-9CBFF1EDDBD8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0806" y="2199438"/>
            <a:ext cx="4179887" cy="487355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January 3, 2023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203D292B-7715-9B75-210E-B01B0FB185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99248" y="4139500"/>
            <a:ext cx="6408738" cy="435120"/>
          </a:xfrm>
        </p:spPr>
        <p:txBody>
          <a:bodyPr lIns="0" rIns="0">
            <a:normAutofit/>
          </a:bodyPr>
          <a:lstStyle>
            <a:lvl1pPr marL="0" indent="0">
              <a:buNone/>
              <a:defRPr sz="2600" b="1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Deal Name Prospect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8F5C09B5-BCC6-2A28-6DEE-8E39CD91F31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99248" y="4520458"/>
            <a:ext cx="6408738" cy="435120"/>
          </a:xfrm>
        </p:spPr>
        <p:txBody>
          <a:bodyPr lIns="0" rIns="0">
            <a:normAutofit/>
          </a:bodyPr>
          <a:lstStyle>
            <a:lvl1pPr marL="0" indent="0">
              <a:buNone/>
              <a:defRPr sz="1600" b="1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County - State</a:t>
            </a:r>
          </a:p>
        </p:txBody>
      </p:sp>
    </p:spTree>
    <p:extLst>
      <p:ext uri="{BB962C8B-B14F-4D97-AF65-F5344CB8AC3E}">
        <p14:creationId xmlns:p14="http://schemas.microsoft.com/office/powerpoint/2010/main" val="4105480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Deal Sign-Off 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>
            <a:extLst>
              <a:ext uri="{FF2B5EF4-FFF2-40B4-BE49-F238E27FC236}">
                <a16:creationId xmlns:a16="http://schemas.microsoft.com/office/drawing/2014/main" id="{EE7E127B-AD24-38C8-8650-30B7A245CE2F}"/>
              </a:ext>
            </a:extLst>
          </p:cNvPr>
          <p:cNvSpPr/>
          <p:nvPr userDrawn="1"/>
        </p:nvSpPr>
        <p:spPr>
          <a:xfrm>
            <a:off x="0" y="673298"/>
            <a:ext cx="10491849" cy="235155"/>
          </a:xfrm>
          <a:custGeom>
            <a:avLst/>
            <a:gdLst>
              <a:gd name="connsiteX0" fmla="*/ 0 w 10629900"/>
              <a:gd name="connsiteY0" fmla="*/ 0 h 365125"/>
              <a:gd name="connsiteX1" fmla="*/ 10629900 w 10629900"/>
              <a:gd name="connsiteY1" fmla="*/ 0 h 365125"/>
              <a:gd name="connsiteX2" fmla="*/ 10629900 w 10629900"/>
              <a:gd name="connsiteY2" fmla="*/ 365125 h 365125"/>
              <a:gd name="connsiteX3" fmla="*/ 0 w 10629900"/>
              <a:gd name="connsiteY3" fmla="*/ 365125 h 365125"/>
              <a:gd name="connsiteX4" fmla="*/ 0 w 10629900"/>
              <a:gd name="connsiteY4" fmla="*/ 0 h 365125"/>
              <a:gd name="connsiteX0" fmla="*/ 0 w 10629900"/>
              <a:gd name="connsiteY0" fmla="*/ 0 h 365125"/>
              <a:gd name="connsiteX1" fmla="*/ 10629900 w 10629900"/>
              <a:gd name="connsiteY1" fmla="*/ 0 h 365125"/>
              <a:gd name="connsiteX2" fmla="*/ 10077450 w 10629900"/>
              <a:gd name="connsiteY2" fmla="*/ 355600 h 365125"/>
              <a:gd name="connsiteX3" fmla="*/ 0 w 10629900"/>
              <a:gd name="connsiteY3" fmla="*/ 365125 h 365125"/>
              <a:gd name="connsiteX4" fmla="*/ 0 w 10629900"/>
              <a:gd name="connsiteY4" fmla="*/ 0 h 36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29900" h="365125">
                <a:moveTo>
                  <a:pt x="0" y="0"/>
                </a:moveTo>
                <a:lnTo>
                  <a:pt x="10629900" y="0"/>
                </a:lnTo>
                <a:lnTo>
                  <a:pt x="10077450" y="355600"/>
                </a:lnTo>
                <a:lnTo>
                  <a:pt x="0" y="3651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BFD6F7-2F68-E7C7-BAB9-F296DF06C2D5}"/>
              </a:ext>
            </a:extLst>
          </p:cNvPr>
          <p:cNvCxnSpPr/>
          <p:nvPr userDrawn="1"/>
        </p:nvCxnSpPr>
        <p:spPr>
          <a:xfrm>
            <a:off x="0" y="623328"/>
            <a:ext cx="12192000" cy="0"/>
          </a:xfrm>
          <a:prstGeom prst="line">
            <a:avLst/>
          </a:prstGeom>
          <a:ln w="28575">
            <a:solidFill>
              <a:srgbClr val="3436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6990C06-D522-9597-F667-4738D221AA53}"/>
              </a:ext>
            </a:extLst>
          </p:cNvPr>
          <p:cNvSpPr txBox="1"/>
          <p:nvPr userDrawn="1"/>
        </p:nvSpPr>
        <p:spPr>
          <a:xfrm>
            <a:off x="333375" y="73388"/>
            <a:ext cx="3556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Deal Sign-Off Sheet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C0E914-C5D0-5857-6B4D-475A3C9F4EF6}"/>
              </a:ext>
            </a:extLst>
          </p:cNvPr>
          <p:cNvSpPr txBox="1"/>
          <p:nvPr userDrawn="1"/>
        </p:nvSpPr>
        <p:spPr>
          <a:xfrm>
            <a:off x="3767916" y="169777"/>
            <a:ext cx="262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endParaRPr lang="en-US" sz="20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6F28D579-FFBA-58E3-4801-FFC56C4CD9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15294" y="228719"/>
            <a:ext cx="8204662" cy="357794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Deal Name</a:t>
            </a:r>
          </a:p>
        </p:txBody>
      </p:sp>
      <p:graphicFrame>
        <p:nvGraphicFramePr>
          <p:cNvPr id="28" name="Table 6">
            <a:extLst>
              <a:ext uri="{FF2B5EF4-FFF2-40B4-BE49-F238E27FC236}">
                <a16:creationId xmlns:a16="http://schemas.microsoft.com/office/drawing/2014/main" id="{B00B1F54-B069-E0A3-9225-2474CBE7ABE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00451228"/>
              </p:ext>
            </p:extLst>
          </p:nvPr>
        </p:nvGraphicFramePr>
        <p:xfrm>
          <a:off x="482599" y="1776869"/>
          <a:ext cx="11209391" cy="256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9391">
                  <a:extLst>
                    <a:ext uri="{9D8B030D-6E8A-4147-A177-3AD203B41FA5}">
                      <a16:colId xmlns:a16="http://schemas.microsoft.com/office/drawing/2014/main" val="2709411978"/>
                    </a:ext>
                  </a:extLst>
                </a:gridCol>
              </a:tblGrid>
              <a:tr h="184747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Acceptance Sign-Off</a:t>
                      </a:r>
                    </a:p>
                  </a:txBody>
                  <a:tcPr marL="45720" marB="2743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481481"/>
                  </a:ext>
                </a:extLst>
              </a:tr>
            </a:tbl>
          </a:graphicData>
        </a:graphic>
      </p:graphicFrame>
      <p:graphicFrame>
        <p:nvGraphicFramePr>
          <p:cNvPr id="29" name="Table 8">
            <a:extLst>
              <a:ext uri="{FF2B5EF4-FFF2-40B4-BE49-F238E27FC236}">
                <a16:creationId xmlns:a16="http://schemas.microsoft.com/office/drawing/2014/main" id="{BBD43960-9D9E-087D-AB2D-B056AF22222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58771540"/>
              </p:ext>
            </p:extLst>
          </p:nvPr>
        </p:nvGraphicFramePr>
        <p:xfrm>
          <a:off x="482599" y="2056712"/>
          <a:ext cx="8128000" cy="256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4726">
                  <a:extLst>
                    <a:ext uri="{9D8B030D-6E8A-4147-A177-3AD203B41FA5}">
                      <a16:colId xmlns:a16="http://schemas.microsoft.com/office/drawing/2014/main" val="2129635177"/>
                    </a:ext>
                  </a:extLst>
                </a:gridCol>
                <a:gridCol w="7153274">
                  <a:extLst>
                    <a:ext uri="{9D8B030D-6E8A-4147-A177-3AD203B41FA5}">
                      <a16:colId xmlns:a16="http://schemas.microsoft.com/office/drawing/2014/main" val="1479668850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Name:</a:t>
                      </a:r>
                    </a:p>
                  </a:txBody>
                  <a:tcPr marL="4572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2628137"/>
                  </a:ext>
                </a:extLst>
              </a:tr>
            </a:tbl>
          </a:graphicData>
        </a:graphic>
      </p:graphicFrame>
      <p:graphicFrame>
        <p:nvGraphicFramePr>
          <p:cNvPr id="30" name="Table 6">
            <a:extLst>
              <a:ext uri="{FF2B5EF4-FFF2-40B4-BE49-F238E27FC236}">
                <a16:creationId xmlns:a16="http://schemas.microsoft.com/office/drawing/2014/main" id="{6FDC6EDF-14D5-B606-CD79-46745488C60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48756953"/>
              </p:ext>
            </p:extLst>
          </p:nvPr>
        </p:nvGraphicFramePr>
        <p:xfrm>
          <a:off x="491304" y="2471456"/>
          <a:ext cx="5303520" cy="22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188">
                  <a:extLst>
                    <a:ext uri="{9D8B030D-6E8A-4147-A177-3AD203B41FA5}">
                      <a16:colId xmlns:a16="http://schemas.microsoft.com/office/drawing/2014/main" val="2709411978"/>
                    </a:ext>
                  </a:extLst>
                </a:gridCol>
                <a:gridCol w="4335332">
                  <a:extLst>
                    <a:ext uri="{9D8B030D-6E8A-4147-A177-3AD203B41FA5}">
                      <a16:colId xmlns:a16="http://schemas.microsoft.com/office/drawing/2014/main" val="2861028828"/>
                    </a:ext>
                  </a:extLst>
                </a:gridCol>
              </a:tblGrid>
              <a:tr h="130584"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Sign-Off #1</a:t>
                      </a:r>
                    </a:p>
                  </a:txBody>
                  <a:tcPr marL="45720" marB="2743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Jordan Jayson</a:t>
                      </a:r>
                    </a:p>
                  </a:txBody>
                  <a:tcPr marL="45720" marB="27432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481481"/>
                  </a:ext>
                </a:extLst>
              </a:tr>
            </a:tbl>
          </a:graphicData>
        </a:graphic>
      </p:graphicFrame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7FE65E71-910B-6A1F-8800-BF518D70E19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11113786"/>
              </p:ext>
            </p:extLst>
          </p:nvPr>
        </p:nvGraphicFramePr>
        <p:xfrm>
          <a:off x="6397175" y="2471456"/>
          <a:ext cx="5303520" cy="22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188">
                  <a:extLst>
                    <a:ext uri="{9D8B030D-6E8A-4147-A177-3AD203B41FA5}">
                      <a16:colId xmlns:a16="http://schemas.microsoft.com/office/drawing/2014/main" val="2709411978"/>
                    </a:ext>
                  </a:extLst>
                </a:gridCol>
                <a:gridCol w="4335332">
                  <a:extLst>
                    <a:ext uri="{9D8B030D-6E8A-4147-A177-3AD203B41FA5}">
                      <a16:colId xmlns:a16="http://schemas.microsoft.com/office/drawing/2014/main" val="2861028828"/>
                    </a:ext>
                  </a:extLst>
                </a:gridCol>
              </a:tblGrid>
              <a:tr h="130584"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Sign-Off #4</a:t>
                      </a:r>
                    </a:p>
                  </a:txBody>
                  <a:tcPr marL="45720" marB="2743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Todd Witmer</a:t>
                      </a:r>
                    </a:p>
                  </a:txBody>
                  <a:tcPr marL="45720" marB="27432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481481"/>
                  </a:ext>
                </a:extLst>
              </a:tr>
            </a:tbl>
          </a:graphicData>
        </a:graphic>
      </p:graphicFrame>
      <p:graphicFrame>
        <p:nvGraphicFramePr>
          <p:cNvPr id="32" name="Table 11">
            <a:extLst>
              <a:ext uri="{FF2B5EF4-FFF2-40B4-BE49-F238E27FC236}">
                <a16:creationId xmlns:a16="http://schemas.microsoft.com/office/drawing/2014/main" id="{64AB193C-169E-CD6C-A38A-BE27C9FA497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897205032"/>
              </p:ext>
            </p:extLst>
          </p:nvPr>
        </p:nvGraphicFramePr>
        <p:xfrm>
          <a:off x="491305" y="2730329"/>
          <a:ext cx="5303523" cy="542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020">
                  <a:extLst>
                    <a:ext uri="{9D8B030D-6E8A-4147-A177-3AD203B41FA5}">
                      <a16:colId xmlns:a16="http://schemas.microsoft.com/office/drawing/2014/main" val="3279156469"/>
                    </a:ext>
                  </a:extLst>
                </a:gridCol>
                <a:gridCol w="2849245">
                  <a:extLst>
                    <a:ext uri="{9D8B030D-6E8A-4147-A177-3AD203B41FA5}">
                      <a16:colId xmlns:a16="http://schemas.microsoft.com/office/drawing/2014/main" val="10741832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12279656"/>
                    </a:ext>
                  </a:extLst>
                </a:gridCol>
                <a:gridCol w="1279978">
                  <a:extLst>
                    <a:ext uri="{9D8B030D-6E8A-4147-A177-3AD203B41FA5}">
                      <a16:colId xmlns:a16="http://schemas.microsoft.com/office/drawing/2014/main" val="1524678321"/>
                    </a:ext>
                  </a:extLst>
                </a:gridCol>
              </a:tblGrid>
              <a:tr h="271281">
                <a:tc>
                  <a:txBody>
                    <a:bodyPr/>
                    <a:lstStyle/>
                    <a:p>
                      <a:endParaRPr lang="en-US" sz="100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Signature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640291"/>
                  </a:ext>
                </a:extLst>
              </a:tr>
              <a:tr h="271281">
                <a:tc>
                  <a:txBody>
                    <a:bodyPr/>
                    <a:lstStyle/>
                    <a:p>
                      <a:endParaRPr 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108497"/>
                  </a:ext>
                </a:extLst>
              </a:tr>
            </a:tbl>
          </a:graphicData>
        </a:graphic>
      </p:graphicFrame>
      <p:graphicFrame>
        <p:nvGraphicFramePr>
          <p:cNvPr id="33" name="Table 11">
            <a:extLst>
              <a:ext uri="{FF2B5EF4-FFF2-40B4-BE49-F238E27FC236}">
                <a16:creationId xmlns:a16="http://schemas.microsoft.com/office/drawing/2014/main" id="{CA59A06F-412D-4236-0A78-04BC7BFC682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31440207"/>
              </p:ext>
            </p:extLst>
          </p:nvPr>
        </p:nvGraphicFramePr>
        <p:xfrm>
          <a:off x="6397172" y="2740259"/>
          <a:ext cx="5303523" cy="539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020">
                  <a:extLst>
                    <a:ext uri="{9D8B030D-6E8A-4147-A177-3AD203B41FA5}">
                      <a16:colId xmlns:a16="http://schemas.microsoft.com/office/drawing/2014/main" val="3279156469"/>
                    </a:ext>
                  </a:extLst>
                </a:gridCol>
                <a:gridCol w="2849245">
                  <a:extLst>
                    <a:ext uri="{9D8B030D-6E8A-4147-A177-3AD203B41FA5}">
                      <a16:colId xmlns:a16="http://schemas.microsoft.com/office/drawing/2014/main" val="10741832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12279656"/>
                    </a:ext>
                  </a:extLst>
                </a:gridCol>
                <a:gridCol w="1279978">
                  <a:extLst>
                    <a:ext uri="{9D8B030D-6E8A-4147-A177-3AD203B41FA5}">
                      <a16:colId xmlns:a16="http://schemas.microsoft.com/office/drawing/2014/main" val="1524678321"/>
                    </a:ext>
                  </a:extLst>
                </a:gridCol>
              </a:tblGrid>
              <a:tr h="269748">
                <a:tc>
                  <a:txBody>
                    <a:bodyPr/>
                    <a:lstStyle/>
                    <a:p>
                      <a:endParaRPr lang="en-US" sz="100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Signature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640291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endParaRPr 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108497"/>
                  </a:ext>
                </a:extLst>
              </a:tr>
            </a:tbl>
          </a:graphicData>
        </a:graphic>
      </p:graphicFrame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144F2C3B-69D7-FF7B-B28F-30867A95376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85211824"/>
              </p:ext>
            </p:extLst>
          </p:nvPr>
        </p:nvGraphicFramePr>
        <p:xfrm>
          <a:off x="491304" y="3409375"/>
          <a:ext cx="5303520" cy="22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188">
                  <a:extLst>
                    <a:ext uri="{9D8B030D-6E8A-4147-A177-3AD203B41FA5}">
                      <a16:colId xmlns:a16="http://schemas.microsoft.com/office/drawing/2014/main" val="2709411978"/>
                    </a:ext>
                  </a:extLst>
                </a:gridCol>
                <a:gridCol w="4335332">
                  <a:extLst>
                    <a:ext uri="{9D8B030D-6E8A-4147-A177-3AD203B41FA5}">
                      <a16:colId xmlns:a16="http://schemas.microsoft.com/office/drawing/2014/main" val="2861028828"/>
                    </a:ext>
                  </a:extLst>
                </a:gridCol>
              </a:tblGrid>
              <a:tr h="130584"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Sign-Off #2</a:t>
                      </a:r>
                    </a:p>
                  </a:txBody>
                  <a:tcPr marL="45720" marB="2743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Brandon Standifird</a:t>
                      </a:r>
                    </a:p>
                  </a:txBody>
                  <a:tcPr marL="45720" marB="27432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481481"/>
                  </a:ext>
                </a:extLst>
              </a:tr>
            </a:tbl>
          </a:graphicData>
        </a:graphic>
      </p:graphicFrame>
      <p:graphicFrame>
        <p:nvGraphicFramePr>
          <p:cNvPr id="35" name="Table 11">
            <a:extLst>
              <a:ext uri="{FF2B5EF4-FFF2-40B4-BE49-F238E27FC236}">
                <a16:creationId xmlns:a16="http://schemas.microsoft.com/office/drawing/2014/main" id="{2CA37642-802F-BD06-6269-58F52A3BBF9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7017026"/>
              </p:ext>
            </p:extLst>
          </p:nvPr>
        </p:nvGraphicFramePr>
        <p:xfrm>
          <a:off x="491305" y="3668248"/>
          <a:ext cx="5303523" cy="542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020">
                  <a:extLst>
                    <a:ext uri="{9D8B030D-6E8A-4147-A177-3AD203B41FA5}">
                      <a16:colId xmlns:a16="http://schemas.microsoft.com/office/drawing/2014/main" val="3279156469"/>
                    </a:ext>
                  </a:extLst>
                </a:gridCol>
                <a:gridCol w="2849245">
                  <a:extLst>
                    <a:ext uri="{9D8B030D-6E8A-4147-A177-3AD203B41FA5}">
                      <a16:colId xmlns:a16="http://schemas.microsoft.com/office/drawing/2014/main" val="10741832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12279656"/>
                    </a:ext>
                  </a:extLst>
                </a:gridCol>
                <a:gridCol w="1279978">
                  <a:extLst>
                    <a:ext uri="{9D8B030D-6E8A-4147-A177-3AD203B41FA5}">
                      <a16:colId xmlns:a16="http://schemas.microsoft.com/office/drawing/2014/main" val="1524678321"/>
                    </a:ext>
                  </a:extLst>
                </a:gridCol>
              </a:tblGrid>
              <a:tr h="271281">
                <a:tc>
                  <a:txBody>
                    <a:bodyPr/>
                    <a:lstStyle/>
                    <a:p>
                      <a:endParaRPr lang="en-US" sz="100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Signature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640291"/>
                  </a:ext>
                </a:extLst>
              </a:tr>
              <a:tr h="271281">
                <a:tc>
                  <a:txBody>
                    <a:bodyPr/>
                    <a:lstStyle/>
                    <a:p>
                      <a:endParaRPr 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108497"/>
                  </a:ext>
                </a:extLst>
              </a:tr>
            </a:tbl>
          </a:graphicData>
        </a:graphic>
      </p:graphicFrame>
      <p:graphicFrame>
        <p:nvGraphicFramePr>
          <p:cNvPr id="36" name="Table 6">
            <a:extLst>
              <a:ext uri="{FF2B5EF4-FFF2-40B4-BE49-F238E27FC236}">
                <a16:creationId xmlns:a16="http://schemas.microsoft.com/office/drawing/2014/main" id="{9C7B3213-DA9C-01CB-05D4-7EC675393D8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11322414"/>
              </p:ext>
            </p:extLst>
          </p:nvPr>
        </p:nvGraphicFramePr>
        <p:xfrm>
          <a:off x="6388470" y="3409375"/>
          <a:ext cx="5303520" cy="22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188">
                  <a:extLst>
                    <a:ext uri="{9D8B030D-6E8A-4147-A177-3AD203B41FA5}">
                      <a16:colId xmlns:a16="http://schemas.microsoft.com/office/drawing/2014/main" val="2709411978"/>
                    </a:ext>
                  </a:extLst>
                </a:gridCol>
                <a:gridCol w="4335332">
                  <a:extLst>
                    <a:ext uri="{9D8B030D-6E8A-4147-A177-3AD203B41FA5}">
                      <a16:colId xmlns:a16="http://schemas.microsoft.com/office/drawing/2014/main" val="2861028828"/>
                    </a:ext>
                  </a:extLst>
                </a:gridCol>
              </a:tblGrid>
              <a:tr h="130584"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Sign-Off #5</a:t>
                      </a:r>
                    </a:p>
                  </a:txBody>
                  <a:tcPr marL="45720" marB="2743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Destiny Arteaga</a:t>
                      </a:r>
                    </a:p>
                  </a:txBody>
                  <a:tcPr marL="45720" marB="27432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481481"/>
                  </a:ext>
                </a:extLst>
              </a:tr>
            </a:tbl>
          </a:graphicData>
        </a:graphic>
      </p:graphicFrame>
      <p:graphicFrame>
        <p:nvGraphicFramePr>
          <p:cNvPr id="37" name="Table 11">
            <a:extLst>
              <a:ext uri="{FF2B5EF4-FFF2-40B4-BE49-F238E27FC236}">
                <a16:creationId xmlns:a16="http://schemas.microsoft.com/office/drawing/2014/main" id="{C95C776D-3380-E8FE-4252-3C03FC8878E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545957596"/>
              </p:ext>
            </p:extLst>
          </p:nvPr>
        </p:nvGraphicFramePr>
        <p:xfrm>
          <a:off x="6388467" y="3668248"/>
          <a:ext cx="5303523" cy="539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020">
                  <a:extLst>
                    <a:ext uri="{9D8B030D-6E8A-4147-A177-3AD203B41FA5}">
                      <a16:colId xmlns:a16="http://schemas.microsoft.com/office/drawing/2014/main" val="3279156469"/>
                    </a:ext>
                  </a:extLst>
                </a:gridCol>
                <a:gridCol w="2849245">
                  <a:extLst>
                    <a:ext uri="{9D8B030D-6E8A-4147-A177-3AD203B41FA5}">
                      <a16:colId xmlns:a16="http://schemas.microsoft.com/office/drawing/2014/main" val="10741832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12279656"/>
                    </a:ext>
                  </a:extLst>
                </a:gridCol>
                <a:gridCol w="1279978">
                  <a:extLst>
                    <a:ext uri="{9D8B030D-6E8A-4147-A177-3AD203B41FA5}">
                      <a16:colId xmlns:a16="http://schemas.microsoft.com/office/drawing/2014/main" val="1524678321"/>
                    </a:ext>
                  </a:extLst>
                </a:gridCol>
              </a:tblGrid>
              <a:tr h="269748">
                <a:tc>
                  <a:txBody>
                    <a:bodyPr/>
                    <a:lstStyle/>
                    <a:p>
                      <a:endParaRPr lang="en-US" sz="100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Signature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640291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endParaRPr 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108497"/>
                  </a:ext>
                </a:extLst>
              </a:tr>
            </a:tbl>
          </a:graphicData>
        </a:graphic>
      </p:graphicFrame>
      <p:graphicFrame>
        <p:nvGraphicFramePr>
          <p:cNvPr id="38" name="Table 6">
            <a:extLst>
              <a:ext uri="{FF2B5EF4-FFF2-40B4-BE49-F238E27FC236}">
                <a16:creationId xmlns:a16="http://schemas.microsoft.com/office/drawing/2014/main" id="{E67C97A4-54DC-7FB9-E52B-C1FCD5305EE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75232892"/>
              </p:ext>
            </p:extLst>
          </p:nvPr>
        </p:nvGraphicFramePr>
        <p:xfrm>
          <a:off x="491304" y="4369522"/>
          <a:ext cx="5303520" cy="22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188">
                  <a:extLst>
                    <a:ext uri="{9D8B030D-6E8A-4147-A177-3AD203B41FA5}">
                      <a16:colId xmlns:a16="http://schemas.microsoft.com/office/drawing/2014/main" val="2709411978"/>
                    </a:ext>
                  </a:extLst>
                </a:gridCol>
                <a:gridCol w="4335332">
                  <a:extLst>
                    <a:ext uri="{9D8B030D-6E8A-4147-A177-3AD203B41FA5}">
                      <a16:colId xmlns:a16="http://schemas.microsoft.com/office/drawing/2014/main" val="2861028828"/>
                    </a:ext>
                  </a:extLst>
                </a:gridCol>
              </a:tblGrid>
              <a:tr h="130584"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Sign-Off #3</a:t>
                      </a:r>
                    </a:p>
                  </a:txBody>
                  <a:tcPr marL="45720" marB="2743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Kevin Duncan</a:t>
                      </a:r>
                    </a:p>
                  </a:txBody>
                  <a:tcPr marL="45720" marB="27432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481481"/>
                  </a:ext>
                </a:extLst>
              </a:tr>
            </a:tbl>
          </a:graphicData>
        </a:graphic>
      </p:graphicFrame>
      <p:graphicFrame>
        <p:nvGraphicFramePr>
          <p:cNvPr id="39" name="Table 11">
            <a:extLst>
              <a:ext uri="{FF2B5EF4-FFF2-40B4-BE49-F238E27FC236}">
                <a16:creationId xmlns:a16="http://schemas.microsoft.com/office/drawing/2014/main" id="{98E955C3-1048-150B-B4C0-8E8293F2182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56068324"/>
              </p:ext>
            </p:extLst>
          </p:nvPr>
        </p:nvGraphicFramePr>
        <p:xfrm>
          <a:off x="491305" y="4628395"/>
          <a:ext cx="5303523" cy="542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020">
                  <a:extLst>
                    <a:ext uri="{9D8B030D-6E8A-4147-A177-3AD203B41FA5}">
                      <a16:colId xmlns:a16="http://schemas.microsoft.com/office/drawing/2014/main" val="3279156469"/>
                    </a:ext>
                  </a:extLst>
                </a:gridCol>
                <a:gridCol w="2849245">
                  <a:extLst>
                    <a:ext uri="{9D8B030D-6E8A-4147-A177-3AD203B41FA5}">
                      <a16:colId xmlns:a16="http://schemas.microsoft.com/office/drawing/2014/main" val="10741832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12279656"/>
                    </a:ext>
                  </a:extLst>
                </a:gridCol>
                <a:gridCol w="1279978">
                  <a:extLst>
                    <a:ext uri="{9D8B030D-6E8A-4147-A177-3AD203B41FA5}">
                      <a16:colId xmlns:a16="http://schemas.microsoft.com/office/drawing/2014/main" val="1524678321"/>
                    </a:ext>
                  </a:extLst>
                </a:gridCol>
              </a:tblGrid>
              <a:tr h="271281">
                <a:tc>
                  <a:txBody>
                    <a:bodyPr/>
                    <a:lstStyle/>
                    <a:p>
                      <a:endParaRPr lang="en-US" sz="100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Signature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640291"/>
                  </a:ext>
                </a:extLst>
              </a:tr>
              <a:tr h="271281">
                <a:tc>
                  <a:txBody>
                    <a:bodyPr/>
                    <a:lstStyle/>
                    <a:p>
                      <a:endParaRPr 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108497"/>
                  </a:ext>
                </a:extLst>
              </a:tr>
            </a:tbl>
          </a:graphicData>
        </a:graphic>
      </p:graphicFrame>
      <p:graphicFrame>
        <p:nvGraphicFramePr>
          <p:cNvPr id="40" name="Table 6">
            <a:extLst>
              <a:ext uri="{FF2B5EF4-FFF2-40B4-BE49-F238E27FC236}">
                <a16:creationId xmlns:a16="http://schemas.microsoft.com/office/drawing/2014/main" id="{974E1063-71A3-8D93-E230-7177C9ED3B5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5149829"/>
              </p:ext>
            </p:extLst>
          </p:nvPr>
        </p:nvGraphicFramePr>
        <p:xfrm>
          <a:off x="6388470" y="4369522"/>
          <a:ext cx="5303520" cy="22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188">
                  <a:extLst>
                    <a:ext uri="{9D8B030D-6E8A-4147-A177-3AD203B41FA5}">
                      <a16:colId xmlns:a16="http://schemas.microsoft.com/office/drawing/2014/main" val="2709411978"/>
                    </a:ext>
                  </a:extLst>
                </a:gridCol>
                <a:gridCol w="4335332">
                  <a:extLst>
                    <a:ext uri="{9D8B030D-6E8A-4147-A177-3AD203B41FA5}">
                      <a16:colId xmlns:a16="http://schemas.microsoft.com/office/drawing/2014/main" val="2861028828"/>
                    </a:ext>
                  </a:extLst>
                </a:gridCol>
              </a:tblGrid>
              <a:tr h="130584"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Sign-Off #6</a:t>
                      </a:r>
                    </a:p>
                  </a:txBody>
                  <a:tcPr marL="45720" marB="2743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1000" b="1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B="27432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481481"/>
                  </a:ext>
                </a:extLst>
              </a:tr>
            </a:tbl>
          </a:graphicData>
        </a:graphic>
      </p:graphicFrame>
      <p:graphicFrame>
        <p:nvGraphicFramePr>
          <p:cNvPr id="41" name="Table 11">
            <a:extLst>
              <a:ext uri="{FF2B5EF4-FFF2-40B4-BE49-F238E27FC236}">
                <a16:creationId xmlns:a16="http://schemas.microsoft.com/office/drawing/2014/main" id="{BF809C2C-7921-1DD8-E5E2-C364F620586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96514352"/>
              </p:ext>
            </p:extLst>
          </p:nvPr>
        </p:nvGraphicFramePr>
        <p:xfrm>
          <a:off x="6388467" y="4628395"/>
          <a:ext cx="5303523" cy="539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020">
                  <a:extLst>
                    <a:ext uri="{9D8B030D-6E8A-4147-A177-3AD203B41FA5}">
                      <a16:colId xmlns:a16="http://schemas.microsoft.com/office/drawing/2014/main" val="3279156469"/>
                    </a:ext>
                  </a:extLst>
                </a:gridCol>
                <a:gridCol w="2849245">
                  <a:extLst>
                    <a:ext uri="{9D8B030D-6E8A-4147-A177-3AD203B41FA5}">
                      <a16:colId xmlns:a16="http://schemas.microsoft.com/office/drawing/2014/main" val="10741832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12279656"/>
                    </a:ext>
                  </a:extLst>
                </a:gridCol>
                <a:gridCol w="1279978">
                  <a:extLst>
                    <a:ext uri="{9D8B030D-6E8A-4147-A177-3AD203B41FA5}">
                      <a16:colId xmlns:a16="http://schemas.microsoft.com/office/drawing/2014/main" val="1524678321"/>
                    </a:ext>
                  </a:extLst>
                </a:gridCol>
              </a:tblGrid>
              <a:tr h="269748">
                <a:tc>
                  <a:txBody>
                    <a:bodyPr/>
                    <a:lstStyle/>
                    <a:p>
                      <a:endParaRPr lang="en-US" sz="100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Signature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640291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endParaRPr 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108497"/>
                  </a:ext>
                </a:extLst>
              </a:tr>
            </a:tbl>
          </a:graphicData>
        </a:graphic>
      </p:graphicFrame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A05742-06E6-3E3C-8571-FAB9CF3D5C0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458262" y="2085250"/>
            <a:ext cx="10233728" cy="247162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Deal Name - County, State</a:t>
            </a:r>
          </a:p>
        </p:txBody>
      </p:sp>
      <p:sp>
        <p:nvSpPr>
          <p:cNvPr id="45" name="Slide Number Placeholder 1">
            <a:extLst>
              <a:ext uri="{FF2B5EF4-FFF2-40B4-BE49-F238E27FC236}">
                <a16:creationId xmlns:a16="http://schemas.microsoft.com/office/drawing/2014/main" id="{EC9D126C-8D21-D8BC-84B9-839DF2D07A8A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19BDD-DD89-4CD9-A1F3-D76BEB018B7B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782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4DE5016-2788-DB03-A98B-AB1EFE97EF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2114" y="6483933"/>
            <a:ext cx="10491166" cy="374650"/>
          </a:xfrm>
        </p:spPr>
        <p:txBody>
          <a:bodyPr anchor="t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97F4A706-0F4D-4706-A9FB-B9355F5842B6}"/>
              </a:ext>
            </a:extLst>
          </p:cNvPr>
          <p:cNvSpPr/>
          <p:nvPr userDrawn="1"/>
        </p:nvSpPr>
        <p:spPr>
          <a:xfrm>
            <a:off x="0" y="673298"/>
            <a:ext cx="10491849" cy="235155"/>
          </a:xfrm>
          <a:custGeom>
            <a:avLst/>
            <a:gdLst>
              <a:gd name="connsiteX0" fmla="*/ 0 w 10629900"/>
              <a:gd name="connsiteY0" fmla="*/ 0 h 365125"/>
              <a:gd name="connsiteX1" fmla="*/ 10629900 w 10629900"/>
              <a:gd name="connsiteY1" fmla="*/ 0 h 365125"/>
              <a:gd name="connsiteX2" fmla="*/ 10629900 w 10629900"/>
              <a:gd name="connsiteY2" fmla="*/ 365125 h 365125"/>
              <a:gd name="connsiteX3" fmla="*/ 0 w 10629900"/>
              <a:gd name="connsiteY3" fmla="*/ 365125 h 365125"/>
              <a:gd name="connsiteX4" fmla="*/ 0 w 10629900"/>
              <a:gd name="connsiteY4" fmla="*/ 0 h 365125"/>
              <a:gd name="connsiteX0" fmla="*/ 0 w 10629900"/>
              <a:gd name="connsiteY0" fmla="*/ 0 h 365125"/>
              <a:gd name="connsiteX1" fmla="*/ 10629900 w 10629900"/>
              <a:gd name="connsiteY1" fmla="*/ 0 h 365125"/>
              <a:gd name="connsiteX2" fmla="*/ 10077450 w 10629900"/>
              <a:gd name="connsiteY2" fmla="*/ 355600 h 365125"/>
              <a:gd name="connsiteX3" fmla="*/ 0 w 10629900"/>
              <a:gd name="connsiteY3" fmla="*/ 365125 h 365125"/>
              <a:gd name="connsiteX4" fmla="*/ 0 w 10629900"/>
              <a:gd name="connsiteY4" fmla="*/ 0 h 36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29900" h="365125">
                <a:moveTo>
                  <a:pt x="0" y="0"/>
                </a:moveTo>
                <a:lnTo>
                  <a:pt x="10629900" y="0"/>
                </a:lnTo>
                <a:lnTo>
                  <a:pt x="10077450" y="355600"/>
                </a:lnTo>
                <a:lnTo>
                  <a:pt x="0" y="3651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EF7DA6-42FA-443D-82FD-DDB40A0BB056}"/>
              </a:ext>
            </a:extLst>
          </p:cNvPr>
          <p:cNvCxnSpPr/>
          <p:nvPr userDrawn="1"/>
        </p:nvCxnSpPr>
        <p:spPr>
          <a:xfrm>
            <a:off x="0" y="623328"/>
            <a:ext cx="12192000" cy="0"/>
          </a:xfrm>
          <a:prstGeom prst="line">
            <a:avLst/>
          </a:prstGeom>
          <a:ln w="28575">
            <a:solidFill>
              <a:srgbClr val="3436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0264C16-D2DF-5B85-D3C4-B1B07C55B97B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19BDD-DD89-4CD9-A1F3-D76BEB018B7B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64FA3D60-430C-AB99-ADFF-A7A254F13762}"/>
              </a:ext>
            </a:extLst>
          </p:cNvPr>
          <p:cNvSpPr/>
          <p:nvPr userDrawn="1"/>
        </p:nvSpPr>
        <p:spPr>
          <a:xfrm>
            <a:off x="0" y="673298"/>
            <a:ext cx="10491849" cy="235155"/>
          </a:xfrm>
          <a:custGeom>
            <a:avLst/>
            <a:gdLst>
              <a:gd name="connsiteX0" fmla="*/ 0 w 10629900"/>
              <a:gd name="connsiteY0" fmla="*/ 0 h 365125"/>
              <a:gd name="connsiteX1" fmla="*/ 10629900 w 10629900"/>
              <a:gd name="connsiteY1" fmla="*/ 0 h 365125"/>
              <a:gd name="connsiteX2" fmla="*/ 10629900 w 10629900"/>
              <a:gd name="connsiteY2" fmla="*/ 365125 h 365125"/>
              <a:gd name="connsiteX3" fmla="*/ 0 w 10629900"/>
              <a:gd name="connsiteY3" fmla="*/ 365125 h 365125"/>
              <a:gd name="connsiteX4" fmla="*/ 0 w 10629900"/>
              <a:gd name="connsiteY4" fmla="*/ 0 h 365125"/>
              <a:gd name="connsiteX0" fmla="*/ 0 w 10629900"/>
              <a:gd name="connsiteY0" fmla="*/ 0 h 365125"/>
              <a:gd name="connsiteX1" fmla="*/ 10629900 w 10629900"/>
              <a:gd name="connsiteY1" fmla="*/ 0 h 365125"/>
              <a:gd name="connsiteX2" fmla="*/ 10077450 w 10629900"/>
              <a:gd name="connsiteY2" fmla="*/ 355600 h 365125"/>
              <a:gd name="connsiteX3" fmla="*/ 0 w 10629900"/>
              <a:gd name="connsiteY3" fmla="*/ 365125 h 365125"/>
              <a:gd name="connsiteX4" fmla="*/ 0 w 10629900"/>
              <a:gd name="connsiteY4" fmla="*/ 0 h 36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29900" h="365125">
                <a:moveTo>
                  <a:pt x="0" y="0"/>
                </a:moveTo>
                <a:lnTo>
                  <a:pt x="10629900" y="0"/>
                </a:lnTo>
                <a:lnTo>
                  <a:pt x="10077450" y="355600"/>
                </a:lnTo>
                <a:lnTo>
                  <a:pt x="0" y="3651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F1D922F-995F-7FF0-F91E-30F742E8759E}"/>
              </a:ext>
            </a:extLst>
          </p:cNvPr>
          <p:cNvCxnSpPr/>
          <p:nvPr userDrawn="1"/>
        </p:nvCxnSpPr>
        <p:spPr>
          <a:xfrm>
            <a:off x="0" y="623328"/>
            <a:ext cx="12192000" cy="0"/>
          </a:xfrm>
          <a:prstGeom prst="line">
            <a:avLst/>
          </a:prstGeom>
          <a:ln w="28575">
            <a:solidFill>
              <a:srgbClr val="3436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B2526F0-0C04-4EEA-EA6D-BA066C6F8EC0}"/>
              </a:ext>
            </a:extLst>
          </p:cNvPr>
          <p:cNvSpPr txBox="1"/>
          <p:nvPr userDrawn="1"/>
        </p:nvSpPr>
        <p:spPr>
          <a:xfrm>
            <a:off x="333375" y="73388"/>
            <a:ext cx="39280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Executive Summary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41EFD0-36A4-A450-E728-17FE6C7E6CEB}"/>
              </a:ext>
            </a:extLst>
          </p:cNvPr>
          <p:cNvSpPr txBox="1"/>
          <p:nvPr userDrawn="1"/>
        </p:nvSpPr>
        <p:spPr>
          <a:xfrm>
            <a:off x="3819675" y="169777"/>
            <a:ext cx="262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endParaRPr lang="en-US" sz="20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4E814CF0-3259-14A7-E507-5949F67361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7053" y="228719"/>
            <a:ext cx="8204662" cy="357794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Deal Name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D3D1D8C-B6D2-46CF-5094-8E6F871C632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35788" y="994315"/>
            <a:ext cx="5235575" cy="5291138"/>
          </a:xfrm>
        </p:spPr>
        <p:txBody>
          <a:bodyPr>
            <a:normAutofit/>
          </a:bodyPr>
          <a:lstStyle>
            <a:lvl1pPr>
              <a:defRPr sz="1000" b="0" u="none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1000"/>
              <a:t>Map</a:t>
            </a:r>
          </a:p>
        </p:txBody>
      </p:sp>
      <p:sp>
        <p:nvSpPr>
          <p:cNvPr id="12" name="Table Placeholder 24">
            <a:extLst>
              <a:ext uri="{FF2B5EF4-FFF2-40B4-BE49-F238E27FC236}">
                <a16:creationId xmlns:a16="http://schemas.microsoft.com/office/drawing/2014/main" id="{D4E3CA29-B075-98AF-3112-2330664AA72C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392114" y="3985404"/>
            <a:ext cx="6370995" cy="2300049"/>
          </a:xfrm>
        </p:spPr>
        <p:txBody>
          <a:bodyPr>
            <a:normAutofit/>
          </a:bodyPr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endParaRPr lang="en-US"/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7DFE5F9E-D14C-5337-73B7-874B1B0C6A6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134" y="1020194"/>
            <a:ext cx="6370995" cy="2766730"/>
          </a:xfrm>
        </p:spPr>
        <p:txBody>
          <a:bodyPr>
            <a:normAutofit/>
          </a:bodyPr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918704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4DE5016-2788-DB03-A98B-AB1EFE97EF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2114" y="6483933"/>
            <a:ext cx="10491166" cy="374650"/>
          </a:xfrm>
        </p:spPr>
        <p:txBody>
          <a:bodyPr anchor="t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97F4A706-0F4D-4706-A9FB-B9355F5842B6}"/>
              </a:ext>
            </a:extLst>
          </p:cNvPr>
          <p:cNvSpPr/>
          <p:nvPr userDrawn="1"/>
        </p:nvSpPr>
        <p:spPr>
          <a:xfrm>
            <a:off x="0" y="673298"/>
            <a:ext cx="10491849" cy="235155"/>
          </a:xfrm>
          <a:custGeom>
            <a:avLst/>
            <a:gdLst>
              <a:gd name="connsiteX0" fmla="*/ 0 w 10629900"/>
              <a:gd name="connsiteY0" fmla="*/ 0 h 365125"/>
              <a:gd name="connsiteX1" fmla="*/ 10629900 w 10629900"/>
              <a:gd name="connsiteY1" fmla="*/ 0 h 365125"/>
              <a:gd name="connsiteX2" fmla="*/ 10629900 w 10629900"/>
              <a:gd name="connsiteY2" fmla="*/ 365125 h 365125"/>
              <a:gd name="connsiteX3" fmla="*/ 0 w 10629900"/>
              <a:gd name="connsiteY3" fmla="*/ 365125 h 365125"/>
              <a:gd name="connsiteX4" fmla="*/ 0 w 10629900"/>
              <a:gd name="connsiteY4" fmla="*/ 0 h 365125"/>
              <a:gd name="connsiteX0" fmla="*/ 0 w 10629900"/>
              <a:gd name="connsiteY0" fmla="*/ 0 h 365125"/>
              <a:gd name="connsiteX1" fmla="*/ 10629900 w 10629900"/>
              <a:gd name="connsiteY1" fmla="*/ 0 h 365125"/>
              <a:gd name="connsiteX2" fmla="*/ 10077450 w 10629900"/>
              <a:gd name="connsiteY2" fmla="*/ 355600 h 365125"/>
              <a:gd name="connsiteX3" fmla="*/ 0 w 10629900"/>
              <a:gd name="connsiteY3" fmla="*/ 365125 h 365125"/>
              <a:gd name="connsiteX4" fmla="*/ 0 w 10629900"/>
              <a:gd name="connsiteY4" fmla="*/ 0 h 36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29900" h="365125">
                <a:moveTo>
                  <a:pt x="0" y="0"/>
                </a:moveTo>
                <a:lnTo>
                  <a:pt x="10629900" y="0"/>
                </a:lnTo>
                <a:lnTo>
                  <a:pt x="10077450" y="355600"/>
                </a:lnTo>
                <a:lnTo>
                  <a:pt x="0" y="3651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D95C57-D0F9-4D39-81D4-8BE1F77E05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375" y="105971"/>
            <a:ext cx="11125200" cy="496493"/>
          </a:xfrm>
          <a:prstGeom prst="rect">
            <a:avLst/>
          </a:prstGeom>
        </p:spPr>
        <p:txBody>
          <a:bodyPr anchor="ctr"/>
          <a:lstStyle>
            <a:lvl1pPr algn="l">
              <a:defRPr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EF7DA6-42FA-443D-82FD-DDB40A0BB056}"/>
              </a:ext>
            </a:extLst>
          </p:cNvPr>
          <p:cNvCxnSpPr/>
          <p:nvPr userDrawn="1"/>
        </p:nvCxnSpPr>
        <p:spPr>
          <a:xfrm>
            <a:off x="0" y="623328"/>
            <a:ext cx="12192000" cy="0"/>
          </a:xfrm>
          <a:prstGeom prst="line">
            <a:avLst/>
          </a:prstGeom>
          <a:ln w="28575">
            <a:solidFill>
              <a:srgbClr val="3436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0264C16-D2DF-5B85-D3C4-B1B07C55B97B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19BDD-DD89-4CD9-A1F3-D76BEB018B7B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67327E0A-AA77-332B-50FA-A6E8C02501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134" y="1020194"/>
            <a:ext cx="6370995" cy="2766730"/>
          </a:xfrm>
        </p:spPr>
        <p:txBody>
          <a:bodyPr>
            <a:normAutofit/>
          </a:bodyPr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418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l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4DE5016-2788-DB03-A98B-AB1EFE97EF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2114" y="6483933"/>
            <a:ext cx="10491166" cy="374650"/>
          </a:xfrm>
        </p:spPr>
        <p:txBody>
          <a:bodyPr anchor="t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97F4A706-0F4D-4706-A9FB-B9355F5842B6}"/>
              </a:ext>
            </a:extLst>
          </p:cNvPr>
          <p:cNvSpPr/>
          <p:nvPr userDrawn="1"/>
        </p:nvSpPr>
        <p:spPr>
          <a:xfrm>
            <a:off x="0" y="673298"/>
            <a:ext cx="10491849" cy="235155"/>
          </a:xfrm>
          <a:custGeom>
            <a:avLst/>
            <a:gdLst>
              <a:gd name="connsiteX0" fmla="*/ 0 w 10629900"/>
              <a:gd name="connsiteY0" fmla="*/ 0 h 365125"/>
              <a:gd name="connsiteX1" fmla="*/ 10629900 w 10629900"/>
              <a:gd name="connsiteY1" fmla="*/ 0 h 365125"/>
              <a:gd name="connsiteX2" fmla="*/ 10629900 w 10629900"/>
              <a:gd name="connsiteY2" fmla="*/ 365125 h 365125"/>
              <a:gd name="connsiteX3" fmla="*/ 0 w 10629900"/>
              <a:gd name="connsiteY3" fmla="*/ 365125 h 365125"/>
              <a:gd name="connsiteX4" fmla="*/ 0 w 10629900"/>
              <a:gd name="connsiteY4" fmla="*/ 0 h 365125"/>
              <a:gd name="connsiteX0" fmla="*/ 0 w 10629900"/>
              <a:gd name="connsiteY0" fmla="*/ 0 h 365125"/>
              <a:gd name="connsiteX1" fmla="*/ 10629900 w 10629900"/>
              <a:gd name="connsiteY1" fmla="*/ 0 h 365125"/>
              <a:gd name="connsiteX2" fmla="*/ 10077450 w 10629900"/>
              <a:gd name="connsiteY2" fmla="*/ 355600 h 365125"/>
              <a:gd name="connsiteX3" fmla="*/ 0 w 10629900"/>
              <a:gd name="connsiteY3" fmla="*/ 365125 h 365125"/>
              <a:gd name="connsiteX4" fmla="*/ 0 w 10629900"/>
              <a:gd name="connsiteY4" fmla="*/ 0 h 36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29900" h="365125">
                <a:moveTo>
                  <a:pt x="0" y="0"/>
                </a:moveTo>
                <a:lnTo>
                  <a:pt x="10629900" y="0"/>
                </a:lnTo>
                <a:lnTo>
                  <a:pt x="10077450" y="355600"/>
                </a:lnTo>
                <a:lnTo>
                  <a:pt x="0" y="3651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EF7DA6-42FA-443D-82FD-DDB40A0BB056}"/>
              </a:ext>
            </a:extLst>
          </p:cNvPr>
          <p:cNvCxnSpPr/>
          <p:nvPr userDrawn="1"/>
        </p:nvCxnSpPr>
        <p:spPr>
          <a:xfrm>
            <a:off x="0" y="623328"/>
            <a:ext cx="12192000" cy="0"/>
          </a:xfrm>
          <a:prstGeom prst="line">
            <a:avLst/>
          </a:prstGeom>
          <a:ln w="28575">
            <a:solidFill>
              <a:srgbClr val="3436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0264C16-D2DF-5B85-D3C4-B1B07C55B97B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19BDD-DD89-4CD9-A1F3-D76BEB018B7B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64FA3D60-430C-AB99-ADFF-A7A254F13762}"/>
              </a:ext>
            </a:extLst>
          </p:cNvPr>
          <p:cNvSpPr/>
          <p:nvPr userDrawn="1"/>
        </p:nvSpPr>
        <p:spPr>
          <a:xfrm>
            <a:off x="0" y="673298"/>
            <a:ext cx="10491849" cy="235155"/>
          </a:xfrm>
          <a:custGeom>
            <a:avLst/>
            <a:gdLst>
              <a:gd name="connsiteX0" fmla="*/ 0 w 10629900"/>
              <a:gd name="connsiteY0" fmla="*/ 0 h 365125"/>
              <a:gd name="connsiteX1" fmla="*/ 10629900 w 10629900"/>
              <a:gd name="connsiteY1" fmla="*/ 0 h 365125"/>
              <a:gd name="connsiteX2" fmla="*/ 10629900 w 10629900"/>
              <a:gd name="connsiteY2" fmla="*/ 365125 h 365125"/>
              <a:gd name="connsiteX3" fmla="*/ 0 w 10629900"/>
              <a:gd name="connsiteY3" fmla="*/ 365125 h 365125"/>
              <a:gd name="connsiteX4" fmla="*/ 0 w 10629900"/>
              <a:gd name="connsiteY4" fmla="*/ 0 h 365125"/>
              <a:gd name="connsiteX0" fmla="*/ 0 w 10629900"/>
              <a:gd name="connsiteY0" fmla="*/ 0 h 365125"/>
              <a:gd name="connsiteX1" fmla="*/ 10629900 w 10629900"/>
              <a:gd name="connsiteY1" fmla="*/ 0 h 365125"/>
              <a:gd name="connsiteX2" fmla="*/ 10077450 w 10629900"/>
              <a:gd name="connsiteY2" fmla="*/ 355600 h 365125"/>
              <a:gd name="connsiteX3" fmla="*/ 0 w 10629900"/>
              <a:gd name="connsiteY3" fmla="*/ 365125 h 365125"/>
              <a:gd name="connsiteX4" fmla="*/ 0 w 10629900"/>
              <a:gd name="connsiteY4" fmla="*/ 0 h 36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29900" h="365125">
                <a:moveTo>
                  <a:pt x="0" y="0"/>
                </a:moveTo>
                <a:lnTo>
                  <a:pt x="10629900" y="0"/>
                </a:lnTo>
                <a:lnTo>
                  <a:pt x="10077450" y="355600"/>
                </a:lnTo>
                <a:lnTo>
                  <a:pt x="0" y="3651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F1D922F-995F-7FF0-F91E-30F742E8759E}"/>
              </a:ext>
            </a:extLst>
          </p:cNvPr>
          <p:cNvCxnSpPr/>
          <p:nvPr userDrawn="1"/>
        </p:nvCxnSpPr>
        <p:spPr>
          <a:xfrm>
            <a:off x="0" y="623328"/>
            <a:ext cx="12192000" cy="0"/>
          </a:xfrm>
          <a:prstGeom prst="line">
            <a:avLst/>
          </a:prstGeom>
          <a:ln w="28575">
            <a:solidFill>
              <a:srgbClr val="3436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B2526F0-0C04-4EEA-EA6D-BA066C6F8EC0}"/>
              </a:ext>
            </a:extLst>
          </p:cNvPr>
          <p:cNvSpPr txBox="1"/>
          <p:nvPr userDrawn="1"/>
        </p:nvSpPr>
        <p:spPr>
          <a:xfrm>
            <a:off x="333375" y="73388"/>
            <a:ext cx="23187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Well Details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41EFD0-36A4-A450-E728-17FE6C7E6CEB}"/>
              </a:ext>
            </a:extLst>
          </p:cNvPr>
          <p:cNvSpPr txBox="1"/>
          <p:nvPr userDrawn="1"/>
        </p:nvSpPr>
        <p:spPr>
          <a:xfrm>
            <a:off x="2433487" y="169777"/>
            <a:ext cx="262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endParaRPr lang="en-US" sz="20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4E814CF0-3259-14A7-E507-5949F67361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80865" y="228719"/>
            <a:ext cx="8204662" cy="357794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Deal Name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F2411997-20E4-9904-E10B-1FBF468BA8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348870" y="994314"/>
            <a:ext cx="3041373" cy="2931639"/>
          </a:xfrm>
        </p:spPr>
        <p:txBody>
          <a:bodyPr>
            <a:normAutofit/>
          </a:bodyPr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1000"/>
              <a:t>Map</a:t>
            </a:r>
            <a:endParaRPr lang="en-US"/>
          </a:p>
        </p:txBody>
      </p:sp>
      <p:sp>
        <p:nvSpPr>
          <p:cNvPr id="2" name="Table Placeholder 24">
            <a:extLst>
              <a:ext uri="{FF2B5EF4-FFF2-40B4-BE49-F238E27FC236}">
                <a16:creationId xmlns:a16="http://schemas.microsoft.com/office/drawing/2014/main" id="{1C334CB3-C4D5-4CA4-C89E-837C52AE85F7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384163" y="4304852"/>
            <a:ext cx="11463280" cy="1893957"/>
          </a:xfrm>
        </p:spPr>
        <p:txBody>
          <a:bodyPr>
            <a:normAutofit/>
          </a:bodyPr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endParaRPr lang="en-US"/>
          </a:p>
        </p:txBody>
      </p:sp>
      <p:sp>
        <p:nvSpPr>
          <p:cNvPr id="11" name="Table Placeholder 24">
            <a:extLst>
              <a:ext uri="{FF2B5EF4-FFF2-40B4-BE49-F238E27FC236}">
                <a16:creationId xmlns:a16="http://schemas.microsoft.com/office/drawing/2014/main" id="{D854AA18-C4BD-6481-92F2-4066C7C746D8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392114" y="1143825"/>
            <a:ext cx="6227347" cy="2165905"/>
          </a:xfrm>
        </p:spPr>
        <p:txBody>
          <a:bodyPr>
            <a:normAutofit/>
          </a:bodyPr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633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turn Sensitivities: D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1C2ED53A-C13C-2EA5-4B3B-EA65F6C90C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2114" y="6483933"/>
            <a:ext cx="10491166" cy="374650"/>
          </a:xfrm>
        </p:spPr>
        <p:txBody>
          <a:bodyPr anchor="t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25" name="Table Placeholder 24">
            <a:extLst>
              <a:ext uri="{FF2B5EF4-FFF2-40B4-BE49-F238E27FC236}">
                <a16:creationId xmlns:a16="http://schemas.microsoft.com/office/drawing/2014/main" id="{0DD40676-44B1-FA25-D951-70D1D559754A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2968332" y="1296988"/>
            <a:ext cx="8878888" cy="1439251"/>
          </a:xfrm>
        </p:spPr>
        <p:txBody>
          <a:bodyPr>
            <a:normAutofit/>
          </a:bodyPr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endParaRPr lang="en-US"/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97F4A706-0F4D-4706-A9FB-B9355F5842B6}"/>
              </a:ext>
            </a:extLst>
          </p:cNvPr>
          <p:cNvSpPr/>
          <p:nvPr userDrawn="1"/>
        </p:nvSpPr>
        <p:spPr>
          <a:xfrm>
            <a:off x="0" y="673298"/>
            <a:ext cx="10491849" cy="235155"/>
          </a:xfrm>
          <a:custGeom>
            <a:avLst/>
            <a:gdLst>
              <a:gd name="connsiteX0" fmla="*/ 0 w 10629900"/>
              <a:gd name="connsiteY0" fmla="*/ 0 h 365125"/>
              <a:gd name="connsiteX1" fmla="*/ 10629900 w 10629900"/>
              <a:gd name="connsiteY1" fmla="*/ 0 h 365125"/>
              <a:gd name="connsiteX2" fmla="*/ 10629900 w 10629900"/>
              <a:gd name="connsiteY2" fmla="*/ 365125 h 365125"/>
              <a:gd name="connsiteX3" fmla="*/ 0 w 10629900"/>
              <a:gd name="connsiteY3" fmla="*/ 365125 h 365125"/>
              <a:gd name="connsiteX4" fmla="*/ 0 w 10629900"/>
              <a:gd name="connsiteY4" fmla="*/ 0 h 365125"/>
              <a:gd name="connsiteX0" fmla="*/ 0 w 10629900"/>
              <a:gd name="connsiteY0" fmla="*/ 0 h 365125"/>
              <a:gd name="connsiteX1" fmla="*/ 10629900 w 10629900"/>
              <a:gd name="connsiteY1" fmla="*/ 0 h 365125"/>
              <a:gd name="connsiteX2" fmla="*/ 10077450 w 10629900"/>
              <a:gd name="connsiteY2" fmla="*/ 355600 h 365125"/>
              <a:gd name="connsiteX3" fmla="*/ 0 w 10629900"/>
              <a:gd name="connsiteY3" fmla="*/ 365125 h 365125"/>
              <a:gd name="connsiteX4" fmla="*/ 0 w 10629900"/>
              <a:gd name="connsiteY4" fmla="*/ 0 h 36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29900" h="365125">
                <a:moveTo>
                  <a:pt x="0" y="0"/>
                </a:moveTo>
                <a:lnTo>
                  <a:pt x="10629900" y="0"/>
                </a:lnTo>
                <a:lnTo>
                  <a:pt x="10077450" y="355600"/>
                </a:lnTo>
                <a:lnTo>
                  <a:pt x="0" y="3651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D95C57-D0F9-4D39-81D4-8BE1F77E05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0357" y="105971"/>
            <a:ext cx="7568218" cy="496493"/>
          </a:xfrm>
          <a:prstGeom prst="rect">
            <a:avLst/>
          </a:prstGeom>
        </p:spPr>
        <p:txBody>
          <a:bodyPr anchor="ctr"/>
          <a:lstStyle>
            <a:lvl1pPr algn="l">
              <a:defRPr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EF7DA6-42FA-443D-82FD-DDB40A0BB056}"/>
              </a:ext>
            </a:extLst>
          </p:cNvPr>
          <p:cNvCxnSpPr/>
          <p:nvPr userDrawn="1"/>
        </p:nvCxnSpPr>
        <p:spPr>
          <a:xfrm>
            <a:off x="0" y="623328"/>
            <a:ext cx="12192000" cy="0"/>
          </a:xfrm>
          <a:prstGeom prst="line">
            <a:avLst/>
          </a:prstGeom>
          <a:ln w="28575">
            <a:solidFill>
              <a:srgbClr val="3436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0264C16-D2DF-5B85-D3C4-B1B07C55B97B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19BDD-DD89-4CD9-A1F3-D76BEB018B7B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043BE7-F5A8-E6FD-7EBD-E3589D056178}"/>
              </a:ext>
            </a:extLst>
          </p:cNvPr>
          <p:cNvSpPr txBox="1"/>
          <p:nvPr userDrawn="1"/>
        </p:nvSpPr>
        <p:spPr>
          <a:xfrm>
            <a:off x="333375" y="73388"/>
            <a:ext cx="37596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 Sensitivities: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A600B61-A6E3-FCB6-F3BB-B3D5E83B542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10496751"/>
              </p:ext>
            </p:extLst>
          </p:nvPr>
        </p:nvGraphicFramePr>
        <p:xfrm>
          <a:off x="2968332" y="970149"/>
          <a:ext cx="8878717" cy="283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8717">
                  <a:extLst>
                    <a:ext uri="{9D8B030D-6E8A-4147-A177-3AD203B41FA5}">
                      <a16:colId xmlns:a16="http://schemas.microsoft.com/office/drawing/2014/main" val="809247573"/>
                    </a:ext>
                  </a:extLst>
                </a:gridCol>
              </a:tblGrid>
              <a:tr h="159698">
                <a:tc>
                  <a:txBody>
                    <a:bodyPr/>
                    <a:lstStyle/>
                    <a:p>
                      <a:r>
                        <a:rPr lang="en-US" sz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Heads Up</a:t>
                      </a:r>
                      <a:endParaRPr lang="en-US" sz="1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B="5486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620600"/>
                  </a:ext>
                </a:extLst>
              </a:tr>
            </a:tbl>
          </a:graphicData>
        </a:graphic>
      </p:graphicFrame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E09B1F68-8BED-557E-ADDF-1603F95D0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3375" y="1296988"/>
            <a:ext cx="2443162" cy="5162550"/>
          </a:xfrm>
        </p:spPr>
        <p:txBody>
          <a:bodyPr>
            <a:normAutofit/>
          </a:bodyPr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Assumptions</a:t>
            </a:r>
          </a:p>
        </p:txBody>
      </p:sp>
      <p:sp>
        <p:nvSpPr>
          <p:cNvPr id="30" name="Table Placeholder 24">
            <a:extLst>
              <a:ext uri="{FF2B5EF4-FFF2-40B4-BE49-F238E27FC236}">
                <a16:creationId xmlns:a16="http://schemas.microsoft.com/office/drawing/2014/main" id="{DC8FCA1D-6D2F-CEDC-69D7-8988FD4B2359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2968332" y="3151913"/>
            <a:ext cx="8878888" cy="1439251"/>
          </a:xfrm>
        </p:spPr>
        <p:txBody>
          <a:bodyPr>
            <a:normAutofit/>
          </a:bodyPr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endParaRPr lang="en-US"/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C8A8C0C1-ADD1-14E1-2CEA-1DFB6D747ED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54229375"/>
              </p:ext>
            </p:extLst>
          </p:nvPr>
        </p:nvGraphicFramePr>
        <p:xfrm>
          <a:off x="2968332" y="2835340"/>
          <a:ext cx="8878717" cy="283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8717">
                  <a:extLst>
                    <a:ext uri="{9D8B030D-6E8A-4147-A177-3AD203B41FA5}">
                      <a16:colId xmlns:a16="http://schemas.microsoft.com/office/drawing/2014/main" val="809247573"/>
                    </a:ext>
                  </a:extLst>
                </a:gridCol>
              </a:tblGrid>
              <a:tr h="159698">
                <a:tc>
                  <a:txBody>
                    <a:bodyPr/>
                    <a:lstStyle/>
                    <a:p>
                      <a:r>
                        <a:rPr lang="en-US" sz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Drilling Fund</a:t>
                      </a:r>
                      <a:endParaRPr lang="en-US" sz="1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B="5486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620600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6AA70ACA-1F25-8CC9-4086-3C44580249F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36437699"/>
              </p:ext>
            </p:extLst>
          </p:nvPr>
        </p:nvGraphicFramePr>
        <p:xfrm>
          <a:off x="333375" y="970149"/>
          <a:ext cx="2347195" cy="283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7195">
                  <a:extLst>
                    <a:ext uri="{9D8B030D-6E8A-4147-A177-3AD203B41FA5}">
                      <a16:colId xmlns:a16="http://schemas.microsoft.com/office/drawing/2014/main" val="809247573"/>
                    </a:ext>
                  </a:extLst>
                </a:gridCol>
              </a:tblGrid>
              <a:tr h="159698">
                <a:tc>
                  <a:txBody>
                    <a:bodyPr/>
                    <a:lstStyle/>
                    <a:p>
                      <a:r>
                        <a:rPr lang="en-US" sz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Assumptions</a:t>
                      </a:r>
                      <a:endParaRPr lang="en-US" sz="1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B="5486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620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2588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turn Sensitivities: QO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B8B9BD7F-36C2-D6BA-034C-24BF26F9F9F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16541F7B-4F60-C854-A3B5-F972BD25E2A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2114" y="6483933"/>
            <a:ext cx="10491166" cy="374650"/>
          </a:xfrm>
        </p:spPr>
        <p:txBody>
          <a:bodyPr anchor="t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25" name="Table Placeholder 24">
            <a:extLst>
              <a:ext uri="{FF2B5EF4-FFF2-40B4-BE49-F238E27FC236}">
                <a16:creationId xmlns:a16="http://schemas.microsoft.com/office/drawing/2014/main" id="{0DD40676-44B1-FA25-D951-70D1D559754A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2968332" y="1296988"/>
            <a:ext cx="8878888" cy="1439251"/>
          </a:xfrm>
        </p:spPr>
        <p:txBody>
          <a:bodyPr>
            <a:normAutofit/>
          </a:bodyPr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endParaRPr lang="en-US"/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97F4A706-0F4D-4706-A9FB-B9355F5842B6}"/>
              </a:ext>
            </a:extLst>
          </p:cNvPr>
          <p:cNvSpPr/>
          <p:nvPr userDrawn="1"/>
        </p:nvSpPr>
        <p:spPr>
          <a:xfrm>
            <a:off x="0" y="673298"/>
            <a:ext cx="10491849" cy="235155"/>
          </a:xfrm>
          <a:custGeom>
            <a:avLst/>
            <a:gdLst>
              <a:gd name="connsiteX0" fmla="*/ 0 w 10629900"/>
              <a:gd name="connsiteY0" fmla="*/ 0 h 365125"/>
              <a:gd name="connsiteX1" fmla="*/ 10629900 w 10629900"/>
              <a:gd name="connsiteY1" fmla="*/ 0 h 365125"/>
              <a:gd name="connsiteX2" fmla="*/ 10629900 w 10629900"/>
              <a:gd name="connsiteY2" fmla="*/ 365125 h 365125"/>
              <a:gd name="connsiteX3" fmla="*/ 0 w 10629900"/>
              <a:gd name="connsiteY3" fmla="*/ 365125 h 365125"/>
              <a:gd name="connsiteX4" fmla="*/ 0 w 10629900"/>
              <a:gd name="connsiteY4" fmla="*/ 0 h 365125"/>
              <a:gd name="connsiteX0" fmla="*/ 0 w 10629900"/>
              <a:gd name="connsiteY0" fmla="*/ 0 h 365125"/>
              <a:gd name="connsiteX1" fmla="*/ 10629900 w 10629900"/>
              <a:gd name="connsiteY1" fmla="*/ 0 h 365125"/>
              <a:gd name="connsiteX2" fmla="*/ 10077450 w 10629900"/>
              <a:gd name="connsiteY2" fmla="*/ 355600 h 365125"/>
              <a:gd name="connsiteX3" fmla="*/ 0 w 10629900"/>
              <a:gd name="connsiteY3" fmla="*/ 365125 h 365125"/>
              <a:gd name="connsiteX4" fmla="*/ 0 w 10629900"/>
              <a:gd name="connsiteY4" fmla="*/ 0 h 36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29900" h="365125">
                <a:moveTo>
                  <a:pt x="0" y="0"/>
                </a:moveTo>
                <a:lnTo>
                  <a:pt x="10629900" y="0"/>
                </a:lnTo>
                <a:lnTo>
                  <a:pt x="10077450" y="355600"/>
                </a:lnTo>
                <a:lnTo>
                  <a:pt x="0" y="3651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D95C57-D0F9-4D39-81D4-8BE1F77E05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0357" y="105971"/>
            <a:ext cx="7568218" cy="496493"/>
          </a:xfrm>
          <a:prstGeom prst="rect">
            <a:avLst/>
          </a:prstGeom>
        </p:spPr>
        <p:txBody>
          <a:bodyPr anchor="ctr"/>
          <a:lstStyle>
            <a:lvl1pPr algn="l">
              <a:defRPr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EF7DA6-42FA-443D-82FD-DDB40A0BB056}"/>
              </a:ext>
            </a:extLst>
          </p:cNvPr>
          <p:cNvCxnSpPr/>
          <p:nvPr userDrawn="1"/>
        </p:nvCxnSpPr>
        <p:spPr>
          <a:xfrm>
            <a:off x="0" y="623328"/>
            <a:ext cx="12192000" cy="0"/>
          </a:xfrm>
          <a:prstGeom prst="line">
            <a:avLst/>
          </a:prstGeom>
          <a:ln w="28575">
            <a:solidFill>
              <a:srgbClr val="3436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0264C16-D2DF-5B85-D3C4-B1B07C55B97B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19BDD-DD89-4CD9-A1F3-D76BEB018B7B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043BE7-F5A8-E6FD-7EBD-E3589D056178}"/>
              </a:ext>
            </a:extLst>
          </p:cNvPr>
          <p:cNvSpPr txBox="1"/>
          <p:nvPr userDrawn="1"/>
        </p:nvSpPr>
        <p:spPr>
          <a:xfrm>
            <a:off x="333375" y="73388"/>
            <a:ext cx="37596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 Sensitivities: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A600B61-A6E3-FCB6-F3BB-B3D5E83B542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10496751"/>
              </p:ext>
            </p:extLst>
          </p:nvPr>
        </p:nvGraphicFramePr>
        <p:xfrm>
          <a:off x="2968332" y="970149"/>
          <a:ext cx="8878717" cy="283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8717">
                  <a:extLst>
                    <a:ext uri="{9D8B030D-6E8A-4147-A177-3AD203B41FA5}">
                      <a16:colId xmlns:a16="http://schemas.microsoft.com/office/drawing/2014/main" val="809247573"/>
                    </a:ext>
                  </a:extLst>
                </a:gridCol>
              </a:tblGrid>
              <a:tr h="159698">
                <a:tc>
                  <a:txBody>
                    <a:bodyPr/>
                    <a:lstStyle/>
                    <a:p>
                      <a:r>
                        <a:rPr lang="en-US" sz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Heads Up</a:t>
                      </a:r>
                      <a:endParaRPr lang="en-US" sz="1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B="5486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620600"/>
                  </a:ext>
                </a:extLst>
              </a:tr>
            </a:tbl>
          </a:graphicData>
        </a:graphic>
      </p:graphicFrame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E09B1F68-8BED-557E-ADDF-1603F95D0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3375" y="1296988"/>
            <a:ext cx="2443162" cy="5162550"/>
          </a:xfrm>
        </p:spPr>
        <p:txBody>
          <a:bodyPr>
            <a:normAutofit/>
          </a:bodyPr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Assumptions</a:t>
            </a:r>
          </a:p>
        </p:txBody>
      </p:sp>
      <p:sp>
        <p:nvSpPr>
          <p:cNvPr id="30" name="Table Placeholder 24">
            <a:extLst>
              <a:ext uri="{FF2B5EF4-FFF2-40B4-BE49-F238E27FC236}">
                <a16:creationId xmlns:a16="http://schemas.microsoft.com/office/drawing/2014/main" id="{DC8FCA1D-6D2F-CEDC-69D7-8988FD4B2359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2968332" y="3151913"/>
            <a:ext cx="8878888" cy="1439251"/>
          </a:xfrm>
        </p:spPr>
        <p:txBody>
          <a:bodyPr>
            <a:normAutofit/>
          </a:bodyPr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endParaRPr lang="en-US"/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C8A8C0C1-ADD1-14E1-2CEA-1DFB6D747ED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54229375"/>
              </p:ext>
            </p:extLst>
          </p:nvPr>
        </p:nvGraphicFramePr>
        <p:xfrm>
          <a:off x="2968332" y="2835340"/>
          <a:ext cx="8878717" cy="283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8717">
                  <a:extLst>
                    <a:ext uri="{9D8B030D-6E8A-4147-A177-3AD203B41FA5}">
                      <a16:colId xmlns:a16="http://schemas.microsoft.com/office/drawing/2014/main" val="809247573"/>
                    </a:ext>
                  </a:extLst>
                </a:gridCol>
              </a:tblGrid>
              <a:tr h="159698">
                <a:tc>
                  <a:txBody>
                    <a:bodyPr/>
                    <a:lstStyle/>
                    <a:p>
                      <a:r>
                        <a:rPr lang="en-US" sz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Drilling Fund</a:t>
                      </a:r>
                      <a:endParaRPr lang="en-US" sz="1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B="5486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620600"/>
                  </a:ext>
                </a:extLst>
              </a:tr>
            </a:tbl>
          </a:graphicData>
        </a:graphic>
      </p:graphicFrame>
      <p:sp>
        <p:nvSpPr>
          <p:cNvPr id="32" name="Table Placeholder 24">
            <a:extLst>
              <a:ext uri="{FF2B5EF4-FFF2-40B4-BE49-F238E27FC236}">
                <a16:creationId xmlns:a16="http://schemas.microsoft.com/office/drawing/2014/main" id="{D72D2AB2-A32E-1B4D-4EE0-5ED74053DBE8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2968332" y="5010013"/>
            <a:ext cx="8878888" cy="1439251"/>
          </a:xfrm>
        </p:spPr>
        <p:txBody>
          <a:bodyPr>
            <a:normAutofit/>
          </a:bodyPr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endParaRPr lang="en-US"/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5A79C200-708A-E1FB-5DAC-3B4F0F4ACBD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24550773"/>
              </p:ext>
            </p:extLst>
          </p:nvPr>
        </p:nvGraphicFramePr>
        <p:xfrm>
          <a:off x="2968332" y="4690257"/>
          <a:ext cx="8878717" cy="283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8717">
                  <a:extLst>
                    <a:ext uri="{9D8B030D-6E8A-4147-A177-3AD203B41FA5}">
                      <a16:colId xmlns:a16="http://schemas.microsoft.com/office/drawing/2014/main" val="809247573"/>
                    </a:ext>
                  </a:extLst>
                </a:gridCol>
              </a:tblGrid>
              <a:tr h="159698">
                <a:tc>
                  <a:txBody>
                    <a:bodyPr/>
                    <a:lstStyle/>
                    <a:p>
                      <a:r>
                        <a:rPr lang="en-US" sz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QOZ</a:t>
                      </a:r>
                      <a:endParaRPr lang="en-US" sz="1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B="5486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620600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6AA70ACA-1F25-8CC9-4086-3C44580249F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36437699"/>
              </p:ext>
            </p:extLst>
          </p:nvPr>
        </p:nvGraphicFramePr>
        <p:xfrm>
          <a:off x="333375" y="970149"/>
          <a:ext cx="2347195" cy="283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7195">
                  <a:extLst>
                    <a:ext uri="{9D8B030D-6E8A-4147-A177-3AD203B41FA5}">
                      <a16:colId xmlns:a16="http://schemas.microsoft.com/office/drawing/2014/main" val="809247573"/>
                    </a:ext>
                  </a:extLst>
                </a:gridCol>
              </a:tblGrid>
              <a:tr h="159698">
                <a:tc>
                  <a:txBody>
                    <a:bodyPr/>
                    <a:lstStyle/>
                    <a:p>
                      <a:r>
                        <a:rPr lang="en-US" sz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Assumptions</a:t>
                      </a:r>
                      <a:endParaRPr lang="en-US" sz="1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B="5486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620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8537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u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4DE5016-2788-DB03-A98B-AB1EFE97EF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2114" y="6483933"/>
            <a:ext cx="10491166" cy="374650"/>
          </a:xfrm>
        </p:spPr>
        <p:txBody>
          <a:bodyPr anchor="t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97F4A706-0F4D-4706-A9FB-B9355F5842B6}"/>
              </a:ext>
            </a:extLst>
          </p:cNvPr>
          <p:cNvSpPr/>
          <p:nvPr userDrawn="1"/>
        </p:nvSpPr>
        <p:spPr>
          <a:xfrm>
            <a:off x="0" y="673298"/>
            <a:ext cx="10491849" cy="235155"/>
          </a:xfrm>
          <a:custGeom>
            <a:avLst/>
            <a:gdLst>
              <a:gd name="connsiteX0" fmla="*/ 0 w 10629900"/>
              <a:gd name="connsiteY0" fmla="*/ 0 h 365125"/>
              <a:gd name="connsiteX1" fmla="*/ 10629900 w 10629900"/>
              <a:gd name="connsiteY1" fmla="*/ 0 h 365125"/>
              <a:gd name="connsiteX2" fmla="*/ 10629900 w 10629900"/>
              <a:gd name="connsiteY2" fmla="*/ 365125 h 365125"/>
              <a:gd name="connsiteX3" fmla="*/ 0 w 10629900"/>
              <a:gd name="connsiteY3" fmla="*/ 365125 h 365125"/>
              <a:gd name="connsiteX4" fmla="*/ 0 w 10629900"/>
              <a:gd name="connsiteY4" fmla="*/ 0 h 365125"/>
              <a:gd name="connsiteX0" fmla="*/ 0 w 10629900"/>
              <a:gd name="connsiteY0" fmla="*/ 0 h 365125"/>
              <a:gd name="connsiteX1" fmla="*/ 10629900 w 10629900"/>
              <a:gd name="connsiteY1" fmla="*/ 0 h 365125"/>
              <a:gd name="connsiteX2" fmla="*/ 10077450 w 10629900"/>
              <a:gd name="connsiteY2" fmla="*/ 355600 h 365125"/>
              <a:gd name="connsiteX3" fmla="*/ 0 w 10629900"/>
              <a:gd name="connsiteY3" fmla="*/ 365125 h 365125"/>
              <a:gd name="connsiteX4" fmla="*/ 0 w 10629900"/>
              <a:gd name="connsiteY4" fmla="*/ 0 h 36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29900" h="365125">
                <a:moveTo>
                  <a:pt x="0" y="0"/>
                </a:moveTo>
                <a:lnTo>
                  <a:pt x="10629900" y="0"/>
                </a:lnTo>
                <a:lnTo>
                  <a:pt x="10077450" y="355600"/>
                </a:lnTo>
                <a:lnTo>
                  <a:pt x="0" y="3651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EF7DA6-42FA-443D-82FD-DDB40A0BB056}"/>
              </a:ext>
            </a:extLst>
          </p:cNvPr>
          <p:cNvCxnSpPr/>
          <p:nvPr userDrawn="1"/>
        </p:nvCxnSpPr>
        <p:spPr>
          <a:xfrm>
            <a:off x="0" y="623328"/>
            <a:ext cx="12192000" cy="0"/>
          </a:xfrm>
          <a:prstGeom prst="line">
            <a:avLst/>
          </a:prstGeom>
          <a:ln w="28575">
            <a:solidFill>
              <a:srgbClr val="3436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0264C16-D2DF-5B85-D3C4-B1B07C55B97B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19BDD-DD89-4CD9-A1F3-D76BEB018B7B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64FA3D60-430C-AB99-ADFF-A7A254F13762}"/>
              </a:ext>
            </a:extLst>
          </p:cNvPr>
          <p:cNvSpPr/>
          <p:nvPr userDrawn="1"/>
        </p:nvSpPr>
        <p:spPr>
          <a:xfrm>
            <a:off x="0" y="673298"/>
            <a:ext cx="10491849" cy="235155"/>
          </a:xfrm>
          <a:custGeom>
            <a:avLst/>
            <a:gdLst>
              <a:gd name="connsiteX0" fmla="*/ 0 w 10629900"/>
              <a:gd name="connsiteY0" fmla="*/ 0 h 365125"/>
              <a:gd name="connsiteX1" fmla="*/ 10629900 w 10629900"/>
              <a:gd name="connsiteY1" fmla="*/ 0 h 365125"/>
              <a:gd name="connsiteX2" fmla="*/ 10629900 w 10629900"/>
              <a:gd name="connsiteY2" fmla="*/ 365125 h 365125"/>
              <a:gd name="connsiteX3" fmla="*/ 0 w 10629900"/>
              <a:gd name="connsiteY3" fmla="*/ 365125 h 365125"/>
              <a:gd name="connsiteX4" fmla="*/ 0 w 10629900"/>
              <a:gd name="connsiteY4" fmla="*/ 0 h 365125"/>
              <a:gd name="connsiteX0" fmla="*/ 0 w 10629900"/>
              <a:gd name="connsiteY0" fmla="*/ 0 h 365125"/>
              <a:gd name="connsiteX1" fmla="*/ 10629900 w 10629900"/>
              <a:gd name="connsiteY1" fmla="*/ 0 h 365125"/>
              <a:gd name="connsiteX2" fmla="*/ 10077450 w 10629900"/>
              <a:gd name="connsiteY2" fmla="*/ 355600 h 365125"/>
              <a:gd name="connsiteX3" fmla="*/ 0 w 10629900"/>
              <a:gd name="connsiteY3" fmla="*/ 365125 h 365125"/>
              <a:gd name="connsiteX4" fmla="*/ 0 w 10629900"/>
              <a:gd name="connsiteY4" fmla="*/ 0 h 36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29900" h="365125">
                <a:moveTo>
                  <a:pt x="0" y="0"/>
                </a:moveTo>
                <a:lnTo>
                  <a:pt x="10629900" y="0"/>
                </a:lnTo>
                <a:lnTo>
                  <a:pt x="10077450" y="355600"/>
                </a:lnTo>
                <a:lnTo>
                  <a:pt x="0" y="3651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F1D922F-995F-7FF0-F91E-30F742E8759E}"/>
              </a:ext>
            </a:extLst>
          </p:cNvPr>
          <p:cNvCxnSpPr/>
          <p:nvPr userDrawn="1"/>
        </p:nvCxnSpPr>
        <p:spPr>
          <a:xfrm>
            <a:off x="0" y="623328"/>
            <a:ext cx="12192000" cy="0"/>
          </a:xfrm>
          <a:prstGeom prst="line">
            <a:avLst/>
          </a:prstGeom>
          <a:ln w="28575">
            <a:solidFill>
              <a:srgbClr val="3436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B2526F0-0C04-4EEA-EA6D-BA066C6F8EC0}"/>
              </a:ext>
            </a:extLst>
          </p:cNvPr>
          <p:cNvSpPr txBox="1"/>
          <p:nvPr userDrawn="1"/>
        </p:nvSpPr>
        <p:spPr>
          <a:xfrm>
            <a:off x="333375" y="73388"/>
            <a:ext cx="178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41EFD0-36A4-A450-E728-17FE6C7E6CEB}"/>
              </a:ext>
            </a:extLst>
          </p:cNvPr>
          <p:cNvSpPr txBox="1"/>
          <p:nvPr userDrawn="1"/>
        </p:nvSpPr>
        <p:spPr>
          <a:xfrm>
            <a:off x="2016040" y="169777"/>
            <a:ext cx="262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endParaRPr lang="en-US" sz="20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4E814CF0-3259-14A7-E507-5949F67361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63418" y="228719"/>
            <a:ext cx="8204662" cy="357794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Deal Name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7DFE5F9E-D14C-5337-73B7-874B1B0C6A6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215" y="994315"/>
            <a:ext cx="5710866" cy="5265259"/>
          </a:xfrm>
        </p:spPr>
        <p:txBody>
          <a:bodyPr>
            <a:normAutofit/>
          </a:bodyPr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F2411997-20E4-9904-E10B-1FBF468BA8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420678" y="994315"/>
            <a:ext cx="5506279" cy="5291138"/>
          </a:xfrm>
        </p:spPr>
        <p:txBody>
          <a:bodyPr>
            <a:normAutofit/>
          </a:bodyPr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1000"/>
              <a:t>Map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24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 Lo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2721E68-FD60-69D8-A1AA-E9360BACE8D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39843" y="993774"/>
            <a:ext cx="5715000" cy="5266944"/>
          </a:xfrm>
        </p:spPr>
        <p:txBody>
          <a:bodyPr>
            <a:normAutofit/>
          </a:bodyPr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4DE5016-2788-DB03-A98B-AB1EFE97EF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2114" y="6483933"/>
            <a:ext cx="10491166" cy="374650"/>
          </a:xfrm>
        </p:spPr>
        <p:txBody>
          <a:bodyPr anchor="t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97F4A706-0F4D-4706-A9FB-B9355F5842B6}"/>
              </a:ext>
            </a:extLst>
          </p:cNvPr>
          <p:cNvSpPr/>
          <p:nvPr userDrawn="1"/>
        </p:nvSpPr>
        <p:spPr>
          <a:xfrm>
            <a:off x="0" y="673298"/>
            <a:ext cx="10491849" cy="235155"/>
          </a:xfrm>
          <a:custGeom>
            <a:avLst/>
            <a:gdLst>
              <a:gd name="connsiteX0" fmla="*/ 0 w 10629900"/>
              <a:gd name="connsiteY0" fmla="*/ 0 h 365125"/>
              <a:gd name="connsiteX1" fmla="*/ 10629900 w 10629900"/>
              <a:gd name="connsiteY1" fmla="*/ 0 h 365125"/>
              <a:gd name="connsiteX2" fmla="*/ 10629900 w 10629900"/>
              <a:gd name="connsiteY2" fmla="*/ 365125 h 365125"/>
              <a:gd name="connsiteX3" fmla="*/ 0 w 10629900"/>
              <a:gd name="connsiteY3" fmla="*/ 365125 h 365125"/>
              <a:gd name="connsiteX4" fmla="*/ 0 w 10629900"/>
              <a:gd name="connsiteY4" fmla="*/ 0 h 365125"/>
              <a:gd name="connsiteX0" fmla="*/ 0 w 10629900"/>
              <a:gd name="connsiteY0" fmla="*/ 0 h 365125"/>
              <a:gd name="connsiteX1" fmla="*/ 10629900 w 10629900"/>
              <a:gd name="connsiteY1" fmla="*/ 0 h 365125"/>
              <a:gd name="connsiteX2" fmla="*/ 10077450 w 10629900"/>
              <a:gd name="connsiteY2" fmla="*/ 355600 h 365125"/>
              <a:gd name="connsiteX3" fmla="*/ 0 w 10629900"/>
              <a:gd name="connsiteY3" fmla="*/ 365125 h 365125"/>
              <a:gd name="connsiteX4" fmla="*/ 0 w 10629900"/>
              <a:gd name="connsiteY4" fmla="*/ 0 h 36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29900" h="365125">
                <a:moveTo>
                  <a:pt x="0" y="0"/>
                </a:moveTo>
                <a:lnTo>
                  <a:pt x="10629900" y="0"/>
                </a:lnTo>
                <a:lnTo>
                  <a:pt x="10077450" y="355600"/>
                </a:lnTo>
                <a:lnTo>
                  <a:pt x="0" y="3651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EF7DA6-42FA-443D-82FD-DDB40A0BB056}"/>
              </a:ext>
            </a:extLst>
          </p:cNvPr>
          <p:cNvCxnSpPr/>
          <p:nvPr userDrawn="1"/>
        </p:nvCxnSpPr>
        <p:spPr>
          <a:xfrm>
            <a:off x="0" y="623328"/>
            <a:ext cx="12192000" cy="0"/>
          </a:xfrm>
          <a:prstGeom prst="line">
            <a:avLst/>
          </a:prstGeom>
          <a:ln w="28575">
            <a:solidFill>
              <a:srgbClr val="3436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0264C16-D2DF-5B85-D3C4-B1B07C55B97B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19BDD-DD89-4CD9-A1F3-D76BEB018B7B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64FA3D60-430C-AB99-ADFF-A7A254F13762}"/>
              </a:ext>
            </a:extLst>
          </p:cNvPr>
          <p:cNvSpPr/>
          <p:nvPr userDrawn="1"/>
        </p:nvSpPr>
        <p:spPr>
          <a:xfrm>
            <a:off x="0" y="673298"/>
            <a:ext cx="10491849" cy="235155"/>
          </a:xfrm>
          <a:custGeom>
            <a:avLst/>
            <a:gdLst>
              <a:gd name="connsiteX0" fmla="*/ 0 w 10629900"/>
              <a:gd name="connsiteY0" fmla="*/ 0 h 365125"/>
              <a:gd name="connsiteX1" fmla="*/ 10629900 w 10629900"/>
              <a:gd name="connsiteY1" fmla="*/ 0 h 365125"/>
              <a:gd name="connsiteX2" fmla="*/ 10629900 w 10629900"/>
              <a:gd name="connsiteY2" fmla="*/ 365125 h 365125"/>
              <a:gd name="connsiteX3" fmla="*/ 0 w 10629900"/>
              <a:gd name="connsiteY3" fmla="*/ 365125 h 365125"/>
              <a:gd name="connsiteX4" fmla="*/ 0 w 10629900"/>
              <a:gd name="connsiteY4" fmla="*/ 0 h 365125"/>
              <a:gd name="connsiteX0" fmla="*/ 0 w 10629900"/>
              <a:gd name="connsiteY0" fmla="*/ 0 h 365125"/>
              <a:gd name="connsiteX1" fmla="*/ 10629900 w 10629900"/>
              <a:gd name="connsiteY1" fmla="*/ 0 h 365125"/>
              <a:gd name="connsiteX2" fmla="*/ 10077450 w 10629900"/>
              <a:gd name="connsiteY2" fmla="*/ 355600 h 365125"/>
              <a:gd name="connsiteX3" fmla="*/ 0 w 10629900"/>
              <a:gd name="connsiteY3" fmla="*/ 365125 h 365125"/>
              <a:gd name="connsiteX4" fmla="*/ 0 w 10629900"/>
              <a:gd name="connsiteY4" fmla="*/ 0 h 36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29900" h="365125">
                <a:moveTo>
                  <a:pt x="0" y="0"/>
                </a:moveTo>
                <a:lnTo>
                  <a:pt x="10629900" y="0"/>
                </a:lnTo>
                <a:lnTo>
                  <a:pt x="10077450" y="355600"/>
                </a:lnTo>
                <a:lnTo>
                  <a:pt x="0" y="3651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F1D922F-995F-7FF0-F91E-30F742E8759E}"/>
              </a:ext>
            </a:extLst>
          </p:cNvPr>
          <p:cNvCxnSpPr/>
          <p:nvPr userDrawn="1"/>
        </p:nvCxnSpPr>
        <p:spPr>
          <a:xfrm>
            <a:off x="0" y="623328"/>
            <a:ext cx="12192000" cy="0"/>
          </a:xfrm>
          <a:prstGeom prst="line">
            <a:avLst/>
          </a:prstGeom>
          <a:ln w="28575">
            <a:solidFill>
              <a:srgbClr val="3436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B2526F0-0C04-4EEA-EA6D-BA066C6F8EC0}"/>
              </a:ext>
            </a:extLst>
          </p:cNvPr>
          <p:cNvSpPr txBox="1"/>
          <p:nvPr userDrawn="1"/>
        </p:nvSpPr>
        <p:spPr>
          <a:xfrm>
            <a:off x="333375" y="73388"/>
            <a:ext cx="178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 Log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41EFD0-36A4-A450-E728-17FE6C7E6CEB}"/>
              </a:ext>
            </a:extLst>
          </p:cNvPr>
          <p:cNvSpPr txBox="1"/>
          <p:nvPr userDrawn="1"/>
        </p:nvSpPr>
        <p:spPr>
          <a:xfrm>
            <a:off x="1999414" y="169777"/>
            <a:ext cx="262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endParaRPr lang="en-US" sz="20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4E814CF0-3259-14A7-E507-5949F67361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46792" y="228719"/>
            <a:ext cx="8204662" cy="357794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Deal Name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D3D1D8C-B6D2-46CF-5094-8E6F871C632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420678" y="994315"/>
            <a:ext cx="5506279" cy="5291138"/>
          </a:xfrm>
        </p:spPr>
        <p:txBody>
          <a:bodyPr>
            <a:normAutofit/>
          </a:bodyPr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1000"/>
              <a:t>Map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954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oss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4DE5016-2788-DB03-A98B-AB1EFE97EF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2114" y="6483933"/>
            <a:ext cx="10491166" cy="374650"/>
          </a:xfrm>
        </p:spPr>
        <p:txBody>
          <a:bodyPr anchor="t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97F4A706-0F4D-4706-A9FB-B9355F5842B6}"/>
              </a:ext>
            </a:extLst>
          </p:cNvPr>
          <p:cNvSpPr/>
          <p:nvPr userDrawn="1"/>
        </p:nvSpPr>
        <p:spPr>
          <a:xfrm>
            <a:off x="0" y="673298"/>
            <a:ext cx="10491849" cy="235155"/>
          </a:xfrm>
          <a:custGeom>
            <a:avLst/>
            <a:gdLst>
              <a:gd name="connsiteX0" fmla="*/ 0 w 10629900"/>
              <a:gd name="connsiteY0" fmla="*/ 0 h 365125"/>
              <a:gd name="connsiteX1" fmla="*/ 10629900 w 10629900"/>
              <a:gd name="connsiteY1" fmla="*/ 0 h 365125"/>
              <a:gd name="connsiteX2" fmla="*/ 10629900 w 10629900"/>
              <a:gd name="connsiteY2" fmla="*/ 365125 h 365125"/>
              <a:gd name="connsiteX3" fmla="*/ 0 w 10629900"/>
              <a:gd name="connsiteY3" fmla="*/ 365125 h 365125"/>
              <a:gd name="connsiteX4" fmla="*/ 0 w 10629900"/>
              <a:gd name="connsiteY4" fmla="*/ 0 h 365125"/>
              <a:gd name="connsiteX0" fmla="*/ 0 w 10629900"/>
              <a:gd name="connsiteY0" fmla="*/ 0 h 365125"/>
              <a:gd name="connsiteX1" fmla="*/ 10629900 w 10629900"/>
              <a:gd name="connsiteY1" fmla="*/ 0 h 365125"/>
              <a:gd name="connsiteX2" fmla="*/ 10077450 w 10629900"/>
              <a:gd name="connsiteY2" fmla="*/ 355600 h 365125"/>
              <a:gd name="connsiteX3" fmla="*/ 0 w 10629900"/>
              <a:gd name="connsiteY3" fmla="*/ 365125 h 365125"/>
              <a:gd name="connsiteX4" fmla="*/ 0 w 10629900"/>
              <a:gd name="connsiteY4" fmla="*/ 0 h 36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29900" h="365125">
                <a:moveTo>
                  <a:pt x="0" y="0"/>
                </a:moveTo>
                <a:lnTo>
                  <a:pt x="10629900" y="0"/>
                </a:lnTo>
                <a:lnTo>
                  <a:pt x="10077450" y="355600"/>
                </a:lnTo>
                <a:lnTo>
                  <a:pt x="0" y="3651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EF7DA6-42FA-443D-82FD-DDB40A0BB056}"/>
              </a:ext>
            </a:extLst>
          </p:cNvPr>
          <p:cNvCxnSpPr/>
          <p:nvPr userDrawn="1"/>
        </p:nvCxnSpPr>
        <p:spPr>
          <a:xfrm>
            <a:off x="0" y="623328"/>
            <a:ext cx="12192000" cy="0"/>
          </a:xfrm>
          <a:prstGeom prst="line">
            <a:avLst/>
          </a:prstGeom>
          <a:ln w="28575">
            <a:solidFill>
              <a:srgbClr val="3436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0264C16-D2DF-5B85-D3C4-B1B07C55B97B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19BDD-DD89-4CD9-A1F3-D76BEB018B7B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64FA3D60-430C-AB99-ADFF-A7A254F13762}"/>
              </a:ext>
            </a:extLst>
          </p:cNvPr>
          <p:cNvSpPr/>
          <p:nvPr userDrawn="1"/>
        </p:nvSpPr>
        <p:spPr>
          <a:xfrm>
            <a:off x="0" y="673298"/>
            <a:ext cx="10491849" cy="235155"/>
          </a:xfrm>
          <a:custGeom>
            <a:avLst/>
            <a:gdLst>
              <a:gd name="connsiteX0" fmla="*/ 0 w 10629900"/>
              <a:gd name="connsiteY0" fmla="*/ 0 h 365125"/>
              <a:gd name="connsiteX1" fmla="*/ 10629900 w 10629900"/>
              <a:gd name="connsiteY1" fmla="*/ 0 h 365125"/>
              <a:gd name="connsiteX2" fmla="*/ 10629900 w 10629900"/>
              <a:gd name="connsiteY2" fmla="*/ 365125 h 365125"/>
              <a:gd name="connsiteX3" fmla="*/ 0 w 10629900"/>
              <a:gd name="connsiteY3" fmla="*/ 365125 h 365125"/>
              <a:gd name="connsiteX4" fmla="*/ 0 w 10629900"/>
              <a:gd name="connsiteY4" fmla="*/ 0 h 365125"/>
              <a:gd name="connsiteX0" fmla="*/ 0 w 10629900"/>
              <a:gd name="connsiteY0" fmla="*/ 0 h 365125"/>
              <a:gd name="connsiteX1" fmla="*/ 10629900 w 10629900"/>
              <a:gd name="connsiteY1" fmla="*/ 0 h 365125"/>
              <a:gd name="connsiteX2" fmla="*/ 10077450 w 10629900"/>
              <a:gd name="connsiteY2" fmla="*/ 355600 h 365125"/>
              <a:gd name="connsiteX3" fmla="*/ 0 w 10629900"/>
              <a:gd name="connsiteY3" fmla="*/ 365125 h 365125"/>
              <a:gd name="connsiteX4" fmla="*/ 0 w 10629900"/>
              <a:gd name="connsiteY4" fmla="*/ 0 h 36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29900" h="365125">
                <a:moveTo>
                  <a:pt x="0" y="0"/>
                </a:moveTo>
                <a:lnTo>
                  <a:pt x="10629900" y="0"/>
                </a:lnTo>
                <a:lnTo>
                  <a:pt x="10077450" y="355600"/>
                </a:lnTo>
                <a:lnTo>
                  <a:pt x="0" y="3651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F1D922F-995F-7FF0-F91E-30F742E8759E}"/>
              </a:ext>
            </a:extLst>
          </p:cNvPr>
          <p:cNvCxnSpPr/>
          <p:nvPr userDrawn="1"/>
        </p:nvCxnSpPr>
        <p:spPr>
          <a:xfrm>
            <a:off x="0" y="623328"/>
            <a:ext cx="12192000" cy="0"/>
          </a:xfrm>
          <a:prstGeom prst="line">
            <a:avLst/>
          </a:prstGeom>
          <a:ln w="28575">
            <a:solidFill>
              <a:srgbClr val="3436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B2526F0-0C04-4EEA-EA6D-BA066C6F8EC0}"/>
              </a:ext>
            </a:extLst>
          </p:cNvPr>
          <p:cNvSpPr txBox="1"/>
          <p:nvPr userDrawn="1"/>
        </p:nvSpPr>
        <p:spPr>
          <a:xfrm>
            <a:off x="333374" y="73388"/>
            <a:ext cx="3257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 Section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41EFD0-36A4-A450-E728-17FE6C7E6CEB}"/>
              </a:ext>
            </a:extLst>
          </p:cNvPr>
          <p:cNvSpPr txBox="1"/>
          <p:nvPr userDrawn="1"/>
        </p:nvSpPr>
        <p:spPr>
          <a:xfrm>
            <a:off x="2822377" y="169777"/>
            <a:ext cx="262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endParaRPr lang="en-US" sz="20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4E814CF0-3259-14A7-E507-5949F67361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9755" y="228719"/>
            <a:ext cx="8204662" cy="357794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Deal Name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7DFE5F9E-D14C-5337-73B7-874B1B0C6A6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215" y="994315"/>
            <a:ext cx="5710866" cy="5265259"/>
          </a:xfrm>
        </p:spPr>
        <p:txBody>
          <a:bodyPr>
            <a:normAutofit/>
          </a:bodyPr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F2411997-20E4-9904-E10B-1FBF468BA8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420678" y="994315"/>
            <a:ext cx="5506279" cy="5291138"/>
          </a:xfrm>
        </p:spPr>
        <p:txBody>
          <a:bodyPr>
            <a:normAutofit/>
          </a:bodyPr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1000"/>
              <a:t>Map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098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6DA4467-B558-C455-2222-1A51892B51BA}"/>
              </a:ext>
            </a:extLst>
          </p:cNvPr>
          <p:cNvGrpSpPr/>
          <p:nvPr userDrawn="1"/>
        </p:nvGrpSpPr>
        <p:grpSpPr>
          <a:xfrm>
            <a:off x="29244" y="-1157667"/>
            <a:ext cx="12057062" cy="8658722"/>
            <a:chOff x="29244" y="-1157667"/>
            <a:chExt cx="12057062" cy="8658722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B23138A7-356C-7233-C0BA-C53ABABF274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48264" y="519137"/>
              <a:ext cx="6096000" cy="3841422"/>
            </a:xfrm>
            <a:prstGeom prst="rect">
              <a:avLst/>
            </a:prstGeom>
            <a:ln w="28575">
              <a:solidFill>
                <a:schemeClr val="bg1"/>
              </a:solidFill>
            </a:ln>
          </p:spPr>
        </p:pic>
        <p:sp>
          <p:nvSpPr>
            <p:cNvPr id="3" name="Rectangle 20">
              <a:extLst>
                <a:ext uri="{FF2B5EF4-FFF2-40B4-BE49-F238E27FC236}">
                  <a16:creationId xmlns:a16="http://schemas.microsoft.com/office/drawing/2014/main" id="{F5117944-024C-3778-0DD7-BF32BCC8BA87}"/>
                </a:ext>
              </a:extLst>
            </p:cNvPr>
            <p:cNvSpPr/>
            <p:nvPr userDrawn="1"/>
          </p:nvSpPr>
          <p:spPr>
            <a:xfrm rot="3632735" flipH="1">
              <a:off x="2508876" y="1843778"/>
              <a:ext cx="8658722" cy="2655832"/>
            </a:xfrm>
            <a:custGeom>
              <a:avLst/>
              <a:gdLst>
                <a:gd name="connsiteX0" fmla="*/ 0 w 8658722"/>
                <a:gd name="connsiteY0" fmla="*/ 0 h 2653396"/>
                <a:gd name="connsiteX1" fmla="*/ 8658722 w 8658722"/>
                <a:gd name="connsiteY1" fmla="*/ 0 h 2653396"/>
                <a:gd name="connsiteX2" fmla="*/ 8658722 w 8658722"/>
                <a:gd name="connsiteY2" fmla="*/ 2653396 h 2653396"/>
                <a:gd name="connsiteX3" fmla="*/ 0 w 8658722"/>
                <a:gd name="connsiteY3" fmla="*/ 2653396 h 2653396"/>
                <a:gd name="connsiteX4" fmla="*/ 0 w 8658722"/>
                <a:gd name="connsiteY4" fmla="*/ 0 h 2653396"/>
                <a:gd name="connsiteX0" fmla="*/ 0 w 8658722"/>
                <a:gd name="connsiteY0" fmla="*/ 2436 h 2655832"/>
                <a:gd name="connsiteX1" fmla="*/ 6733490 w 8658722"/>
                <a:gd name="connsiteY1" fmla="*/ 0 h 2655832"/>
                <a:gd name="connsiteX2" fmla="*/ 8658722 w 8658722"/>
                <a:gd name="connsiteY2" fmla="*/ 2655832 h 2655832"/>
                <a:gd name="connsiteX3" fmla="*/ 0 w 8658722"/>
                <a:gd name="connsiteY3" fmla="*/ 2655832 h 2655832"/>
                <a:gd name="connsiteX4" fmla="*/ 0 w 8658722"/>
                <a:gd name="connsiteY4" fmla="*/ 2436 h 2655832"/>
                <a:gd name="connsiteX0" fmla="*/ 0 w 8658722"/>
                <a:gd name="connsiteY0" fmla="*/ 2436 h 2655832"/>
                <a:gd name="connsiteX1" fmla="*/ 6733490 w 8658722"/>
                <a:gd name="connsiteY1" fmla="*/ 0 h 2655832"/>
                <a:gd name="connsiteX2" fmla="*/ 8658722 w 8658722"/>
                <a:gd name="connsiteY2" fmla="*/ 2655832 h 2655832"/>
                <a:gd name="connsiteX3" fmla="*/ 924880 w 8658722"/>
                <a:gd name="connsiteY3" fmla="*/ 2036340 h 2655832"/>
                <a:gd name="connsiteX4" fmla="*/ 0 w 8658722"/>
                <a:gd name="connsiteY4" fmla="*/ 2436 h 265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58722" h="2655832">
                  <a:moveTo>
                    <a:pt x="0" y="2436"/>
                  </a:moveTo>
                  <a:lnTo>
                    <a:pt x="6733490" y="0"/>
                  </a:lnTo>
                  <a:lnTo>
                    <a:pt x="8658722" y="2655832"/>
                  </a:lnTo>
                  <a:lnTo>
                    <a:pt x="924880" y="2036340"/>
                  </a:lnTo>
                  <a:lnTo>
                    <a:pt x="0" y="24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7951F7E-5247-EB27-6C13-3DF9EB4C51FD}"/>
                </a:ext>
              </a:extLst>
            </p:cNvPr>
            <p:cNvSpPr/>
            <p:nvPr userDrawn="1"/>
          </p:nvSpPr>
          <p:spPr>
            <a:xfrm>
              <a:off x="29244" y="87461"/>
              <a:ext cx="7369078" cy="18582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2">
              <a:extLst>
                <a:ext uri="{FF2B5EF4-FFF2-40B4-BE49-F238E27FC236}">
                  <a16:creationId xmlns:a16="http://schemas.microsoft.com/office/drawing/2014/main" id="{663CF42C-A0D9-565C-647D-27021FCF1E87}"/>
                </a:ext>
              </a:extLst>
            </p:cNvPr>
            <p:cNvSpPr/>
            <p:nvPr userDrawn="1"/>
          </p:nvSpPr>
          <p:spPr>
            <a:xfrm flipH="1">
              <a:off x="32100" y="3897769"/>
              <a:ext cx="8493064" cy="1172995"/>
            </a:xfrm>
            <a:custGeom>
              <a:avLst/>
              <a:gdLst>
                <a:gd name="connsiteX0" fmla="*/ 0 w 8033468"/>
                <a:gd name="connsiteY0" fmla="*/ 0 h 1184745"/>
                <a:gd name="connsiteX1" fmla="*/ 8033468 w 8033468"/>
                <a:gd name="connsiteY1" fmla="*/ 0 h 1184745"/>
                <a:gd name="connsiteX2" fmla="*/ 8033468 w 8033468"/>
                <a:gd name="connsiteY2" fmla="*/ 1184745 h 1184745"/>
                <a:gd name="connsiteX3" fmla="*/ 0 w 8033468"/>
                <a:gd name="connsiteY3" fmla="*/ 1184745 h 1184745"/>
                <a:gd name="connsiteX4" fmla="*/ 0 w 8033468"/>
                <a:gd name="connsiteY4" fmla="*/ 0 h 1184745"/>
                <a:gd name="connsiteX0" fmla="*/ 771276 w 8804744"/>
                <a:gd name="connsiteY0" fmla="*/ 0 h 1184745"/>
                <a:gd name="connsiteX1" fmla="*/ 8804744 w 8804744"/>
                <a:gd name="connsiteY1" fmla="*/ 0 h 1184745"/>
                <a:gd name="connsiteX2" fmla="*/ 8804744 w 8804744"/>
                <a:gd name="connsiteY2" fmla="*/ 1184745 h 1184745"/>
                <a:gd name="connsiteX3" fmla="*/ 0 w 8804744"/>
                <a:gd name="connsiteY3" fmla="*/ 1184745 h 1184745"/>
                <a:gd name="connsiteX4" fmla="*/ 771276 w 8804744"/>
                <a:gd name="connsiteY4" fmla="*/ 0 h 1184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4744" h="1184745">
                  <a:moveTo>
                    <a:pt x="771276" y="0"/>
                  </a:moveTo>
                  <a:lnTo>
                    <a:pt x="8804744" y="0"/>
                  </a:lnTo>
                  <a:lnTo>
                    <a:pt x="8804744" y="1184745"/>
                  </a:lnTo>
                  <a:lnTo>
                    <a:pt x="0" y="1184745"/>
                  </a:lnTo>
                  <a:lnTo>
                    <a:pt x="771276" y="0"/>
                  </a:lnTo>
                  <a:close/>
                </a:path>
              </a:pathLst>
            </a:custGeom>
            <a:solidFill>
              <a:srgbClr val="02042E"/>
            </a:solidFill>
            <a:ln w="38100"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8467818-08E7-C5EC-A2BE-85D9D7A7F9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4000" y="6253534"/>
              <a:ext cx="2942306" cy="517005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27A6148-8856-D0A3-B5FD-2AC785D53131}"/>
              </a:ext>
            </a:extLst>
          </p:cNvPr>
          <p:cNvSpPr txBox="1"/>
          <p:nvPr userDrawn="1"/>
        </p:nvSpPr>
        <p:spPr>
          <a:xfrm>
            <a:off x="228213" y="4112486"/>
            <a:ext cx="706136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Appendix</a:t>
            </a:r>
            <a:endParaRPr lang="en-US" sz="1600" b="1" i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25F22EE-6988-8920-37F7-4AEFC82FF2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9108" y="4539913"/>
            <a:ext cx="6408738" cy="435120"/>
          </a:xfrm>
        </p:spPr>
        <p:txBody>
          <a:bodyPr lIns="0" rIns="0">
            <a:normAutofit/>
          </a:bodyPr>
          <a:lstStyle>
            <a:lvl1pPr marL="0" indent="0">
              <a:buNone/>
              <a:defRPr sz="1600" b="1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Deal Name Prospect</a:t>
            </a:r>
          </a:p>
        </p:txBody>
      </p:sp>
    </p:spTree>
    <p:extLst>
      <p:ext uri="{BB962C8B-B14F-4D97-AF65-F5344CB8AC3E}">
        <p14:creationId xmlns:p14="http://schemas.microsoft.com/office/powerpoint/2010/main" val="716927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4ACC5-FEFF-47F1-9A5C-F771A6C0B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A34A8-9056-48C8-AAD4-AAB047B3B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2ACDE-C7C6-4CFA-AF77-ED922F5854A5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800B5-BE38-4C5F-9F05-2E82FDE4F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EDCF7F-D9AF-4363-BF01-F3F582841D47}"/>
              </a:ext>
            </a:extLst>
          </p:cNvPr>
          <p:cNvSpPr/>
          <p:nvPr userDrawn="1"/>
        </p:nvSpPr>
        <p:spPr>
          <a:xfrm>
            <a:off x="47627" y="136526"/>
            <a:ext cx="12106274" cy="686586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8AC83-71D9-4199-8C05-56947B9B2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9BDD-DD89-4CD9-A1F3-D76BEB018B7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CA9E0E-4C92-465B-A58A-D336DB61E32C}"/>
              </a:ext>
            </a:extLst>
          </p:cNvPr>
          <p:cNvSpPr/>
          <p:nvPr userDrawn="1"/>
        </p:nvSpPr>
        <p:spPr>
          <a:xfrm>
            <a:off x="45275" y="839786"/>
            <a:ext cx="10629900" cy="365125"/>
          </a:xfrm>
          <a:custGeom>
            <a:avLst/>
            <a:gdLst>
              <a:gd name="connsiteX0" fmla="*/ 0 w 10629900"/>
              <a:gd name="connsiteY0" fmla="*/ 0 h 365125"/>
              <a:gd name="connsiteX1" fmla="*/ 10629900 w 10629900"/>
              <a:gd name="connsiteY1" fmla="*/ 0 h 365125"/>
              <a:gd name="connsiteX2" fmla="*/ 10629900 w 10629900"/>
              <a:gd name="connsiteY2" fmla="*/ 365125 h 365125"/>
              <a:gd name="connsiteX3" fmla="*/ 0 w 10629900"/>
              <a:gd name="connsiteY3" fmla="*/ 365125 h 365125"/>
              <a:gd name="connsiteX4" fmla="*/ 0 w 10629900"/>
              <a:gd name="connsiteY4" fmla="*/ 0 h 365125"/>
              <a:gd name="connsiteX0" fmla="*/ 0 w 10629900"/>
              <a:gd name="connsiteY0" fmla="*/ 0 h 365125"/>
              <a:gd name="connsiteX1" fmla="*/ 10629900 w 10629900"/>
              <a:gd name="connsiteY1" fmla="*/ 0 h 365125"/>
              <a:gd name="connsiteX2" fmla="*/ 10077450 w 10629900"/>
              <a:gd name="connsiteY2" fmla="*/ 355600 h 365125"/>
              <a:gd name="connsiteX3" fmla="*/ 0 w 10629900"/>
              <a:gd name="connsiteY3" fmla="*/ 365125 h 365125"/>
              <a:gd name="connsiteX4" fmla="*/ 0 w 10629900"/>
              <a:gd name="connsiteY4" fmla="*/ 0 h 36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29900" h="365125">
                <a:moveTo>
                  <a:pt x="0" y="0"/>
                </a:moveTo>
                <a:lnTo>
                  <a:pt x="10629900" y="0"/>
                </a:lnTo>
                <a:lnTo>
                  <a:pt x="10077450" y="355600"/>
                </a:lnTo>
                <a:lnTo>
                  <a:pt x="0" y="3651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D95C57-D0F9-4D39-81D4-8BE1F77E05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375" y="221843"/>
            <a:ext cx="11125200" cy="496493"/>
          </a:xfrm>
          <a:prstGeom prst="rect">
            <a:avLst/>
          </a:prstGeom>
        </p:spPr>
        <p:txBody>
          <a:bodyPr anchor="ctr"/>
          <a:lstStyle>
            <a:lvl1pPr algn="l"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0A3237C-43C4-48F4-A70B-CB3BDFBA9E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100" y="868363"/>
            <a:ext cx="9201150" cy="365125"/>
          </a:xfrm>
        </p:spPr>
        <p:txBody>
          <a:bodyPr anchor="ctr">
            <a:noAutofit/>
          </a:bodyPr>
          <a:lstStyle>
            <a:lvl1pPr>
              <a:defRPr lang="en-US" sz="18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Edit Main Point</a:t>
            </a:r>
          </a:p>
        </p:txBody>
      </p:sp>
    </p:spTree>
    <p:extLst>
      <p:ext uri="{BB962C8B-B14F-4D97-AF65-F5344CB8AC3E}">
        <p14:creationId xmlns:p14="http://schemas.microsoft.com/office/powerpoint/2010/main" val="35469425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E1D64-6816-46DF-BFA9-076A2404C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8BA2E-B854-4E37-AE1E-3B7B446458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1F2610-2C07-443C-847A-89DBAC673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5CD6A-98F8-4470-B87E-5E1D40ED0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F43C-C2DE-4D34-9A4E-CE0E7A68DA0B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D56CF6-5B1D-4ED0-86B6-2DBC8A845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22142-D681-4814-9FBE-B35E7E9F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9BDD-DD89-4CD9-A1F3-D76BEB018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1837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5958-38C5-4009-8D06-15D90C660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A6E8CB-B275-411E-AE9A-ABC99CA38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073FD-B8C4-4FFD-B151-2217B68BCEB6}" type="datetime1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31CA6-A94E-47A9-AF09-2066313D9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ED772-5741-4F76-A57A-C4D41FD80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9BDD-DD89-4CD9-A1F3-D76BEB018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642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C08DD1-3FD4-47A5-8F58-A901A2427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6223-E6F6-490D-91FF-001304B3F757}" type="datetime1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7CD59A-C81A-43E7-B842-83AE37104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8D556-6F58-4BBB-B7D3-75B90E70E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9BDD-DD89-4CD9-A1F3-D76BEB018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3902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49432-C976-86DD-7BC6-032E0D2C8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AD5AB4-92DE-2186-7AD3-6E10267EE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3A6C-2616-421F-8F95-034E9E7C50D1}" type="datetime1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7C1956-CA90-8273-95F9-2994450DE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3A3D4A-1E93-26E7-E76B-CC77EE0A8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9BDD-DD89-4CD9-A1F3-D76BEB018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947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79E96C-7E45-4C33-AE92-C8776A8DE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494E2-1882-4AAC-B5C9-257CBBB604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D3A6C-2616-421F-8F95-034E9E7C50D1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7D691-6932-4B15-958B-3054191434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60E8F-C1C3-429D-BCE3-B253F95F9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19BDD-DD89-4CD9-A1F3-D76BEB018B7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9D54E95-889C-485A-AA83-30C404C1B2EB}"/>
              </a:ext>
            </a:extLst>
          </p:cNvPr>
          <p:cNvSpPr txBox="1">
            <a:spLocks/>
          </p:cNvSpPr>
          <p:nvPr userDrawn="1"/>
        </p:nvSpPr>
        <p:spPr>
          <a:xfrm>
            <a:off x="339313" y="682710"/>
            <a:ext cx="9201150" cy="225744"/>
          </a:xfrm>
          <a:prstGeom prst="rect">
            <a:avLst/>
          </a:prstGeom>
        </p:spPr>
        <p:txBody>
          <a:bodyPr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b="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/>
              <a:t>Laguna Grande Section 29-23S-23E – Eddy County</a:t>
            </a:r>
          </a:p>
        </p:txBody>
      </p:sp>
    </p:spTree>
    <p:extLst>
      <p:ext uri="{BB962C8B-B14F-4D97-AF65-F5344CB8AC3E}">
        <p14:creationId xmlns:p14="http://schemas.microsoft.com/office/powerpoint/2010/main" val="4225887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9" r:id="rId3"/>
    <p:sldLayoutId id="2147483661" r:id="rId4"/>
    <p:sldLayoutId id="2147483672" r:id="rId5"/>
    <p:sldLayoutId id="2147483668" r:id="rId6"/>
    <p:sldLayoutId id="2147483667" r:id="rId7"/>
    <p:sldLayoutId id="2147483670" r:id="rId8"/>
    <p:sldLayoutId id="2147483671" r:id="rId9"/>
    <p:sldLayoutId id="2147483673" r:id="rId10"/>
    <p:sldLayoutId id="2147483666" r:id="rId11"/>
    <p:sldLayoutId id="2147483660" r:id="rId12"/>
    <p:sldLayoutId id="2147483652" r:id="rId13"/>
    <p:sldLayoutId id="2147483654" r:id="rId14"/>
    <p:sldLayoutId id="2147483655" r:id="rId15"/>
    <p:sldLayoutId id="2147483665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CF03F67-0801-8C0B-589C-9BC9F2DD1B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39A4B-7D68-7471-A2DF-A68676A08C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Project Name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5F8304-0E50-E598-7573-6E0815A9E2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Project Location</a:t>
            </a:r>
          </a:p>
        </p:txBody>
      </p:sp>
    </p:spTree>
    <p:extLst>
      <p:ext uri="{BB962C8B-B14F-4D97-AF65-F5344CB8AC3E}">
        <p14:creationId xmlns:p14="http://schemas.microsoft.com/office/powerpoint/2010/main" val="2928828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4E316-6BF0-CA4E-07D1-AE911F93E1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solidFill>
                  <a:srgbClr val="292934"/>
                </a:solidFill>
              </a:rPr>
              <a:t>Deal Name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05FAF-676A-0310-AF9D-D2DAF994FA21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341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102DCA0-DA63-2AD9-2783-82D47372812D}"/>
              </a:ext>
            </a:extLst>
          </p:cNvPr>
          <p:cNvSpPr/>
          <p:nvPr/>
        </p:nvSpPr>
        <p:spPr>
          <a:xfrm>
            <a:off x="1268382" y="1962745"/>
            <a:ext cx="4595490" cy="137261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0">
            <a:prstTxWarp prst="textNoShape">
              <a:avLst/>
            </a:prstTxWarp>
            <a:noAutofit/>
          </a:bodyPr>
          <a:lstStyle/>
          <a:p>
            <a:pPr marL="186507" lvl="1" indent="-171450">
              <a:spcBef>
                <a:spcPts val="400"/>
              </a:spcBef>
              <a:spcAft>
                <a:spcPct val="0"/>
              </a:spcAft>
              <a:buClr>
                <a:srgbClr val="34364C"/>
              </a:buClr>
              <a:buSzPct val="92000"/>
              <a:buFont typeface="Wingdings" panose="05000000000000000000" pitchFamily="2" charset="2"/>
              <a:buChar char="§"/>
            </a:pPr>
            <a:endParaRPr lang="en-US" sz="9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BEE576-A970-7288-4E2E-292CA9024A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anchor="ctr"/>
          <a:lstStyle/>
          <a:p>
            <a:r>
              <a:rPr lang="en-US" dirty="0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E3ACDD-942F-CE9E-ABDE-549D4685A6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Deal name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3529438-687C-F866-5BE5-30866D0AD4CC}"/>
              </a:ext>
            </a:extLst>
          </p:cNvPr>
          <p:cNvGraphicFramePr>
            <a:graphicFrameLocks noGrp="1"/>
          </p:cNvGraphicFramePr>
          <p:nvPr/>
        </p:nvGraphicFramePr>
        <p:xfrm>
          <a:off x="409575" y="4240689"/>
          <a:ext cx="5441404" cy="353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1404">
                  <a:extLst>
                    <a:ext uri="{9D8B030D-6E8A-4147-A177-3AD203B41FA5}">
                      <a16:colId xmlns:a16="http://schemas.microsoft.com/office/drawing/2014/main" val="809247573"/>
                    </a:ext>
                  </a:extLst>
                </a:gridCol>
              </a:tblGrid>
              <a:tr h="353091">
                <a:tc>
                  <a:txBody>
                    <a:bodyPr/>
                    <a:lstStyle/>
                    <a:p>
                      <a:r>
                        <a:rPr lang="en-US" sz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Investment Highlights</a:t>
                      </a:r>
                      <a:r>
                        <a:rPr lang="en-US" sz="120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</a:txBody>
                  <a:tcPr marL="0" marB="5486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6206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400F5F9-362D-75C8-CBCF-EC671B56D3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501651"/>
              </p:ext>
            </p:extLst>
          </p:nvPr>
        </p:nvGraphicFramePr>
        <p:xfrm>
          <a:off x="409575" y="4626760"/>
          <a:ext cx="5448018" cy="1881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7914">
                  <a:extLst>
                    <a:ext uri="{9D8B030D-6E8A-4147-A177-3AD203B41FA5}">
                      <a16:colId xmlns:a16="http://schemas.microsoft.com/office/drawing/2014/main" val="793060041"/>
                    </a:ext>
                  </a:extLst>
                </a:gridCol>
                <a:gridCol w="1177914">
                  <a:extLst>
                    <a:ext uri="{9D8B030D-6E8A-4147-A177-3AD203B41FA5}">
                      <a16:colId xmlns:a16="http://schemas.microsoft.com/office/drawing/2014/main" val="99985809"/>
                    </a:ext>
                  </a:extLst>
                </a:gridCol>
                <a:gridCol w="1177914">
                  <a:extLst>
                    <a:ext uri="{9D8B030D-6E8A-4147-A177-3AD203B41FA5}">
                      <a16:colId xmlns:a16="http://schemas.microsoft.com/office/drawing/2014/main" val="98949960"/>
                    </a:ext>
                  </a:extLst>
                </a:gridCol>
              </a:tblGrid>
              <a:tr h="290652">
                <a:tc>
                  <a:txBody>
                    <a:bodyPr/>
                    <a:lstStyle/>
                    <a:p>
                      <a:pPr algn="l"/>
                      <a:endParaRPr lang="en-US" sz="900" b="1">
                        <a:solidFill>
                          <a:srgbClr val="48505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Heads Up</a:t>
                      </a: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Drilling Fund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QOZ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45116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Potential Offer</a:t>
                      </a:r>
                      <a:r>
                        <a:rPr lang="en-US" sz="900" b="1" kern="1200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CWI to Seller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Year CoC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83699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Year CoC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62053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900" b="1" kern="1200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ROI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55298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900" b="1" kern="1200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IRR (%)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25456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Payout (</a:t>
                      </a:r>
                      <a:r>
                        <a:rPr lang="en-US" sz="900" b="1" err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yrs</a:t>
                      </a:r>
                      <a:r>
                        <a:rPr lang="en-US" sz="900" b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663729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73D41B4B-2DD5-A246-A7C0-376EA9C2E42E}"/>
              </a:ext>
            </a:extLst>
          </p:cNvPr>
          <p:cNvSpPr/>
          <p:nvPr/>
        </p:nvSpPr>
        <p:spPr>
          <a:xfrm>
            <a:off x="409575" y="1023095"/>
            <a:ext cx="786384" cy="886968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18288" rIns="73152" bIns="18288" numCol="1" spcCol="0" rtlCol="0" fromWordArt="0" anchor="ctr" anchorCtr="1" forceAA="0" compatLnSpc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9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Position Overview</a:t>
            </a:r>
            <a:endParaRPr sz="9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D57937-11DB-BE96-70B4-1310D8391692}"/>
              </a:ext>
            </a:extLst>
          </p:cNvPr>
          <p:cNvSpPr/>
          <p:nvPr/>
        </p:nvSpPr>
        <p:spPr>
          <a:xfrm>
            <a:off x="1268382" y="1023095"/>
            <a:ext cx="4599432" cy="8869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0">
            <a:prstTxWarp prst="textNoShape">
              <a:avLst/>
            </a:prstTxWarp>
            <a:noAutofit/>
          </a:bodyPr>
          <a:lstStyle/>
          <a:p>
            <a:pPr marL="186507" lvl="1" indent="-171450"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92000"/>
              <a:buFont typeface="Wingdings" panose="05000000000000000000" pitchFamily="2" charset="2"/>
              <a:buChar char="§"/>
            </a:pPr>
            <a:endParaRPr lang="en-US" sz="9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A5F5F1-50FF-E37D-35BE-7F4B35A0CDBF}"/>
              </a:ext>
            </a:extLst>
          </p:cNvPr>
          <p:cNvSpPr/>
          <p:nvPr/>
        </p:nvSpPr>
        <p:spPr>
          <a:xfrm>
            <a:off x="409575" y="3398327"/>
            <a:ext cx="786384" cy="560806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18288" rIns="73152" bIns="18288" numCol="1" spcCol="0" rtlCol="0" fromWordArt="0" anchor="ctr" anchorCtr="1" forceAA="0" compatLnSpc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9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Update</a:t>
            </a:r>
            <a:endParaRPr sz="9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997FA2-BDE2-EEC3-8EDA-D135948E5BD8}"/>
              </a:ext>
            </a:extLst>
          </p:cNvPr>
          <p:cNvSpPr/>
          <p:nvPr/>
        </p:nvSpPr>
        <p:spPr>
          <a:xfrm>
            <a:off x="1268382" y="3398327"/>
            <a:ext cx="4595490" cy="5608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0">
            <a:prstTxWarp prst="textNoShape">
              <a:avLst/>
            </a:prstTxWarp>
            <a:noAutofit/>
          </a:bodyPr>
          <a:lstStyle/>
          <a:p>
            <a:pPr marL="186507" lvl="1" indent="-17145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92000"/>
              <a:buFont typeface="Wingdings" panose="05000000000000000000" pitchFamily="2" charset="2"/>
              <a:buChar char="§"/>
            </a:pPr>
            <a:endParaRPr lang="en-US" sz="9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339918-9B88-533F-7369-6A830907DEE4}"/>
              </a:ext>
            </a:extLst>
          </p:cNvPr>
          <p:cNvSpPr/>
          <p:nvPr/>
        </p:nvSpPr>
        <p:spPr>
          <a:xfrm>
            <a:off x="409575" y="1962746"/>
            <a:ext cx="786384" cy="137261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18288" rIns="73152" bIns="18288" numCol="1" spcCol="0" rtlCol="0" fromWordArt="0" anchor="ctr" anchorCtr="1" forceAA="0" compatLnSpc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9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</a:t>
            </a:r>
          </a:p>
          <a:p>
            <a:pPr algn="ctr">
              <a:lnSpc>
                <a:spcPct val="110000"/>
              </a:lnSpc>
            </a:pPr>
            <a:r>
              <a:rPr lang="en-US" sz="9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  <a:endParaRPr sz="9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A65A5C-C61A-AC1F-37B6-4CFE436AC516}"/>
              </a:ext>
            </a:extLst>
          </p:cNvPr>
          <p:cNvSpPr/>
          <p:nvPr/>
        </p:nvSpPr>
        <p:spPr>
          <a:xfrm>
            <a:off x="6556248" y="1170432"/>
            <a:ext cx="5294376" cy="53135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Map of Project Location</a:t>
            </a:r>
          </a:p>
        </p:txBody>
      </p:sp>
    </p:spTree>
    <p:extLst>
      <p:ext uri="{BB962C8B-B14F-4D97-AF65-F5344CB8AC3E}">
        <p14:creationId xmlns:p14="http://schemas.microsoft.com/office/powerpoint/2010/main" val="122709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804114-AE53-64AD-0946-4D6018E2944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1046" y="6337573"/>
            <a:ext cx="10491166" cy="37465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3F1B3-2321-9705-44E1-E39E2575E0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Chuck Smith MDP1 8_17 Fed Com</a:t>
            </a:r>
          </a:p>
          <a:p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D6D9721-EA0D-21C7-575F-42898373B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201507"/>
              </p:ext>
            </p:extLst>
          </p:nvPr>
        </p:nvGraphicFramePr>
        <p:xfrm>
          <a:off x="357002" y="1071716"/>
          <a:ext cx="4982343" cy="283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2343">
                  <a:extLst>
                    <a:ext uri="{9D8B030D-6E8A-4147-A177-3AD203B41FA5}">
                      <a16:colId xmlns:a16="http://schemas.microsoft.com/office/drawing/2014/main" val="809247573"/>
                    </a:ext>
                  </a:extLst>
                </a:gridCol>
              </a:tblGrid>
              <a:tr h="159698">
                <a:tc>
                  <a:txBody>
                    <a:bodyPr/>
                    <a:lstStyle/>
                    <a:p>
                      <a:r>
                        <a:rPr lang="en-US" sz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Potential Offer Metrics</a:t>
                      </a:r>
                      <a:endParaRPr lang="en-US" sz="1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B="5486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6206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6BF98D7-DC86-AAE8-3879-53A471CC0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720450"/>
              </p:ext>
            </p:extLst>
          </p:nvPr>
        </p:nvGraphicFramePr>
        <p:xfrm>
          <a:off x="357002" y="1385215"/>
          <a:ext cx="3592043" cy="1796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78999852"/>
                    </a:ext>
                  </a:extLst>
                </a:gridCol>
              </a:tblGrid>
              <a:tr h="369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($’000)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20-60% GWI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9519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Gross Capex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Net Capex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83699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Value of 22.5% CWI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strike="noStrike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03372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9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900" b="0" kern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54844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Total Investment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900" b="0" u="sng" kern="12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17536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900" b="1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9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236814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9826E34-31E8-4526-E586-EE5AF5E986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945594"/>
              </p:ext>
            </p:extLst>
          </p:nvPr>
        </p:nvGraphicFramePr>
        <p:xfrm>
          <a:off x="344302" y="3257714"/>
          <a:ext cx="8604118" cy="283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4118">
                  <a:extLst>
                    <a:ext uri="{9D8B030D-6E8A-4147-A177-3AD203B41FA5}">
                      <a16:colId xmlns:a16="http://schemas.microsoft.com/office/drawing/2014/main" val="809247573"/>
                    </a:ext>
                  </a:extLst>
                </a:gridCol>
              </a:tblGrid>
              <a:tr h="159698">
                <a:tc>
                  <a:txBody>
                    <a:bodyPr/>
                    <a:lstStyle/>
                    <a:p>
                      <a:r>
                        <a:rPr lang="en-US" sz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Drilling Proposals</a:t>
                      </a:r>
                      <a:endParaRPr lang="en-US" sz="1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B="5486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62060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95C9195-999E-D669-8F8E-FD967520008E}"/>
              </a:ext>
            </a:extLst>
          </p:cNvPr>
          <p:cNvSpPr txBox="1"/>
          <p:nvPr/>
        </p:nvSpPr>
        <p:spPr>
          <a:xfrm>
            <a:off x="344302" y="4454483"/>
            <a:ext cx="90521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Project Proposals</a:t>
            </a:r>
          </a:p>
        </p:txBody>
      </p:sp>
    </p:spTree>
    <p:extLst>
      <p:ext uri="{BB962C8B-B14F-4D97-AF65-F5344CB8AC3E}">
        <p14:creationId xmlns:p14="http://schemas.microsoft.com/office/powerpoint/2010/main" val="3130455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09756D2-3A49-AC89-04BB-DA2C20AC1A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268970"/>
              </p:ext>
            </p:extLst>
          </p:nvPr>
        </p:nvGraphicFramePr>
        <p:xfrm>
          <a:off x="2968331" y="3143034"/>
          <a:ext cx="8878717" cy="1439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7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7689">
                  <a:extLst>
                    <a:ext uri="{9D8B030D-6E8A-4147-A177-3AD203B41FA5}">
                      <a16:colId xmlns:a16="http://schemas.microsoft.com/office/drawing/2014/main" val="793060041"/>
                    </a:ext>
                  </a:extLst>
                </a:gridCol>
                <a:gridCol w="1607689">
                  <a:extLst>
                    <a:ext uri="{9D8B030D-6E8A-4147-A177-3AD203B41FA5}">
                      <a16:colId xmlns:a16="http://schemas.microsoft.com/office/drawing/2014/main" val="99985809"/>
                    </a:ext>
                  </a:extLst>
                </a:gridCol>
                <a:gridCol w="1607689">
                  <a:extLst>
                    <a:ext uri="{9D8B030D-6E8A-4147-A177-3AD203B41FA5}">
                      <a16:colId xmlns:a16="http://schemas.microsoft.com/office/drawing/2014/main" val="632281491"/>
                    </a:ext>
                  </a:extLst>
                </a:gridCol>
                <a:gridCol w="1607689">
                  <a:extLst>
                    <a:ext uri="{9D8B030D-6E8A-4147-A177-3AD203B41FA5}">
                      <a16:colId xmlns:a16="http://schemas.microsoft.com/office/drawing/2014/main" val="458054064"/>
                    </a:ext>
                  </a:extLst>
                </a:gridCol>
              </a:tblGrid>
              <a:tr h="250531">
                <a:tc>
                  <a:txBody>
                    <a:bodyPr/>
                    <a:lstStyle/>
                    <a:p>
                      <a:pPr algn="l"/>
                      <a:endParaRPr lang="en-US" sz="900" b="1">
                        <a:solidFill>
                          <a:srgbClr val="48505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$55 / $3.50</a:t>
                      </a: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$75 / $3.50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$85 / $3.50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Strip</a:t>
                      </a:r>
                      <a:r>
                        <a:rPr lang="en-US" sz="900" b="1" kern="1200" baseline="30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(2)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45116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Year CoC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Year CoC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83699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900" b="1" kern="1200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ROI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55298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900" b="1" kern="1200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IRR (%)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5456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Payout (</a:t>
                      </a:r>
                      <a:r>
                        <a:rPr lang="en-US" sz="900" b="1" err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yrs</a:t>
                      </a:r>
                      <a:r>
                        <a:rPr lang="en-US" sz="900" b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7663729"/>
                  </a:ext>
                </a:extLst>
              </a:tr>
            </a:tbl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79656DB-F24C-CB4A-3355-666C7F5819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C0418A1-8ABC-9CBA-6622-9E27598D0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tabLst/>
              <a:defRPr/>
            </a:pPr>
            <a:r>
              <a:rPr lang="en-US" dirty="0"/>
              <a:t>% CWI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6AF7C5A6-2462-4DE5-2530-962C8354F5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2757" y="1321383"/>
            <a:ext cx="2473833" cy="5162550"/>
          </a:xfrm>
        </p:spPr>
        <p:txBody>
          <a:bodyPr/>
          <a:lstStyle/>
          <a:p>
            <a:r>
              <a:rPr lang="en-US" u="sng" dirty="0"/>
              <a:t>WI / NRI</a:t>
            </a:r>
            <a:r>
              <a:rPr lang="en-US" dirty="0"/>
              <a:t>: </a:t>
            </a:r>
          </a:p>
          <a:p>
            <a:r>
              <a:rPr lang="en-US" sz="900" u="sng" dirty="0"/>
              <a:t>Capital</a:t>
            </a:r>
            <a:r>
              <a:rPr lang="en-US" sz="900" dirty="0"/>
              <a:t>: </a:t>
            </a:r>
          </a:p>
          <a:p>
            <a:r>
              <a:rPr lang="en-US" sz="900" u="sng" dirty="0"/>
              <a:t>Seller Promote</a:t>
            </a:r>
            <a:r>
              <a:rPr lang="en-US" sz="900" dirty="0"/>
              <a:t>: </a:t>
            </a:r>
          </a:p>
          <a:p>
            <a:r>
              <a:rPr lang="en-US" sz="900" u="sng" dirty="0"/>
              <a:t>D&amp;C Timing</a:t>
            </a:r>
            <a:r>
              <a:rPr lang="en-US" sz="900" dirty="0"/>
              <a:t>: </a:t>
            </a:r>
          </a:p>
          <a:p>
            <a:r>
              <a:rPr lang="en-US" sz="900" dirty="0"/>
              <a:t>EUR (Mbo &amp; </a:t>
            </a:r>
            <a:r>
              <a:rPr lang="en-US" sz="900" dirty="0" err="1"/>
              <a:t>Mmcf</a:t>
            </a:r>
            <a:r>
              <a:rPr lang="en-US" sz="900" dirty="0"/>
              <a:t>): </a:t>
            </a:r>
          </a:p>
          <a:p>
            <a:endParaRPr lang="en-US" sz="900" dirty="0"/>
          </a:p>
          <a:p>
            <a:endParaRPr lang="en-US" sz="900" dirty="0"/>
          </a:p>
          <a:p>
            <a:endParaRPr lang="en-US" sz="900" dirty="0"/>
          </a:p>
          <a:p>
            <a:pPr lvl="1"/>
            <a:endParaRPr lang="en-US" sz="900" dirty="0"/>
          </a:p>
          <a:p>
            <a:pPr lvl="1"/>
            <a:endParaRPr lang="en-US" sz="900" dirty="0"/>
          </a:p>
          <a:p>
            <a:pPr lvl="1"/>
            <a:endParaRPr lang="en-US" sz="900" dirty="0"/>
          </a:p>
          <a:p>
            <a:pPr lvl="1"/>
            <a:endParaRPr lang="en-US" sz="900" dirty="0"/>
          </a:p>
          <a:p>
            <a:pPr lvl="1"/>
            <a:endParaRPr lang="en-US" sz="900" dirty="0"/>
          </a:p>
          <a:p>
            <a:pPr lvl="1"/>
            <a:endParaRPr lang="en-US" sz="900" dirty="0"/>
          </a:p>
          <a:p>
            <a:pPr lvl="1"/>
            <a:endParaRPr lang="en-US" sz="900" dirty="0"/>
          </a:p>
          <a:p>
            <a:pPr marL="457200" lvl="1" indent="0">
              <a:buNone/>
            </a:pPr>
            <a:endParaRPr lang="en-US" sz="900" dirty="0"/>
          </a:p>
          <a:p>
            <a:pPr marL="228600" lvl="1">
              <a:spcBef>
                <a:spcPts val="1000"/>
              </a:spcBef>
            </a:pPr>
            <a:r>
              <a:rPr lang="en-US" sz="900" u="sng" dirty="0"/>
              <a:t>OPEX</a:t>
            </a:r>
            <a:r>
              <a:rPr lang="en-US" sz="900" dirty="0"/>
              <a:t>: </a:t>
            </a:r>
          </a:p>
          <a:p>
            <a:pPr marL="228600" lvl="1">
              <a:spcBef>
                <a:spcPts val="1000"/>
              </a:spcBef>
            </a:pPr>
            <a:r>
              <a:rPr lang="en-US" sz="900" u="sng" dirty="0"/>
              <a:t>Oil, Gas &amp; NGL Differentials</a:t>
            </a:r>
            <a:r>
              <a:rPr lang="en-US" sz="900" dirty="0"/>
              <a:t>: </a:t>
            </a:r>
            <a:endParaRPr lang="en-US" sz="900" dirty="0">
              <a:solidFill>
                <a:srgbClr val="000000"/>
              </a:solidFill>
            </a:endParaRPr>
          </a:p>
          <a:p>
            <a:pPr marL="228600" lvl="1">
              <a:spcBef>
                <a:spcPts val="1000"/>
              </a:spcBef>
            </a:pPr>
            <a:r>
              <a:rPr lang="en-US" sz="900" u="sng" dirty="0">
                <a:solidFill>
                  <a:srgbClr val="000000"/>
                </a:solidFill>
              </a:rPr>
              <a:t>Shrink</a:t>
            </a:r>
            <a:r>
              <a:rPr lang="en-US" sz="900" u="sng" dirty="0"/>
              <a:t> &amp; Yield</a:t>
            </a:r>
            <a:r>
              <a:rPr lang="en-US" sz="900" dirty="0"/>
              <a:t>: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AE4A14C-B917-0DD7-805F-6FCD8ABEE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928720"/>
              </p:ext>
            </p:extLst>
          </p:nvPr>
        </p:nvGraphicFramePr>
        <p:xfrm>
          <a:off x="2968329" y="1319046"/>
          <a:ext cx="8878717" cy="1439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7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7689">
                  <a:extLst>
                    <a:ext uri="{9D8B030D-6E8A-4147-A177-3AD203B41FA5}">
                      <a16:colId xmlns:a16="http://schemas.microsoft.com/office/drawing/2014/main" val="793060041"/>
                    </a:ext>
                  </a:extLst>
                </a:gridCol>
                <a:gridCol w="1607689">
                  <a:extLst>
                    <a:ext uri="{9D8B030D-6E8A-4147-A177-3AD203B41FA5}">
                      <a16:colId xmlns:a16="http://schemas.microsoft.com/office/drawing/2014/main" val="99985809"/>
                    </a:ext>
                  </a:extLst>
                </a:gridCol>
                <a:gridCol w="1607689">
                  <a:extLst>
                    <a:ext uri="{9D8B030D-6E8A-4147-A177-3AD203B41FA5}">
                      <a16:colId xmlns:a16="http://schemas.microsoft.com/office/drawing/2014/main" val="632281491"/>
                    </a:ext>
                  </a:extLst>
                </a:gridCol>
                <a:gridCol w="1607689">
                  <a:extLst>
                    <a:ext uri="{9D8B030D-6E8A-4147-A177-3AD203B41FA5}">
                      <a16:colId xmlns:a16="http://schemas.microsoft.com/office/drawing/2014/main" val="458054064"/>
                    </a:ext>
                  </a:extLst>
                </a:gridCol>
              </a:tblGrid>
              <a:tr h="250531">
                <a:tc>
                  <a:txBody>
                    <a:bodyPr/>
                    <a:lstStyle/>
                    <a:p>
                      <a:pPr algn="l"/>
                      <a:endParaRPr lang="en-US" sz="900" b="1" dirty="0">
                        <a:solidFill>
                          <a:srgbClr val="48505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$55 / $3.50</a:t>
                      </a: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$75 / $3.50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$85 / $3.50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Strip</a:t>
                      </a:r>
                      <a:r>
                        <a:rPr lang="en-US" sz="900" b="1" kern="1200" baseline="30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(2)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45116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Year CoC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Year CoC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83699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900" b="1" kern="1200" dirty="0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ROI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55298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900" b="1" kern="1200" dirty="0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IRR (%)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5456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Payout (</a:t>
                      </a:r>
                      <a:r>
                        <a:rPr lang="en-US" sz="900" b="1" err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yrs</a:t>
                      </a:r>
                      <a:r>
                        <a:rPr lang="en-US" sz="900" b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766372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A8FED9A-0BEC-35AE-65B5-3B806EA42D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041029"/>
              </p:ext>
            </p:extLst>
          </p:nvPr>
        </p:nvGraphicFramePr>
        <p:xfrm>
          <a:off x="2968330" y="4998228"/>
          <a:ext cx="8878717" cy="1439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7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7689">
                  <a:extLst>
                    <a:ext uri="{9D8B030D-6E8A-4147-A177-3AD203B41FA5}">
                      <a16:colId xmlns:a16="http://schemas.microsoft.com/office/drawing/2014/main" val="793060041"/>
                    </a:ext>
                  </a:extLst>
                </a:gridCol>
                <a:gridCol w="1607689">
                  <a:extLst>
                    <a:ext uri="{9D8B030D-6E8A-4147-A177-3AD203B41FA5}">
                      <a16:colId xmlns:a16="http://schemas.microsoft.com/office/drawing/2014/main" val="99985809"/>
                    </a:ext>
                  </a:extLst>
                </a:gridCol>
                <a:gridCol w="1607689">
                  <a:extLst>
                    <a:ext uri="{9D8B030D-6E8A-4147-A177-3AD203B41FA5}">
                      <a16:colId xmlns:a16="http://schemas.microsoft.com/office/drawing/2014/main" val="632281491"/>
                    </a:ext>
                  </a:extLst>
                </a:gridCol>
                <a:gridCol w="1607689">
                  <a:extLst>
                    <a:ext uri="{9D8B030D-6E8A-4147-A177-3AD203B41FA5}">
                      <a16:colId xmlns:a16="http://schemas.microsoft.com/office/drawing/2014/main" val="458054064"/>
                    </a:ext>
                  </a:extLst>
                </a:gridCol>
              </a:tblGrid>
              <a:tr h="250531">
                <a:tc>
                  <a:txBody>
                    <a:bodyPr/>
                    <a:lstStyle/>
                    <a:p>
                      <a:pPr algn="l"/>
                      <a:endParaRPr lang="en-US" sz="900" b="1">
                        <a:solidFill>
                          <a:srgbClr val="48505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$55 / $3.50</a:t>
                      </a: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$75 / $3.50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$85 / $3.50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Strip</a:t>
                      </a:r>
                      <a:r>
                        <a:rPr lang="en-US" sz="900" b="1" kern="1200" baseline="30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(2)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45116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Year CoC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Year CoC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83699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900" b="1" kern="1200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ROI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55298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900" b="1" kern="1200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IRR (%)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5456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Payout (</a:t>
                      </a:r>
                      <a:r>
                        <a:rPr lang="en-US" sz="900" b="1" err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yrs</a:t>
                      </a:r>
                      <a:r>
                        <a:rPr lang="en-US" sz="900" b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7663729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8E5618F4-67AC-34C5-72B7-A88A2922A0E0}"/>
              </a:ext>
            </a:extLst>
          </p:cNvPr>
          <p:cNvSpPr/>
          <p:nvPr/>
        </p:nvSpPr>
        <p:spPr>
          <a:xfrm>
            <a:off x="7029060" y="3081250"/>
            <a:ext cx="1592425" cy="159402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D887F0-1B0E-B586-2E7C-2DED45F0EA97}"/>
              </a:ext>
            </a:extLst>
          </p:cNvPr>
          <p:cNvSpPr txBox="1"/>
          <p:nvPr/>
        </p:nvSpPr>
        <p:spPr>
          <a:xfrm>
            <a:off x="627035" y="3010603"/>
            <a:ext cx="20795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Target graph</a:t>
            </a:r>
          </a:p>
        </p:txBody>
      </p:sp>
    </p:spTree>
    <p:extLst>
      <p:ext uri="{BB962C8B-B14F-4D97-AF65-F5344CB8AC3E}">
        <p14:creationId xmlns:p14="http://schemas.microsoft.com/office/powerpoint/2010/main" val="487421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09756D2-3A49-AC89-04BB-DA2C20AC1A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1603"/>
              </p:ext>
            </p:extLst>
          </p:nvPr>
        </p:nvGraphicFramePr>
        <p:xfrm>
          <a:off x="2968331" y="3143034"/>
          <a:ext cx="8878717" cy="1439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7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7689">
                  <a:extLst>
                    <a:ext uri="{9D8B030D-6E8A-4147-A177-3AD203B41FA5}">
                      <a16:colId xmlns:a16="http://schemas.microsoft.com/office/drawing/2014/main" val="793060041"/>
                    </a:ext>
                  </a:extLst>
                </a:gridCol>
                <a:gridCol w="1607689">
                  <a:extLst>
                    <a:ext uri="{9D8B030D-6E8A-4147-A177-3AD203B41FA5}">
                      <a16:colId xmlns:a16="http://schemas.microsoft.com/office/drawing/2014/main" val="99985809"/>
                    </a:ext>
                  </a:extLst>
                </a:gridCol>
                <a:gridCol w="1607689">
                  <a:extLst>
                    <a:ext uri="{9D8B030D-6E8A-4147-A177-3AD203B41FA5}">
                      <a16:colId xmlns:a16="http://schemas.microsoft.com/office/drawing/2014/main" val="632281491"/>
                    </a:ext>
                  </a:extLst>
                </a:gridCol>
                <a:gridCol w="1607689">
                  <a:extLst>
                    <a:ext uri="{9D8B030D-6E8A-4147-A177-3AD203B41FA5}">
                      <a16:colId xmlns:a16="http://schemas.microsoft.com/office/drawing/2014/main" val="458054064"/>
                    </a:ext>
                  </a:extLst>
                </a:gridCol>
              </a:tblGrid>
              <a:tr h="250531">
                <a:tc>
                  <a:txBody>
                    <a:bodyPr/>
                    <a:lstStyle/>
                    <a:p>
                      <a:pPr algn="l"/>
                      <a:endParaRPr lang="en-US" sz="900" b="1">
                        <a:solidFill>
                          <a:srgbClr val="48505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$55 / $3.50</a:t>
                      </a: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$75 / $3.50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$85 / $3.50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Strip</a:t>
                      </a:r>
                      <a:r>
                        <a:rPr lang="en-US" sz="900" b="1" kern="1200" baseline="30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(2)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45116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Year CoC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Year CoC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83699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900" b="1" kern="1200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ROI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55298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900" b="1" kern="1200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IRR (%)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5456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Payout (</a:t>
                      </a:r>
                      <a:r>
                        <a:rPr lang="en-US" sz="900" b="1" err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yrs</a:t>
                      </a:r>
                      <a:r>
                        <a:rPr lang="en-US" sz="900" b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7663729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3C0418A1-8ABC-9CBA-6622-9E27598D0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tabLst/>
              <a:defRPr/>
            </a:pPr>
            <a:r>
              <a:rPr lang="en-US" dirty="0"/>
              <a:t>% CWI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6AF7C5A6-2462-4DE5-2530-962C8354F5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75" y="1296988"/>
            <a:ext cx="2443163" cy="5162550"/>
          </a:xfrm>
        </p:spPr>
        <p:txBody>
          <a:bodyPr/>
          <a:lstStyle/>
          <a:p>
            <a:r>
              <a:rPr lang="en-US" u="sng" dirty="0"/>
              <a:t>WI / NRI</a:t>
            </a:r>
            <a:r>
              <a:rPr lang="en-US" dirty="0"/>
              <a:t>: </a:t>
            </a:r>
          </a:p>
          <a:p>
            <a:r>
              <a:rPr lang="en-US" sz="900" u="sng" dirty="0"/>
              <a:t>Capital</a:t>
            </a:r>
            <a:r>
              <a:rPr lang="en-US" sz="900" dirty="0"/>
              <a:t>: </a:t>
            </a:r>
            <a:r>
              <a:rPr lang="en-US" sz="900" u="sng" dirty="0"/>
              <a:t>Seller Promote</a:t>
            </a:r>
            <a:r>
              <a:rPr lang="en-US" sz="900" dirty="0"/>
              <a:t>:</a:t>
            </a:r>
          </a:p>
          <a:p>
            <a:r>
              <a:rPr lang="en-US" sz="900" dirty="0"/>
              <a:t> </a:t>
            </a:r>
            <a:r>
              <a:rPr lang="en-US" sz="900" u="sng" dirty="0"/>
              <a:t>D&amp;C Timing</a:t>
            </a:r>
            <a:r>
              <a:rPr lang="en-US" sz="900" dirty="0"/>
              <a:t>:</a:t>
            </a:r>
          </a:p>
          <a:p>
            <a:r>
              <a:rPr lang="en-US" sz="900" dirty="0"/>
              <a:t>EUR (Mbo &amp; </a:t>
            </a:r>
            <a:r>
              <a:rPr lang="en-US" sz="900" dirty="0" err="1"/>
              <a:t>Mmcf</a:t>
            </a:r>
            <a:r>
              <a:rPr lang="en-US" sz="900" dirty="0"/>
              <a:t>):</a:t>
            </a:r>
          </a:p>
          <a:p>
            <a:pPr lvl="1"/>
            <a:endParaRPr lang="en-US" sz="900" dirty="0"/>
          </a:p>
          <a:p>
            <a:pPr lvl="1"/>
            <a:endParaRPr lang="en-US" sz="900" dirty="0"/>
          </a:p>
          <a:p>
            <a:pPr lvl="1"/>
            <a:endParaRPr lang="en-US" sz="900" dirty="0"/>
          </a:p>
          <a:p>
            <a:pPr lvl="1"/>
            <a:endParaRPr lang="en-US" sz="900" dirty="0"/>
          </a:p>
          <a:p>
            <a:pPr lvl="1"/>
            <a:endParaRPr lang="en-US" sz="900" dirty="0"/>
          </a:p>
          <a:p>
            <a:pPr lvl="1"/>
            <a:endParaRPr lang="en-US" sz="900" dirty="0"/>
          </a:p>
          <a:p>
            <a:pPr lvl="1"/>
            <a:endParaRPr lang="en-US" sz="900" dirty="0"/>
          </a:p>
          <a:p>
            <a:pPr lvl="1"/>
            <a:endParaRPr lang="en-US" sz="900" dirty="0"/>
          </a:p>
          <a:p>
            <a:pPr lvl="1"/>
            <a:endParaRPr lang="en-US" sz="900" dirty="0"/>
          </a:p>
          <a:p>
            <a:pPr lvl="1"/>
            <a:endParaRPr lang="en-US" sz="900" dirty="0"/>
          </a:p>
          <a:p>
            <a:pPr lvl="1"/>
            <a:endParaRPr lang="en-US" sz="900" dirty="0"/>
          </a:p>
          <a:p>
            <a:pPr lvl="1"/>
            <a:endParaRPr lang="en-US" sz="900" dirty="0"/>
          </a:p>
          <a:p>
            <a:pPr marL="457200" lvl="1" indent="0">
              <a:buNone/>
            </a:pPr>
            <a:endParaRPr lang="en-US" sz="900" dirty="0"/>
          </a:p>
          <a:p>
            <a:pPr marL="228600" lvl="1">
              <a:spcBef>
                <a:spcPts val="1000"/>
              </a:spcBef>
            </a:pPr>
            <a:r>
              <a:rPr lang="en-US" sz="900" u="sng" dirty="0"/>
              <a:t>OPEX</a:t>
            </a:r>
            <a:r>
              <a:rPr lang="en-US" sz="900" dirty="0"/>
              <a:t>: </a:t>
            </a: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$45k, </a:t>
            </a:r>
            <a:r>
              <a:rPr lang="en-US" sz="900" dirty="0">
                <a:solidFill>
                  <a:srgbClr val="000000"/>
                </a:solidFill>
              </a:rPr>
              <a:t>25</a:t>
            </a: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k, 15k/</a:t>
            </a:r>
            <a:r>
              <a:rPr lang="en-US" sz="9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</a:t>
            </a: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$2.78/</a:t>
            </a:r>
            <a:r>
              <a:rPr lang="en-US" sz="9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</a:t>
            </a:r>
            <a:endParaRPr lang="en-US" sz="900" dirty="0"/>
          </a:p>
          <a:p>
            <a:pPr marL="228600" lvl="1">
              <a:spcBef>
                <a:spcPts val="1000"/>
              </a:spcBef>
            </a:pPr>
            <a:r>
              <a:rPr lang="en-US" sz="900" u="sng" dirty="0"/>
              <a:t>Oil, Gas &amp; NGL Differentials</a:t>
            </a:r>
            <a:r>
              <a:rPr lang="en-US" sz="900" dirty="0"/>
              <a:t>: $-1.09 / 47</a:t>
            </a: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/ 25% </a:t>
            </a:r>
            <a:endParaRPr lang="en-US" sz="900" dirty="0">
              <a:solidFill>
                <a:srgbClr val="000000"/>
              </a:solidFill>
            </a:endParaRPr>
          </a:p>
          <a:p>
            <a:pPr marL="228600" lvl="1">
              <a:spcBef>
                <a:spcPts val="1000"/>
              </a:spcBef>
            </a:pPr>
            <a:r>
              <a:rPr lang="en-US" sz="900" u="sng" dirty="0">
                <a:solidFill>
                  <a:srgbClr val="000000"/>
                </a:solidFill>
              </a:rPr>
              <a:t>Shrink</a:t>
            </a:r>
            <a:r>
              <a:rPr lang="en-US" sz="900" u="sng" dirty="0"/>
              <a:t> &amp; Yield</a:t>
            </a:r>
            <a:r>
              <a:rPr lang="en-US" sz="900" dirty="0"/>
              <a:t>: 63</a:t>
            </a: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/ 115 bb/</a:t>
            </a:r>
            <a:r>
              <a:rPr lang="en-US" sz="9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mmcf</a:t>
            </a: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900" dirty="0"/>
          </a:p>
          <a:p>
            <a:pPr marL="228600" lvl="1">
              <a:spcBef>
                <a:spcPts val="1000"/>
              </a:spcBef>
            </a:pPr>
            <a:endParaRPr lang="en-US" sz="9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AE4A14C-B917-0DD7-805F-6FCD8ABEE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218347"/>
              </p:ext>
            </p:extLst>
          </p:nvPr>
        </p:nvGraphicFramePr>
        <p:xfrm>
          <a:off x="2968332" y="1279748"/>
          <a:ext cx="8878717" cy="1439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7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7689">
                  <a:extLst>
                    <a:ext uri="{9D8B030D-6E8A-4147-A177-3AD203B41FA5}">
                      <a16:colId xmlns:a16="http://schemas.microsoft.com/office/drawing/2014/main" val="793060041"/>
                    </a:ext>
                  </a:extLst>
                </a:gridCol>
                <a:gridCol w="1607689">
                  <a:extLst>
                    <a:ext uri="{9D8B030D-6E8A-4147-A177-3AD203B41FA5}">
                      <a16:colId xmlns:a16="http://schemas.microsoft.com/office/drawing/2014/main" val="99985809"/>
                    </a:ext>
                  </a:extLst>
                </a:gridCol>
                <a:gridCol w="1607689">
                  <a:extLst>
                    <a:ext uri="{9D8B030D-6E8A-4147-A177-3AD203B41FA5}">
                      <a16:colId xmlns:a16="http://schemas.microsoft.com/office/drawing/2014/main" val="632281491"/>
                    </a:ext>
                  </a:extLst>
                </a:gridCol>
                <a:gridCol w="1607689">
                  <a:extLst>
                    <a:ext uri="{9D8B030D-6E8A-4147-A177-3AD203B41FA5}">
                      <a16:colId xmlns:a16="http://schemas.microsoft.com/office/drawing/2014/main" val="458054064"/>
                    </a:ext>
                  </a:extLst>
                </a:gridCol>
              </a:tblGrid>
              <a:tr h="250531">
                <a:tc>
                  <a:txBody>
                    <a:bodyPr/>
                    <a:lstStyle/>
                    <a:p>
                      <a:pPr algn="l"/>
                      <a:endParaRPr lang="en-US" sz="900" b="1">
                        <a:solidFill>
                          <a:srgbClr val="48505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$55 / $3.50</a:t>
                      </a: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$75 / $3.50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$85 / $3.50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Strip</a:t>
                      </a:r>
                      <a:r>
                        <a:rPr lang="en-US" sz="900" b="1" kern="1200" baseline="30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(2)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45116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Year CoC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Year CoC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83699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900" b="1" kern="1200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ROI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55298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900" b="1" kern="1200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IRR (%)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5456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Payout (</a:t>
                      </a:r>
                      <a:r>
                        <a:rPr lang="en-US" sz="900" b="1" err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yrs</a:t>
                      </a:r>
                      <a:r>
                        <a:rPr lang="en-US" sz="900" b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766372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A8FED9A-0BEC-35AE-65B5-3B806EA42D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105236"/>
              </p:ext>
            </p:extLst>
          </p:nvPr>
        </p:nvGraphicFramePr>
        <p:xfrm>
          <a:off x="2968330" y="4998228"/>
          <a:ext cx="8878717" cy="1439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7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7689">
                  <a:extLst>
                    <a:ext uri="{9D8B030D-6E8A-4147-A177-3AD203B41FA5}">
                      <a16:colId xmlns:a16="http://schemas.microsoft.com/office/drawing/2014/main" val="793060041"/>
                    </a:ext>
                  </a:extLst>
                </a:gridCol>
                <a:gridCol w="1607689">
                  <a:extLst>
                    <a:ext uri="{9D8B030D-6E8A-4147-A177-3AD203B41FA5}">
                      <a16:colId xmlns:a16="http://schemas.microsoft.com/office/drawing/2014/main" val="99985809"/>
                    </a:ext>
                  </a:extLst>
                </a:gridCol>
                <a:gridCol w="1607689">
                  <a:extLst>
                    <a:ext uri="{9D8B030D-6E8A-4147-A177-3AD203B41FA5}">
                      <a16:colId xmlns:a16="http://schemas.microsoft.com/office/drawing/2014/main" val="632281491"/>
                    </a:ext>
                  </a:extLst>
                </a:gridCol>
                <a:gridCol w="1607689">
                  <a:extLst>
                    <a:ext uri="{9D8B030D-6E8A-4147-A177-3AD203B41FA5}">
                      <a16:colId xmlns:a16="http://schemas.microsoft.com/office/drawing/2014/main" val="458054064"/>
                    </a:ext>
                  </a:extLst>
                </a:gridCol>
              </a:tblGrid>
              <a:tr h="250531">
                <a:tc>
                  <a:txBody>
                    <a:bodyPr/>
                    <a:lstStyle/>
                    <a:p>
                      <a:pPr algn="l"/>
                      <a:endParaRPr lang="en-US" sz="900" b="1">
                        <a:solidFill>
                          <a:srgbClr val="48505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$55 / $3.50</a:t>
                      </a: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$75 / $3.50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$85 / $3.50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Strip</a:t>
                      </a:r>
                      <a:r>
                        <a:rPr lang="en-US" sz="900" b="1" kern="1200" baseline="30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(2)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45116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Year CoC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Year CoC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83699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900" b="1" kern="1200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ROI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55298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900" b="1" kern="1200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IRR (%)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5456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Payout (</a:t>
                      </a:r>
                      <a:r>
                        <a:rPr lang="en-US" sz="900" b="1" err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yrs</a:t>
                      </a:r>
                      <a:r>
                        <a:rPr lang="en-US" sz="900" b="1">
                          <a:solidFill>
                            <a:srgbClr val="4850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7663729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92A27517-082C-0044-74BB-AB156B6184A8}"/>
              </a:ext>
            </a:extLst>
          </p:cNvPr>
          <p:cNvSpPr/>
          <p:nvPr/>
        </p:nvSpPr>
        <p:spPr>
          <a:xfrm>
            <a:off x="7029060" y="4920840"/>
            <a:ext cx="1592425" cy="159402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6C8153E6-BCE4-D53A-41A8-5E16D41BF6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2114" y="6483933"/>
            <a:ext cx="10491166" cy="374650"/>
          </a:xfrm>
        </p:spPr>
        <p:txBody>
          <a:bodyPr/>
          <a:lstStyle/>
          <a:p>
            <a:r>
              <a:rPr lang="en-US"/>
              <a:t>Assumes prices stated, flat deck.</a:t>
            </a:r>
          </a:p>
          <a:p>
            <a:r>
              <a:rPr lang="en-US"/>
              <a:t>Strip (8/7/2023): </a:t>
            </a:r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WTI/HH (respectively) Cal ‘24 $77.62 / $</a:t>
            </a:r>
            <a:r>
              <a:rPr lang="en-US"/>
              <a:t>3.50</a:t>
            </a:r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Cal ‘25: $</a:t>
            </a:r>
            <a:r>
              <a:rPr lang="en-US"/>
              <a:t>72.86</a:t>
            </a:r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$</a:t>
            </a:r>
            <a:r>
              <a:rPr lang="en-US"/>
              <a:t>3.97</a:t>
            </a:r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Cal ‘26 $69.01 / $4.03, Cal ‘27 $65.82 / $</a:t>
            </a:r>
            <a:r>
              <a:rPr lang="en-US"/>
              <a:t>3.97</a:t>
            </a:r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Cal ‘28 $63.10 / $3.88, Rem. $53.59 / $5.65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DF1736-8803-7884-E578-32F811F0227C}"/>
              </a:ext>
            </a:extLst>
          </p:cNvPr>
          <p:cNvSpPr txBox="1"/>
          <p:nvPr/>
        </p:nvSpPr>
        <p:spPr>
          <a:xfrm>
            <a:off x="599603" y="2718999"/>
            <a:ext cx="20795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Target graph</a:t>
            </a:r>
          </a:p>
        </p:txBody>
      </p:sp>
    </p:spTree>
    <p:extLst>
      <p:ext uri="{BB962C8B-B14F-4D97-AF65-F5344CB8AC3E}">
        <p14:creationId xmlns:p14="http://schemas.microsoft.com/office/powerpoint/2010/main" val="3420360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071B8-E4B4-06F0-93F8-BA3317A57B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Deal name</a:t>
            </a:r>
          </a:p>
          <a:p>
            <a:endParaRPr lang="en-US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B1ABAC3-C8AC-F8CD-5B5D-8B788EF6824F}"/>
              </a:ext>
            </a:extLst>
          </p:cNvPr>
          <p:cNvGrpSpPr/>
          <p:nvPr/>
        </p:nvGrpSpPr>
        <p:grpSpPr>
          <a:xfrm>
            <a:off x="9111494" y="5966461"/>
            <a:ext cx="2381168" cy="738923"/>
            <a:chOff x="3717037" y="6095306"/>
            <a:chExt cx="2381168" cy="738923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C7C3286-9597-81BF-F34A-34F4A79E7715}"/>
                </a:ext>
              </a:extLst>
            </p:cNvPr>
            <p:cNvSpPr/>
            <p:nvPr/>
          </p:nvSpPr>
          <p:spPr>
            <a:xfrm>
              <a:off x="3717038" y="6126317"/>
              <a:ext cx="2010076" cy="6778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60C76299-B11C-D1E3-C48B-654802409058}"/>
                </a:ext>
              </a:extLst>
            </p:cNvPr>
            <p:cNvGrpSpPr/>
            <p:nvPr/>
          </p:nvGrpSpPr>
          <p:grpSpPr>
            <a:xfrm>
              <a:off x="3772335" y="6270482"/>
              <a:ext cx="2051000" cy="441210"/>
              <a:chOff x="426054" y="5346838"/>
              <a:chExt cx="2689958" cy="507840"/>
            </a:xfrm>
          </p:grpSpPr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80704188-BEE1-1900-4F03-0E2B5F759B50}"/>
                  </a:ext>
                </a:extLst>
              </p:cNvPr>
              <p:cNvGrpSpPr/>
              <p:nvPr/>
            </p:nvGrpSpPr>
            <p:grpSpPr>
              <a:xfrm>
                <a:off x="426054" y="5418522"/>
                <a:ext cx="388546" cy="58825"/>
                <a:chOff x="1756133" y="5907409"/>
                <a:chExt cx="388546" cy="58825"/>
              </a:xfrm>
            </p:grpSpPr>
            <p:sp>
              <p:nvSpPr>
                <p:cNvPr id="70" name="Isosceles Triangle 69">
                  <a:extLst>
                    <a:ext uri="{FF2B5EF4-FFF2-40B4-BE49-F238E27FC236}">
                      <a16:creationId xmlns:a16="http://schemas.microsoft.com/office/drawing/2014/main" id="{D11587ED-6576-02C5-D91F-BA75A51417FF}"/>
                    </a:ext>
                  </a:extLst>
                </p:cNvPr>
                <p:cNvSpPr/>
                <p:nvPr/>
              </p:nvSpPr>
              <p:spPr>
                <a:xfrm>
                  <a:off x="1936246" y="5907409"/>
                  <a:ext cx="67113" cy="58723"/>
                </a:xfrm>
                <a:prstGeom prst="triangl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700"/>
                </a:p>
              </p:txBody>
            </p: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2D506F87-9E21-716B-546D-B766365645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56133" y="5966234"/>
                  <a:ext cx="388546" cy="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FF49A737-8CD2-EC8D-6FE3-5EBB1486E5D4}"/>
                  </a:ext>
                </a:extLst>
              </p:cNvPr>
              <p:cNvGrpSpPr/>
              <p:nvPr/>
            </p:nvGrpSpPr>
            <p:grpSpPr>
              <a:xfrm>
                <a:off x="426054" y="5695004"/>
                <a:ext cx="435031" cy="58874"/>
                <a:chOff x="476456" y="5626702"/>
                <a:chExt cx="435031" cy="58874"/>
              </a:xfrm>
            </p:grpSpPr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2DAD6066-A5D4-6811-CECA-CF347C928A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6456" y="5685576"/>
                  <a:ext cx="435031" cy="0"/>
                </a:xfrm>
                <a:prstGeom prst="line">
                  <a:avLst/>
                </a:prstGeom>
                <a:ln w="9525" cap="flat" cmpd="sng" algn="ctr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69" name="Isosceles Triangle 68">
                  <a:extLst>
                    <a:ext uri="{FF2B5EF4-FFF2-40B4-BE49-F238E27FC236}">
                      <a16:creationId xmlns:a16="http://schemas.microsoft.com/office/drawing/2014/main" id="{A08AE46C-694E-E7DB-5D92-6DC5FB8DB83B}"/>
                    </a:ext>
                  </a:extLst>
                </p:cNvPr>
                <p:cNvSpPr/>
                <p:nvPr/>
              </p:nvSpPr>
              <p:spPr>
                <a:xfrm>
                  <a:off x="654593" y="5626702"/>
                  <a:ext cx="67113" cy="58723"/>
                </a:xfrm>
                <a:prstGeom prst="triangl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700"/>
                </a:p>
              </p:txBody>
            </p: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1739B32-E19C-CBDB-26A8-B44802E13AA6}"/>
                  </a:ext>
                </a:extLst>
              </p:cNvPr>
              <p:cNvSpPr txBox="1"/>
              <p:nvPr/>
            </p:nvSpPr>
            <p:spPr>
              <a:xfrm>
                <a:off x="806497" y="5346838"/>
                <a:ext cx="1980046" cy="247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>
                    <a:latin typeface="Arial" panose="020B0604020202020204" pitchFamily="34" charset="0"/>
                    <a:cs typeface="Arial" panose="020B0604020202020204" pitchFamily="34" charset="0"/>
                  </a:rPr>
                  <a:t>High confidence reverse fault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43019F4-A0B3-09B0-785B-C79CBF5A9E25}"/>
                  </a:ext>
                </a:extLst>
              </p:cNvPr>
              <p:cNvSpPr txBox="1"/>
              <p:nvPr/>
            </p:nvSpPr>
            <p:spPr>
              <a:xfrm>
                <a:off x="806497" y="5606696"/>
                <a:ext cx="2309515" cy="247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>
                    <a:latin typeface="Arial" panose="020B0604020202020204" pitchFamily="34" charset="0"/>
                    <a:cs typeface="Arial" panose="020B0604020202020204" pitchFamily="34" charset="0"/>
                  </a:rPr>
                  <a:t>Moderate confidence reverse fault</a:t>
                </a: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A2A0278-661F-732A-EE9C-DE4EF29C971A}"/>
                </a:ext>
              </a:extLst>
            </p:cNvPr>
            <p:cNvSpPr txBox="1"/>
            <p:nvPr/>
          </p:nvSpPr>
          <p:spPr>
            <a:xfrm>
              <a:off x="4039327" y="6095306"/>
              <a:ext cx="168778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>
                  <a:latin typeface="Arial" panose="020B0604020202020204" pitchFamily="34" charset="0"/>
                  <a:cs typeface="Arial" panose="020B0604020202020204" pitchFamily="34" charset="0"/>
                </a:rPr>
                <a:t>Basement Rooted Faults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8A51F38-1E8A-BC14-5BD1-E8AE6E7A9809}"/>
                </a:ext>
              </a:extLst>
            </p:cNvPr>
            <p:cNvSpPr txBox="1"/>
            <p:nvPr/>
          </p:nvSpPr>
          <p:spPr>
            <a:xfrm>
              <a:off x="3717037" y="6649563"/>
              <a:ext cx="2381168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/>
                <a:t>Source: UT Bureau of Economic Geology </a:t>
              </a:r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61814DCC-D0DF-5F7D-0A2D-D2F838A84B23}"/>
                </a:ext>
              </a:extLst>
            </p:cNvPr>
            <p:cNvCxnSpPr>
              <a:cxnSpLocks/>
            </p:cNvCxnSpPr>
            <p:nvPr/>
          </p:nvCxnSpPr>
          <p:spPr>
            <a:xfrm>
              <a:off x="3717037" y="6264059"/>
              <a:ext cx="201007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A63EAB2-C6D2-EA37-7BA9-F61D76C42EBC}"/>
              </a:ext>
            </a:extLst>
          </p:cNvPr>
          <p:cNvSpPr txBox="1">
            <a:spLocks/>
          </p:cNvSpPr>
          <p:nvPr/>
        </p:nvSpPr>
        <p:spPr>
          <a:xfrm>
            <a:off x="500797" y="1178864"/>
            <a:ext cx="5501181" cy="5265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6507" lvl="1" indent="-171450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SzPct val="92000"/>
              <a:buFont typeface="Wingdings" panose="05000000000000000000" pitchFamily="2" charset="2"/>
              <a:buChar char="§"/>
            </a:pPr>
            <a:r>
              <a:rPr lang="en-US" sz="1000" dirty="0"/>
              <a:t>Info.</a:t>
            </a:r>
          </a:p>
          <a:p>
            <a:pPr marL="15057" lvl="1" indent="0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SzPct val="9200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4825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Office Theme">
  <a:themeElements>
    <a:clrScheme name="Custom for Pres 1">
      <a:dk1>
        <a:srgbClr val="292934"/>
      </a:dk1>
      <a:lt1>
        <a:srgbClr val="FFFFFF"/>
      </a:lt1>
      <a:dk2>
        <a:srgbClr val="3B3B4B"/>
      </a:dk2>
      <a:lt2>
        <a:srgbClr val="F3F2DC"/>
      </a:lt2>
      <a:accent1>
        <a:srgbClr val="0F113C"/>
      </a:accent1>
      <a:accent2>
        <a:srgbClr val="AA2226"/>
      </a:accent2>
      <a:accent3>
        <a:srgbClr val="814747"/>
      </a:accent3>
      <a:accent4>
        <a:srgbClr val="1D3A18"/>
      </a:accent4>
      <a:accent5>
        <a:srgbClr val="808DA0"/>
      </a:accent5>
      <a:accent6>
        <a:srgbClr val="C60000"/>
      </a:accent6>
      <a:hlink>
        <a:srgbClr val="0D3B97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3000" b="1" dirty="0" smtClean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48403F942BFA48A2FACB706BB5AC36" ma:contentTypeVersion="18" ma:contentTypeDescription="Create a new document." ma:contentTypeScope="" ma:versionID="9ef2eeb5ba4f0a6ea57c34aa11982122">
  <xsd:schema xmlns:xsd="http://www.w3.org/2001/XMLSchema" xmlns:xs="http://www.w3.org/2001/XMLSchema" xmlns:p="http://schemas.microsoft.com/office/2006/metadata/properties" xmlns:ns2="6da79504-3b38-4dc1-99b2-1c8e24983edd" xmlns:ns3="95e74e6a-7931-4d76-8cfd-fd6de9f4133c" targetNamespace="http://schemas.microsoft.com/office/2006/metadata/properties" ma:root="true" ma:fieldsID="d719a4c56fb14cf680d40c913e29e811" ns2:_="" ns3:_="">
    <xsd:import namespace="6da79504-3b38-4dc1-99b2-1c8e24983edd"/>
    <xsd:import namespace="95e74e6a-7931-4d76-8cfd-fd6de9f4133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a79504-3b38-4dc1-99b2-1c8e24983e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b204247-93f4-49f1-9b5f-bf0a18c64e6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e74e6a-7931-4d76-8cfd-fd6de9f4133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806a0985-fbe2-4e94-8ecc-e0d6e04544d4}" ma:internalName="TaxCatchAll" ma:showField="CatchAllData" ma:web="95e74e6a-7931-4d76-8cfd-fd6de9f413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95e74e6a-7931-4d76-8cfd-fd6de9f4133c">
      <UserInfo>
        <DisplayName>Brandon Standifird</DisplayName>
        <AccountId>18</AccountId>
        <AccountType/>
      </UserInfo>
      <UserInfo>
        <DisplayName>Jared Christianson</DisplayName>
        <AccountId>12</AccountId>
        <AccountType/>
      </UserInfo>
      <UserInfo>
        <DisplayName>Bobby Davis</DisplayName>
        <AccountId>15</AccountId>
        <AccountType/>
      </UserInfo>
      <UserInfo>
        <DisplayName>Morgan Spears</DisplayName>
        <AccountId>16</AccountId>
        <AccountType/>
      </UserInfo>
      <UserInfo>
        <DisplayName>Todd Witmer</DisplayName>
        <AccountId>23</AccountId>
        <AccountType/>
      </UserInfo>
    </SharedWithUsers>
    <lcf76f155ced4ddcb4097134ff3c332f xmlns="6da79504-3b38-4dc1-99b2-1c8e24983edd">
      <Terms xmlns="http://schemas.microsoft.com/office/infopath/2007/PartnerControls"/>
    </lcf76f155ced4ddcb4097134ff3c332f>
    <TaxCatchAll xmlns="95e74e6a-7931-4d76-8cfd-fd6de9f4133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64FDF84-27E3-4B13-B3F5-B8F9E44FF7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a79504-3b38-4dc1-99b2-1c8e24983edd"/>
    <ds:schemaRef ds:uri="95e74e6a-7931-4d76-8cfd-fd6de9f4133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8D34B58-9E4A-4E03-B6E9-69480D87DB41}">
  <ds:schemaRefs>
    <ds:schemaRef ds:uri="6da79504-3b38-4dc1-99b2-1c8e24983edd"/>
    <ds:schemaRef ds:uri="95e74e6a-7931-4d76-8cfd-fd6de9f4133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4EDDFDD-9110-4277-A6A7-0BEA15A8D7F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469</Words>
  <Application>Microsoft Office PowerPoint</Application>
  <PresentationFormat>Widescreen</PresentationFormat>
  <Paragraphs>136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% CWI</vt:lpstr>
      <vt:lpstr>% CWI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Nick DiLeo</dc:creator>
  <cp:lastModifiedBy>Rohit Gupta</cp:lastModifiedBy>
  <cp:revision>5</cp:revision>
  <cp:lastPrinted>2022-02-10T20:30:28Z</cp:lastPrinted>
  <dcterms:created xsi:type="dcterms:W3CDTF">2018-09-13T20:55:24Z</dcterms:created>
  <dcterms:modified xsi:type="dcterms:W3CDTF">2026-06-23T15:35:54Z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0x0101005348403F942BFA48A2FACB706BB5AC36</vt:lpwstr>
  </property>
  <property fmtid="{D5CDD505-2E9C-101B-9397-08002B2CF9AE}" pid="3" name="AuthorIds_UIVersion_1024">
    <vt:lpwstr>13</vt:lpwstr>
  </property>
  <property fmtid="{D5CDD505-2E9C-101B-9397-08002B2CF9AE}" pid="4" name="AuthorIds_UIVersion_2048">
    <vt:lpwstr>13</vt:lpwstr>
  </property>
  <property fmtid="{D5CDD505-2E9C-101B-9397-08002B2CF9AE}" pid="5" name="MediaServiceImageTags">
    <vt:lpwstr/>
  </property>
</Properties>
</file>