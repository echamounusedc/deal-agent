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Default Extension="py" ContentType="text/x-python"/>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handoutMasterIdLst>
    <p:handoutMasterId r:id="rId13"/>
  </p:handoutMasterIdLst>
  <p:sldIdLst>
    <p:sldId id="256" r:id="rId11"/>
    <p:sldId id="257" r:id="rId10"/>
    <p:sldId id="258" r:id="rId9"/>
    <p:sldId id="259" r:id="rId8"/>
    <p:sldId id="260" r:id="rId7"/>
    <p:sldId id="261" r:id="rId6"/>
    <p:sldId id="262" r:id="rId5"/>
    <p:sldId id="263" r:id="rId20"/>
    <p:sldId id="264" r:id="rId21"/>
    <p:sldId id="265" r:id="rId22"/>
    <p:sldId id="266" r:id="rId23"/>
    <p:sldId id="267" r:id="rId24"/>
    <p:sldId id="268" r:id="rId25"/>
    <p:sldId id="269" r:id="rId26"/>
    <p:sldId id="270" r:id="rId27"/>
    <p:sldId id="271" r:id="rId28"/>
    <p:sldId id="272" r:id="rId29"/>
    <p:sldId id="273" r:id="rId30"/>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513E8E-D741-6734-33BE-484CC60EF1AD}" name="Thi Dao" initials="TD" userId="S::tdao@USEDC.COM::9f99d11f-a059-4808-b8f8-ba18dbec277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obby Davis" initials="BD" lastIdx="2" clrIdx="0">
    <p:extLst>
      <p:ext uri="{19B8F6BF-5375-455C-9EA6-DF929625EA0E}">
        <p15:presenceInfo xmlns:p15="http://schemas.microsoft.com/office/powerpoint/2012/main" userId="S::bdavis@USEDC.COM::a4010fcb-01f1-4f84-ab5b-74f12dcfb21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4264A"/>
    <a:srgbClr val="02042E"/>
    <a:srgbClr val="0033CC"/>
    <a:srgbClr val="F99A95"/>
    <a:srgbClr val="97D9C7"/>
    <a:srgbClr val="F99893"/>
    <a:srgbClr val="96DACA"/>
    <a:srgbClr val="F99994"/>
    <a:srgbClr val="99BE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7.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2.xml"/><Relationship Id="rId11" Type="http://schemas.openxmlformats.org/officeDocument/2006/relationships/slide" Target="slides/slide1.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commentAuthors" Target="commentAuthor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8/10/relationships/authors" Target="authors.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C44B05-DC94-9351-EBDC-C94BE95D3B41}"/>
              </a:ext>
            </a:extLst>
          </p:cNvPr>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31CFEA7-9C44-54FD-9771-B1F9B138D440}"/>
              </a:ext>
            </a:extLst>
          </p:cNvPr>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F935CF70-0116-49ED-BFF7-4F13FE5C9DDA}" type="datetimeFigureOut">
              <a:rPr lang="en-US" smtClean="0"/>
              <a:t>6/23/2026</a:t>
            </a:fld>
            <a:endParaRPr lang="en-US"/>
          </a:p>
        </p:txBody>
      </p:sp>
      <p:sp>
        <p:nvSpPr>
          <p:cNvPr id="4" name="Footer Placeholder 3">
            <a:extLst>
              <a:ext uri="{FF2B5EF4-FFF2-40B4-BE49-F238E27FC236}">
                <a16:creationId xmlns:a16="http://schemas.microsoft.com/office/drawing/2014/main" id="{1C3CCE64-6E45-A9B3-EFD4-5DDBE7F5E46D}"/>
              </a:ext>
            </a:extLst>
          </p:cNvPr>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EBD3869-3547-BE86-68DD-4CF3742A8187}"/>
              </a:ext>
            </a:extLst>
          </p:cNvPr>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B2824CD8-97C3-466A-867E-7221CA8D3480}" type="slidenum">
              <a:rPr lang="en-US" smtClean="0"/>
              <a:t>‹#›</a:t>
            </a:fld>
            <a:endParaRPr lang="en-US"/>
          </a:p>
        </p:txBody>
      </p:sp>
    </p:spTree>
    <p:extLst>
      <p:ext uri="{BB962C8B-B14F-4D97-AF65-F5344CB8AC3E}">
        <p14:creationId xmlns:p14="http://schemas.microsoft.com/office/powerpoint/2010/main" val="36576695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3169811" cy="481370"/>
          </a:xfrm>
          <a:prstGeom prst="rect">
            <a:avLst/>
          </a:prstGeom>
        </p:spPr>
        <p:txBody>
          <a:bodyPr vert="horz" lIns="94661" tIns="47332" rIns="94661" bIns="47332" rtlCol="0"/>
          <a:lstStyle>
            <a:lvl1pPr algn="l">
              <a:defRPr sz="1200"/>
            </a:lvl1pPr>
          </a:lstStyle>
          <a:p>
            <a:endParaRPr lang="en-US"/>
          </a:p>
        </p:txBody>
      </p:sp>
      <p:sp>
        <p:nvSpPr>
          <p:cNvPr id="3" name="Date Placeholder 2"/>
          <p:cNvSpPr>
            <a:spLocks noGrp="1"/>
          </p:cNvSpPr>
          <p:nvPr>
            <p:ph type="dt" idx="1"/>
          </p:nvPr>
        </p:nvSpPr>
        <p:spPr>
          <a:xfrm>
            <a:off x="4143737" y="2"/>
            <a:ext cx="3169811" cy="481370"/>
          </a:xfrm>
          <a:prstGeom prst="rect">
            <a:avLst/>
          </a:prstGeom>
        </p:spPr>
        <p:txBody>
          <a:bodyPr vert="horz" lIns="94661" tIns="47332" rIns="94661" bIns="47332" rtlCol="0"/>
          <a:lstStyle>
            <a:lvl1pPr algn="r">
              <a:defRPr sz="1200"/>
            </a:lvl1pPr>
          </a:lstStyle>
          <a:p>
            <a:fld id="{A4AB815F-8DAA-4665-A89B-B7EE364ED138}" type="datetimeFigureOut">
              <a:rPr lang="en-US" smtClean="0"/>
              <a:t>6/23/2026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4661" tIns="47332" rIns="94661" bIns="47332" rtlCol="0" anchor="ctr"/>
          <a:lstStyle/>
          <a:p>
            <a:endParaRPr lang="en-US"/>
          </a:p>
        </p:txBody>
      </p:sp>
      <p:sp>
        <p:nvSpPr>
          <p:cNvPr id="5" name="Notes Placeholder 4"/>
          <p:cNvSpPr>
            <a:spLocks noGrp="1"/>
          </p:cNvSpPr>
          <p:nvPr>
            <p:ph type="body" sz="quarter" idx="3"/>
          </p:nvPr>
        </p:nvSpPr>
        <p:spPr>
          <a:xfrm>
            <a:off x="730861" y="4620498"/>
            <a:ext cx="5853483" cy="3780555"/>
          </a:xfrm>
          <a:prstGeom prst="rect">
            <a:avLst/>
          </a:prstGeom>
        </p:spPr>
        <p:txBody>
          <a:bodyPr vert="horz" lIns="94661" tIns="47332" rIns="94661" bIns="47332"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119832"/>
            <a:ext cx="3169811" cy="481370"/>
          </a:xfrm>
          <a:prstGeom prst="rect">
            <a:avLst/>
          </a:prstGeom>
        </p:spPr>
        <p:txBody>
          <a:bodyPr vert="horz" lIns="94661" tIns="47332" rIns="94661" bIns="47332" rtlCol="0" anchor="b"/>
          <a:lstStyle>
            <a:lvl1pPr algn="l">
              <a:defRPr sz="1200"/>
            </a:lvl1pPr>
          </a:lstStyle>
          <a:p>
            <a:endParaRPr lang="en-US"/>
          </a:p>
        </p:txBody>
      </p:sp>
      <p:sp>
        <p:nvSpPr>
          <p:cNvPr id="7" name="Slide Number Placeholder 6"/>
          <p:cNvSpPr>
            <a:spLocks noGrp="1"/>
          </p:cNvSpPr>
          <p:nvPr>
            <p:ph type="sldNum" sz="quarter" idx="5"/>
          </p:nvPr>
        </p:nvSpPr>
        <p:spPr>
          <a:xfrm>
            <a:off x="4143737" y="9119832"/>
            <a:ext cx="3169811" cy="481370"/>
          </a:xfrm>
          <a:prstGeom prst="rect">
            <a:avLst/>
          </a:prstGeom>
        </p:spPr>
        <p:txBody>
          <a:bodyPr vert="horz" lIns="94661" tIns="47332" rIns="94661" bIns="47332" rtlCol="0" anchor="b"/>
          <a:lstStyle>
            <a:lvl1pPr algn="r">
              <a:defRPr sz="1200"/>
            </a:lvl1pPr>
          </a:lstStyle>
          <a:p>
            <a:fld id="{2CEDF81D-6627-4861-846D-D8A1C073AA34}" type="slidenum">
              <a:rPr lang="en-US" smtClean="0"/>
              <a:t>‹#›</a:t>
            </a:fld>
            <a:endParaRPr lang="en-US"/>
          </a:p>
        </p:txBody>
      </p:sp>
    </p:spTree>
    <p:extLst>
      <p:ext uri="{BB962C8B-B14F-4D97-AF65-F5344CB8AC3E}">
        <p14:creationId xmlns:p14="http://schemas.microsoft.com/office/powerpoint/2010/main" val="4250733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Co-Gen CUP presentation. Source memo: 'Goals and Timeline — USGPD as Developer and Operator of the Central Utility Plant', prepared by Bill Hibbard, 6/5/26, plus the Aaron Equipment Caterpillar CG170-16 quote.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embeds a runnable agent: deal_agent/agents/cogen_comparison_agent.py is also stored inside this .pptx package under /agent/. Run it for the live matrix:</a:t>
            </a:r>
          </a:p>
          <a:p>
            <a:r>
              <a:t>    python cogen_comparison_agent.py            # formatted table + recommendation</a:t>
            </a:r>
          </a:p>
          <a:p>
            <a:r>
              <a:t>    python cogen_comparison_agent.py --json     # machine-readable scoring matrix</a:t>
            </a:r>
          </a:p>
          <a:p>
            <a:r>
              <a:t>Criteria weights: Control 20, Timeline 20, Reliability 20, Cost Control 15, Capital 15, Thermal Payback 10. Scores are 1-5 from USGPD's goal perspective.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gif"/><Relationship Id="rId3"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1.gi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Title Slide">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FCFA71E0-1472-D661-6132-D9743A2001AB}"/>
              </a:ext>
            </a:extLst>
          </p:cNvPr>
          <p:cNvGrpSpPr/>
          <p:nvPr userDrawn="1"/>
        </p:nvGrpSpPr>
        <p:grpSpPr>
          <a:xfrm>
            <a:off x="27778" y="-1161370"/>
            <a:ext cx="12164222" cy="8658722"/>
            <a:chOff x="27778" y="-1161370"/>
            <a:chExt cx="12164222" cy="8658722"/>
          </a:xfrm>
        </p:grpSpPr>
        <p:pic>
          <p:nvPicPr>
            <p:cNvPr id="26" name="Picture 25">
              <a:extLst>
                <a:ext uri="{FF2B5EF4-FFF2-40B4-BE49-F238E27FC236}">
                  <a16:creationId xmlns:a16="http://schemas.microsoft.com/office/drawing/2014/main" id="{4075C657-CEE8-66E9-32DD-312C83EF10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44000" y="6253534"/>
              <a:ext cx="2942306" cy="517005"/>
            </a:xfrm>
            <a:prstGeom prst="rect">
              <a:avLst/>
            </a:prstGeom>
          </p:spPr>
        </p:pic>
        <p:pic>
          <p:nvPicPr>
            <p:cNvPr id="12" name="Picture 11">
              <a:extLst>
                <a:ext uri="{FF2B5EF4-FFF2-40B4-BE49-F238E27FC236}">
                  <a16:creationId xmlns:a16="http://schemas.microsoft.com/office/drawing/2014/main" id="{1BC6C65B-2685-0953-1FD1-C1C9475BE6C7}"/>
                </a:ext>
              </a:extLst>
            </p:cNvPr>
            <p:cNvPicPr>
              <a:picLocks noChangeAspect="1"/>
            </p:cNvPicPr>
            <p:nvPr userDrawn="1"/>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6061145" y="519137"/>
              <a:ext cx="6096000" cy="3841422"/>
            </a:xfrm>
            <a:prstGeom prst="rect">
              <a:avLst/>
            </a:prstGeom>
            <a:ln w="28575">
              <a:solidFill>
                <a:schemeClr val="bg1"/>
              </a:solidFill>
            </a:ln>
          </p:spPr>
        </p:pic>
        <p:sp>
          <p:nvSpPr>
            <p:cNvPr id="28" name="Rectangle 20">
              <a:extLst>
                <a:ext uri="{FF2B5EF4-FFF2-40B4-BE49-F238E27FC236}">
                  <a16:creationId xmlns:a16="http://schemas.microsoft.com/office/drawing/2014/main" id="{E9364D65-66E9-BB8E-498E-957C6555F43B}"/>
                </a:ext>
              </a:extLst>
            </p:cNvPr>
            <p:cNvSpPr/>
            <p:nvPr userDrawn="1"/>
          </p:nvSpPr>
          <p:spPr>
            <a:xfrm rot="17967265">
              <a:off x="1012584" y="1840075"/>
              <a:ext cx="8658722" cy="2655832"/>
            </a:xfrm>
            <a:custGeom>
              <a:avLst/>
              <a:gdLst>
                <a:gd name="connsiteX0" fmla="*/ 0 w 8658722"/>
                <a:gd name="connsiteY0" fmla="*/ 0 h 2653396"/>
                <a:gd name="connsiteX1" fmla="*/ 8658722 w 8658722"/>
                <a:gd name="connsiteY1" fmla="*/ 0 h 2653396"/>
                <a:gd name="connsiteX2" fmla="*/ 8658722 w 8658722"/>
                <a:gd name="connsiteY2" fmla="*/ 2653396 h 2653396"/>
                <a:gd name="connsiteX3" fmla="*/ 0 w 8658722"/>
                <a:gd name="connsiteY3" fmla="*/ 2653396 h 2653396"/>
                <a:gd name="connsiteX4" fmla="*/ 0 w 8658722"/>
                <a:gd name="connsiteY4" fmla="*/ 0 h 2653396"/>
                <a:gd name="connsiteX0" fmla="*/ 0 w 8658722"/>
                <a:gd name="connsiteY0" fmla="*/ 2436 h 2655832"/>
                <a:gd name="connsiteX1" fmla="*/ 6733490 w 8658722"/>
                <a:gd name="connsiteY1" fmla="*/ 0 h 2655832"/>
                <a:gd name="connsiteX2" fmla="*/ 8658722 w 8658722"/>
                <a:gd name="connsiteY2" fmla="*/ 2655832 h 2655832"/>
                <a:gd name="connsiteX3" fmla="*/ 0 w 8658722"/>
                <a:gd name="connsiteY3" fmla="*/ 2655832 h 2655832"/>
                <a:gd name="connsiteX4" fmla="*/ 0 w 8658722"/>
                <a:gd name="connsiteY4" fmla="*/ 2436 h 2655832"/>
                <a:gd name="connsiteX0" fmla="*/ 0 w 8658722"/>
                <a:gd name="connsiteY0" fmla="*/ 2436 h 2655832"/>
                <a:gd name="connsiteX1" fmla="*/ 6733490 w 8658722"/>
                <a:gd name="connsiteY1" fmla="*/ 0 h 2655832"/>
                <a:gd name="connsiteX2" fmla="*/ 8658722 w 8658722"/>
                <a:gd name="connsiteY2" fmla="*/ 2655832 h 2655832"/>
                <a:gd name="connsiteX3" fmla="*/ 924880 w 8658722"/>
                <a:gd name="connsiteY3" fmla="*/ 2036340 h 2655832"/>
                <a:gd name="connsiteX4" fmla="*/ 0 w 8658722"/>
                <a:gd name="connsiteY4" fmla="*/ 2436 h 2655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8722" h="2655832">
                  <a:moveTo>
                    <a:pt x="0" y="2436"/>
                  </a:moveTo>
                  <a:lnTo>
                    <a:pt x="6733490" y="0"/>
                  </a:lnTo>
                  <a:lnTo>
                    <a:pt x="8658722" y="2655832"/>
                  </a:lnTo>
                  <a:lnTo>
                    <a:pt x="924880" y="2036340"/>
                  </a:lnTo>
                  <a:lnTo>
                    <a:pt x="0" y="243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
              <a:extLst>
                <a:ext uri="{FF2B5EF4-FFF2-40B4-BE49-F238E27FC236}">
                  <a16:creationId xmlns:a16="http://schemas.microsoft.com/office/drawing/2014/main" id="{2403FE68-F2DF-39D7-731B-11180DB9F649}"/>
                </a:ext>
              </a:extLst>
            </p:cNvPr>
            <p:cNvSpPr/>
            <p:nvPr userDrawn="1"/>
          </p:nvSpPr>
          <p:spPr>
            <a:xfrm>
              <a:off x="27778" y="1974634"/>
              <a:ext cx="5124306" cy="1297328"/>
            </a:xfrm>
            <a:custGeom>
              <a:avLst/>
              <a:gdLst>
                <a:gd name="connsiteX0" fmla="*/ 0 w 4186052"/>
                <a:gd name="connsiteY0" fmla="*/ 0 h 2638567"/>
                <a:gd name="connsiteX1" fmla="*/ 4186052 w 4186052"/>
                <a:gd name="connsiteY1" fmla="*/ 0 h 2638567"/>
                <a:gd name="connsiteX2" fmla="*/ 4186052 w 4186052"/>
                <a:gd name="connsiteY2" fmla="*/ 2638567 h 2638567"/>
                <a:gd name="connsiteX3" fmla="*/ 0 w 4186052"/>
                <a:gd name="connsiteY3" fmla="*/ 2638567 h 2638567"/>
                <a:gd name="connsiteX4" fmla="*/ 0 w 4186052"/>
                <a:gd name="connsiteY4" fmla="*/ 0 h 2638567"/>
                <a:gd name="connsiteX0" fmla="*/ 0 w 5967144"/>
                <a:gd name="connsiteY0" fmla="*/ 7952 h 2646519"/>
                <a:gd name="connsiteX1" fmla="*/ 5967144 w 5967144"/>
                <a:gd name="connsiteY1" fmla="*/ 0 h 2646519"/>
                <a:gd name="connsiteX2" fmla="*/ 4186052 w 5967144"/>
                <a:gd name="connsiteY2" fmla="*/ 2646519 h 2646519"/>
                <a:gd name="connsiteX3" fmla="*/ 0 w 5967144"/>
                <a:gd name="connsiteY3" fmla="*/ 2646519 h 2646519"/>
                <a:gd name="connsiteX4" fmla="*/ 0 w 5967144"/>
                <a:gd name="connsiteY4" fmla="*/ 7952 h 2646519"/>
                <a:gd name="connsiteX0" fmla="*/ 0 w 5124306"/>
                <a:gd name="connsiteY0" fmla="*/ 7952 h 2646519"/>
                <a:gd name="connsiteX1" fmla="*/ 5124306 w 5124306"/>
                <a:gd name="connsiteY1" fmla="*/ 0 h 2646519"/>
                <a:gd name="connsiteX2" fmla="*/ 4186052 w 5124306"/>
                <a:gd name="connsiteY2" fmla="*/ 2646519 h 2646519"/>
                <a:gd name="connsiteX3" fmla="*/ 0 w 5124306"/>
                <a:gd name="connsiteY3" fmla="*/ 2646519 h 2646519"/>
                <a:gd name="connsiteX4" fmla="*/ 0 w 5124306"/>
                <a:gd name="connsiteY4" fmla="*/ 7952 h 26465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24306" h="2646519">
                  <a:moveTo>
                    <a:pt x="0" y="7952"/>
                  </a:moveTo>
                  <a:lnTo>
                    <a:pt x="5124306" y="0"/>
                  </a:lnTo>
                  <a:lnTo>
                    <a:pt x="4186052" y="2646519"/>
                  </a:lnTo>
                  <a:lnTo>
                    <a:pt x="0" y="2646519"/>
                  </a:lnTo>
                  <a:lnTo>
                    <a:pt x="0" y="7952"/>
                  </a:lnTo>
                  <a:close/>
                </a:path>
              </a:pathLst>
            </a:custGeom>
            <a:solidFill>
              <a:srgbClr val="AA2226"/>
            </a:solidFill>
            <a:ln w="38100">
              <a:solidFill>
                <a:schemeClr val="bg1"/>
              </a:solidFill>
            </a:ln>
          </p:spPr>
          <p:style>
            <a:lnRef idx="1">
              <a:schemeClr val="dk1"/>
            </a:lnRef>
            <a:fillRef idx="3">
              <a:schemeClr val="dk1"/>
            </a:fillRef>
            <a:effectRef idx="2">
              <a:schemeClr val="dk1"/>
            </a:effectRef>
            <a:fontRef idx="minor">
              <a:schemeClr val="lt1"/>
            </a:fontRef>
          </p:style>
          <p:txBody>
            <a:bodyPr rtlCol="0" anchor="ctr"/>
            <a:lstStyle/>
            <a:p>
              <a:pPr algn="ctr"/>
              <a:endParaRPr lang="en-US"/>
            </a:p>
          </p:txBody>
        </p:sp>
        <p:sp>
          <p:nvSpPr>
            <p:cNvPr id="10" name="Rectangle 1">
              <a:extLst>
                <a:ext uri="{FF2B5EF4-FFF2-40B4-BE49-F238E27FC236}">
                  <a16:creationId xmlns:a16="http://schemas.microsoft.com/office/drawing/2014/main" id="{71FADA22-22DA-6E79-0F79-2AC01738452D}"/>
                </a:ext>
              </a:extLst>
            </p:cNvPr>
            <p:cNvSpPr/>
            <p:nvPr userDrawn="1"/>
          </p:nvSpPr>
          <p:spPr>
            <a:xfrm>
              <a:off x="27778" y="2873952"/>
              <a:ext cx="5818263" cy="2123567"/>
            </a:xfrm>
            <a:custGeom>
              <a:avLst/>
              <a:gdLst>
                <a:gd name="connsiteX0" fmla="*/ 0 w 4186052"/>
                <a:gd name="connsiteY0" fmla="*/ 0 h 2638567"/>
                <a:gd name="connsiteX1" fmla="*/ 4186052 w 4186052"/>
                <a:gd name="connsiteY1" fmla="*/ 0 h 2638567"/>
                <a:gd name="connsiteX2" fmla="*/ 4186052 w 4186052"/>
                <a:gd name="connsiteY2" fmla="*/ 2638567 h 2638567"/>
                <a:gd name="connsiteX3" fmla="*/ 0 w 4186052"/>
                <a:gd name="connsiteY3" fmla="*/ 2638567 h 2638567"/>
                <a:gd name="connsiteX4" fmla="*/ 0 w 4186052"/>
                <a:gd name="connsiteY4" fmla="*/ 0 h 2638567"/>
                <a:gd name="connsiteX0" fmla="*/ 0 w 5967144"/>
                <a:gd name="connsiteY0" fmla="*/ 7952 h 2646519"/>
                <a:gd name="connsiteX1" fmla="*/ 5967144 w 5967144"/>
                <a:gd name="connsiteY1" fmla="*/ 0 h 2646519"/>
                <a:gd name="connsiteX2" fmla="*/ 4186052 w 5967144"/>
                <a:gd name="connsiteY2" fmla="*/ 2646519 h 2646519"/>
                <a:gd name="connsiteX3" fmla="*/ 0 w 5967144"/>
                <a:gd name="connsiteY3" fmla="*/ 2646519 h 2646519"/>
                <a:gd name="connsiteX4" fmla="*/ 0 w 5967144"/>
                <a:gd name="connsiteY4" fmla="*/ 7952 h 26465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144" h="2646519">
                  <a:moveTo>
                    <a:pt x="0" y="7952"/>
                  </a:moveTo>
                  <a:lnTo>
                    <a:pt x="5967144" y="0"/>
                  </a:lnTo>
                  <a:lnTo>
                    <a:pt x="4186052" y="2646519"/>
                  </a:lnTo>
                  <a:lnTo>
                    <a:pt x="0" y="2646519"/>
                  </a:lnTo>
                  <a:lnTo>
                    <a:pt x="0" y="7952"/>
                  </a:lnTo>
                  <a:close/>
                </a:path>
              </a:pathLst>
            </a:custGeom>
            <a:solidFill>
              <a:srgbClr val="02042E"/>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CB08E51-2B22-6FCF-06FF-52C973944A98}"/>
                </a:ext>
              </a:extLst>
            </p:cNvPr>
            <p:cNvSpPr txBox="1"/>
            <p:nvPr userDrawn="1"/>
          </p:nvSpPr>
          <p:spPr>
            <a:xfrm>
              <a:off x="220806" y="2883490"/>
              <a:ext cx="4846494" cy="800219"/>
            </a:xfrm>
            <a:prstGeom prst="rect">
              <a:avLst/>
            </a:prstGeom>
            <a:noFill/>
          </p:spPr>
          <p:txBody>
            <a:bodyPr wrap="square" rtlCol="0">
              <a:spAutoFit/>
            </a:bodyPr>
            <a:lstStyle/>
            <a:p>
              <a:r>
                <a:rPr lang="en-US" sz="2800" b="1">
                  <a:solidFill>
                    <a:schemeClr val="bg1"/>
                  </a:solidFill>
                  <a:latin typeface="Arial" panose="020B0604020202020204" pitchFamily="34" charset="0"/>
                  <a:cs typeface="Arial" panose="020B0604020202020204" pitchFamily="34" charset="0"/>
                </a:rPr>
                <a:t>U.S. ENERGY</a:t>
              </a:r>
            </a:p>
            <a:p>
              <a:r>
                <a:rPr lang="en-US" b="1">
                  <a:solidFill>
                    <a:schemeClr val="bg1"/>
                  </a:solidFill>
                  <a:latin typeface="Arial" panose="020B0604020202020204" pitchFamily="34" charset="0"/>
                  <a:cs typeface="Arial" panose="020B0604020202020204" pitchFamily="34" charset="0"/>
                </a:rPr>
                <a:t>Development Corporation</a:t>
              </a:r>
            </a:p>
          </p:txBody>
        </p:sp>
        <p:sp>
          <p:nvSpPr>
            <p:cNvPr id="25" name="Rectangle 2">
              <a:extLst>
                <a:ext uri="{FF2B5EF4-FFF2-40B4-BE49-F238E27FC236}">
                  <a16:creationId xmlns:a16="http://schemas.microsoft.com/office/drawing/2014/main" id="{C45E9BD3-D6B6-74F4-74E8-7E2729E7E93C}"/>
                </a:ext>
              </a:extLst>
            </p:cNvPr>
            <p:cNvSpPr/>
            <p:nvPr userDrawn="1"/>
          </p:nvSpPr>
          <p:spPr>
            <a:xfrm>
              <a:off x="3267075" y="3897769"/>
              <a:ext cx="8909023" cy="1184745"/>
            </a:xfrm>
            <a:custGeom>
              <a:avLst/>
              <a:gdLst>
                <a:gd name="connsiteX0" fmla="*/ 0 w 8033468"/>
                <a:gd name="connsiteY0" fmla="*/ 0 h 1184745"/>
                <a:gd name="connsiteX1" fmla="*/ 8033468 w 8033468"/>
                <a:gd name="connsiteY1" fmla="*/ 0 h 1184745"/>
                <a:gd name="connsiteX2" fmla="*/ 8033468 w 8033468"/>
                <a:gd name="connsiteY2" fmla="*/ 1184745 h 1184745"/>
                <a:gd name="connsiteX3" fmla="*/ 0 w 8033468"/>
                <a:gd name="connsiteY3" fmla="*/ 1184745 h 1184745"/>
                <a:gd name="connsiteX4" fmla="*/ 0 w 8033468"/>
                <a:gd name="connsiteY4" fmla="*/ 0 h 1184745"/>
                <a:gd name="connsiteX0" fmla="*/ 771276 w 8804744"/>
                <a:gd name="connsiteY0" fmla="*/ 0 h 1184745"/>
                <a:gd name="connsiteX1" fmla="*/ 8804744 w 8804744"/>
                <a:gd name="connsiteY1" fmla="*/ 0 h 1184745"/>
                <a:gd name="connsiteX2" fmla="*/ 8804744 w 8804744"/>
                <a:gd name="connsiteY2" fmla="*/ 1184745 h 1184745"/>
                <a:gd name="connsiteX3" fmla="*/ 0 w 8804744"/>
                <a:gd name="connsiteY3" fmla="*/ 1184745 h 1184745"/>
                <a:gd name="connsiteX4" fmla="*/ 771276 w 8804744"/>
                <a:gd name="connsiteY4" fmla="*/ 0 h 1184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4744" h="1184745">
                  <a:moveTo>
                    <a:pt x="771276" y="0"/>
                  </a:moveTo>
                  <a:lnTo>
                    <a:pt x="8804744" y="0"/>
                  </a:lnTo>
                  <a:lnTo>
                    <a:pt x="8804744" y="1184745"/>
                  </a:lnTo>
                  <a:lnTo>
                    <a:pt x="0" y="1184745"/>
                  </a:lnTo>
                  <a:lnTo>
                    <a:pt x="771276" y="0"/>
                  </a:lnTo>
                  <a:close/>
                </a:path>
              </a:pathLst>
            </a:custGeom>
            <a:solidFill>
              <a:srgbClr val="02042E"/>
            </a:solidFill>
            <a:ln w="38100"/>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9" name="Rectangle 28">
              <a:extLst>
                <a:ext uri="{FF2B5EF4-FFF2-40B4-BE49-F238E27FC236}">
                  <a16:creationId xmlns:a16="http://schemas.microsoft.com/office/drawing/2014/main" id="{F9961A5F-779F-28D7-F34C-4A4C96F4B9E7}"/>
                </a:ext>
              </a:extLst>
            </p:cNvPr>
            <p:cNvSpPr/>
            <p:nvPr userDrawn="1"/>
          </p:nvSpPr>
          <p:spPr>
            <a:xfrm>
              <a:off x="4822922" y="83758"/>
              <a:ext cx="7369078" cy="18582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B066BCEE-6617-B4EA-3A12-2EAB85DDAB76}"/>
                </a:ext>
              </a:extLst>
            </p:cNvPr>
            <p:cNvSpPr txBox="1"/>
            <p:nvPr userDrawn="1"/>
          </p:nvSpPr>
          <p:spPr>
            <a:xfrm>
              <a:off x="10286961" y="79684"/>
              <a:ext cx="1887481" cy="230832"/>
            </a:xfrm>
            <a:prstGeom prst="rect">
              <a:avLst/>
            </a:prstGeom>
            <a:noFill/>
          </p:spPr>
          <p:txBody>
            <a:bodyPr wrap="square" rtlCol="0">
              <a:spAutoFit/>
            </a:bodyPr>
            <a:lstStyle/>
            <a:p>
              <a:pPr algn="r"/>
              <a:r>
                <a:rPr lang="en-US" sz="900" b="1" spc="30">
                  <a:solidFill>
                    <a:srgbClr val="000000"/>
                  </a:solidFill>
                  <a:latin typeface="Arial" panose="020B0604020202020204" pitchFamily="34" charset="0"/>
                  <a:cs typeface="Arial" panose="020B0604020202020204" pitchFamily="34" charset="0"/>
                </a:rPr>
                <a:t>STRICTLY CONFIDENTIAL</a:t>
              </a:r>
            </a:p>
          </p:txBody>
        </p:sp>
      </p:grpSp>
      <p:sp>
        <p:nvSpPr>
          <p:cNvPr id="32" name="Text Placeholder 31">
            <a:extLst>
              <a:ext uri="{FF2B5EF4-FFF2-40B4-BE49-F238E27FC236}">
                <a16:creationId xmlns:a16="http://schemas.microsoft.com/office/drawing/2014/main" id="{E105C02A-A537-6247-55DE-9CBFF1EDDBD8}"/>
              </a:ext>
            </a:extLst>
          </p:cNvPr>
          <p:cNvSpPr>
            <a:spLocks noGrp="1"/>
          </p:cNvSpPr>
          <p:nvPr userDrawn="1">
            <p:ph type="body" sz="quarter" idx="10" hasCustomPrompt="1"/>
          </p:nvPr>
        </p:nvSpPr>
        <p:spPr>
          <a:xfrm>
            <a:off x="220806" y="2199438"/>
            <a:ext cx="4179887" cy="487355"/>
          </a:xfrm>
        </p:spPr>
        <p:txBody>
          <a:bodyPr>
            <a:normAutofit/>
          </a:bodyPr>
          <a:lstStyle>
            <a:lvl1pPr marL="0" indent="0">
              <a:buNone/>
              <a:defRPr sz="2000" b="1">
                <a:solidFill>
                  <a:schemeClr val="bg1"/>
                </a:solidFill>
                <a:latin typeface="Arial" panose="020B0604020202020204" pitchFamily="34" charset="0"/>
                <a:cs typeface="Arial" panose="020B0604020202020204" pitchFamily="34" charset="0"/>
              </a:defRPr>
            </a:lvl1pPr>
          </a:lstStyle>
          <a:p>
            <a:pPr lvl="0"/>
            <a:r>
              <a:rPr lang="en-US"/>
              <a:t>January 3, 2023</a:t>
            </a:r>
          </a:p>
        </p:txBody>
      </p:sp>
      <p:sp>
        <p:nvSpPr>
          <p:cNvPr id="34" name="Text Placeholder 4">
            <a:extLst>
              <a:ext uri="{FF2B5EF4-FFF2-40B4-BE49-F238E27FC236}">
                <a16:creationId xmlns:a16="http://schemas.microsoft.com/office/drawing/2014/main" id="{203D292B-7715-9B75-210E-B01B0FB1857F}"/>
              </a:ext>
            </a:extLst>
          </p:cNvPr>
          <p:cNvSpPr>
            <a:spLocks noGrp="1"/>
          </p:cNvSpPr>
          <p:nvPr>
            <p:ph type="body" sz="quarter" idx="11" hasCustomPrompt="1"/>
          </p:nvPr>
        </p:nvSpPr>
        <p:spPr>
          <a:xfrm>
            <a:off x="4199248" y="4139500"/>
            <a:ext cx="6408738" cy="435120"/>
          </a:xfrm>
        </p:spPr>
        <p:txBody>
          <a:bodyPr lIns="0" rIns="0">
            <a:normAutofit/>
          </a:bodyPr>
          <a:lstStyle>
            <a:lvl1pPr marL="0" indent="0">
              <a:buNone/>
              <a:defRPr sz="2600" b="1" i="1">
                <a:solidFill>
                  <a:schemeClr val="bg1"/>
                </a:solidFill>
                <a:latin typeface="Arial" panose="020B0604020202020204" pitchFamily="34" charset="0"/>
                <a:cs typeface="Arial" panose="020B0604020202020204" pitchFamily="34" charset="0"/>
              </a:defRPr>
            </a:lvl1pPr>
          </a:lstStyle>
          <a:p>
            <a:pPr lvl="0"/>
            <a:r>
              <a:rPr lang="en-US"/>
              <a:t>Deal Name Prospect</a:t>
            </a:r>
          </a:p>
        </p:txBody>
      </p:sp>
      <p:sp>
        <p:nvSpPr>
          <p:cNvPr id="37" name="Text Placeholder 4">
            <a:extLst>
              <a:ext uri="{FF2B5EF4-FFF2-40B4-BE49-F238E27FC236}">
                <a16:creationId xmlns:a16="http://schemas.microsoft.com/office/drawing/2014/main" id="{8F5C09B5-BCC6-2A28-6DEE-8E39CD91F314}"/>
              </a:ext>
            </a:extLst>
          </p:cNvPr>
          <p:cNvSpPr>
            <a:spLocks noGrp="1"/>
          </p:cNvSpPr>
          <p:nvPr>
            <p:ph type="body" sz="quarter" idx="12" hasCustomPrompt="1"/>
          </p:nvPr>
        </p:nvSpPr>
        <p:spPr>
          <a:xfrm>
            <a:off x="4199248" y="4520458"/>
            <a:ext cx="6408738" cy="435120"/>
          </a:xfrm>
        </p:spPr>
        <p:txBody>
          <a:bodyPr lIns="0" rIns="0">
            <a:normAutofit/>
          </a:bodyPr>
          <a:lstStyle>
            <a:lvl1pPr marL="0" indent="0">
              <a:buNone/>
              <a:defRPr sz="1600" b="1" i="1">
                <a:solidFill>
                  <a:schemeClr val="bg1"/>
                </a:solidFill>
                <a:latin typeface="Arial" panose="020B0604020202020204" pitchFamily="34" charset="0"/>
                <a:cs typeface="Arial" panose="020B0604020202020204" pitchFamily="34" charset="0"/>
              </a:defRPr>
            </a:lvl1pPr>
          </a:lstStyle>
          <a:p>
            <a:pPr lvl="0"/>
            <a:r>
              <a:rPr lang="en-US"/>
              <a:t>County - State</a:t>
            </a:r>
          </a:p>
        </p:txBody>
      </p:sp>
    </p:spTree>
    <p:extLst>
      <p:ext uri="{BB962C8B-B14F-4D97-AF65-F5344CB8AC3E}">
        <p14:creationId xmlns:p14="http://schemas.microsoft.com/office/powerpoint/2010/main" val="4105480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Deal Sign-Off Sheet">
    <p:spTree>
      <p:nvGrpSpPr>
        <p:cNvPr id="1" name=""/>
        <p:cNvGrpSpPr/>
        <p:nvPr/>
      </p:nvGrpSpPr>
      <p:grpSpPr>
        <a:xfrm>
          <a:off x="0" y="0"/>
          <a:ext cx="0" cy="0"/>
          <a:chOff x="0" y="0"/>
          <a:chExt cx="0" cy="0"/>
        </a:xfrm>
      </p:grpSpPr>
      <p:sp>
        <p:nvSpPr>
          <p:cNvPr id="6" name="Rectangle 7">
            <a:extLst>
              <a:ext uri="{FF2B5EF4-FFF2-40B4-BE49-F238E27FC236}">
                <a16:creationId xmlns:a16="http://schemas.microsoft.com/office/drawing/2014/main" id="{EE7E127B-AD24-38C8-8650-30B7A245CE2F}"/>
              </a:ext>
            </a:extLst>
          </p:cNvPr>
          <p:cNvSpPr/>
          <p:nvPr userDrawn="1"/>
        </p:nvSpPr>
        <p:spPr>
          <a:xfrm>
            <a:off x="0" y="673298"/>
            <a:ext cx="10491849" cy="235155"/>
          </a:xfrm>
          <a:custGeom>
            <a:avLst/>
            <a:gdLst>
              <a:gd name="connsiteX0" fmla="*/ 0 w 10629900"/>
              <a:gd name="connsiteY0" fmla="*/ 0 h 365125"/>
              <a:gd name="connsiteX1" fmla="*/ 10629900 w 10629900"/>
              <a:gd name="connsiteY1" fmla="*/ 0 h 365125"/>
              <a:gd name="connsiteX2" fmla="*/ 10629900 w 10629900"/>
              <a:gd name="connsiteY2" fmla="*/ 365125 h 365125"/>
              <a:gd name="connsiteX3" fmla="*/ 0 w 10629900"/>
              <a:gd name="connsiteY3" fmla="*/ 365125 h 365125"/>
              <a:gd name="connsiteX4" fmla="*/ 0 w 10629900"/>
              <a:gd name="connsiteY4" fmla="*/ 0 h 365125"/>
              <a:gd name="connsiteX0" fmla="*/ 0 w 10629900"/>
              <a:gd name="connsiteY0" fmla="*/ 0 h 365125"/>
              <a:gd name="connsiteX1" fmla="*/ 10629900 w 10629900"/>
              <a:gd name="connsiteY1" fmla="*/ 0 h 365125"/>
              <a:gd name="connsiteX2" fmla="*/ 10077450 w 10629900"/>
              <a:gd name="connsiteY2" fmla="*/ 355600 h 365125"/>
              <a:gd name="connsiteX3" fmla="*/ 0 w 10629900"/>
              <a:gd name="connsiteY3" fmla="*/ 365125 h 365125"/>
              <a:gd name="connsiteX4" fmla="*/ 0 w 10629900"/>
              <a:gd name="connsiteY4" fmla="*/ 0 h 36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9900" h="365125">
                <a:moveTo>
                  <a:pt x="0" y="0"/>
                </a:moveTo>
                <a:lnTo>
                  <a:pt x="10629900" y="0"/>
                </a:lnTo>
                <a:lnTo>
                  <a:pt x="10077450" y="355600"/>
                </a:lnTo>
                <a:lnTo>
                  <a:pt x="0" y="365125"/>
                </a:lnTo>
                <a:lnTo>
                  <a:pt x="0" y="0"/>
                </a:lnTo>
                <a:close/>
              </a:path>
            </a:pathLst>
          </a:custGeom>
          <a:solidFill>
            <a:schemeClr val="accent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35BFD6F7-2F68-E7C7-BAB9-F296DF06C2D5}"/>
              </a:ext>
            </a:extLst>
          </p:cNvPr>
          <p:cNvCxnSpPr/>
          <p:nvPr userDrawn="1"/>
        </p:nvCxnSpPr>
        <p:spPr>
          <a:xfrm>
            <a:off x="0" y="623328"/>
            <a:ext cx="12192000" cy="0"/>
          </a:xfrm>
          <a:prstGeom prst="line">
            <a:avLst/>
          </a:prstGeom>
          <a:ln w="28575">
            <a:solidFill>
              <a:srgbClr val="34364C"/>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6990C06-D522-9597-F667-4738D221AA53}"/>
              </a:ext>
            </a:extLst>
          </p:cNvPr>
          <p:cNvSpPr txBox="1"/>
          <p:nvPr userDrawn="1"/>
        </p:nvSpPr>
        <p:spPr>
          <a:xfrm>
            <a:off x="333375" y="73388"/>
            <a:ext cx="3556981" cy="523220"/>
          </a:xfrm>
          <a:prstGeom prst="rect">
            <a:avLst/>
          </a:prstGeom>
          <a:noFill/>
        </p:spPr>
        <p:txBody>
          <a:bodyPr wrap="square" rtlCol="0">
            <a:spAutoFit/>
          </a:bodyPr>
          <a:lstStyle/>
          <a:p>
            <a:pPr algn="l"/>
            <a:r>
              <a:rPr lang="en-US" sz="2800" b="1">
                <a:solidFill>
                  <a:schemeClr val="tx1"/>
                </a:solidFill>
                <a:latin typeface="Arial" panose="020B0604020202020204" pitchFamily="34" charset="0"/>
                <a:cs typeface="Arial" panose="020B0604020202020204" pitchFamily="34" charset="0"/>
              </a:rPr>
              <a:t>Deal Sign-Off Sheet</a:t>
            </a:r>
          </a:p>
        </p:txBody>
      </p:sp>
      <p:sp>
        <p:nvSpPr>
          <p:cNvPr id="21" name="TextBox 20">
            <a:extLst>
              <a:ext uri="{FF2B5EF4-FFF2-40B4-BE49-F238E27FC236}">
                <a16:creationId xmlns:a16="http://schemas.microsoft.com/office/drawing/2014/main" id="{56C0E914-C5D0-5857-6B4D-475A3C9F4EF6}"/>
              </a:ext>
            </a:extLst>
          </p:cNvPr>
          <p:cNvSpPr txBox="1"/>
          <p:nvPr userDrawn="1"/>
        </p:nvSpPr>
        <p:spPr>
          <a:xfrm>
            <a:off x="3767916" y="169777"/>
            <a:ext cx="262371" cy="400110"/>
          </a:xfrm>
          <a:prstGeom prst="rect">
            <a:avLst/>
          </a:prstGeom>
          <a:noFill/>
        </p:spPr>
        <p:txBody>
          <a:bodyPr wrap="square" rtlCol="0">
            <a:spAutoFit/>
          </a:bodyPr>
          <a:lstStyle/>
          <a:p>
            <a:pPr algn="l"/>
            <a:r>
              <a:rPr lang="en-US" sz="2000" b="0">
                <a:latin typeface="Arial" panose="020B0604020202020204" pitchFamily="34" charset="0"/>
                <a:cs typeface="Arial" panose="020B0604020202020204" pitchFamily="34" charset="0"/>
              </a:rPr>
              <a:t>|</a:t>
            </a:r>
            <a:endParaRPr lang="en-US" sz="2000" b="1">
              <a:solidFill>
                <a:schemeClr val="tx1"/>
              </a:solidFill>
              <a:latin typeface="Arial" panose="020B0604020202020204" pitchFamily="34" charset="0"/>
              <a:cs typeface="Arial" panose="020B0604020202020204" pitchFamily="34" charset="0"/>
            </a:endParaRPr>
          </a:p>
        </p:txBody>
      </p:sp>
      <p:sp>
        <p:nvSpPr>
          <p:cNvPr id="22" name="Text Placeholder 17">
            <a:extLst>
              <a:ext uri="{FF2B5EF4-FFF2-40B4-BE49-F238E27FC236}">
                <a16:creationId xmlns:a16="http://schemas.microsoft.com/office/drawing/2014/main" id="{6F28D579-FFBA-58E3-4801-FFC56C4CD9DF}"/>
              </a:ext>
            </a:extLst>
          </p:cNvPr>
          <p:cNvSpPr>
            <a:spLocks noGrp="1"/>
          </p:cNvSpPr>
          <p:nvPr>
            <p:ph type="body" sz="quarter" idx="14" hasCustomPrompt="1"/>
          </p:nvPr>
        </p:nvSpPr>
        <p:spPr>
          <a:xfrm>
            <a:off x="3915294" y="228719"/>
            <a:ext cx="8204662" cy="357794"/>
          </a:xfrm>
        </p:spPr>
        <p:txBody>
          <a:bodyPr/>
          <a:lstStyle>
            <a:lvl1pPr marL="0" indent="0">
              <a:buNone/>
              <a:defRPr sz="2000">
                <a:latin typeface="Arial" panose="020B0604020202020204" pitchFamily="34" charset="0"/>
                <a:cs typeface="Arial" panose="020B0604020202020204" pitchFamily="34" charset="0"/>
              </a:defRPr>
            </a:lvl1pPr>
            <a:lvl2pPr marL="457200" indent="0">
              <a:buNone/>
              <a:defRPr/>
            </a:lvl2pPr>
          </a:lstStyle>
          <a:p>
            <a:pPr lvl="0"/>
            <a:r>
              <a:rPr lang="en-US"/>
              <a:t>Deal Name</a:t>
            </a:r>
          </a:p>
        </p:txBody>
      </p:sp>
      <p:graphicFrame>
        <p:nvGraphicFramePr>
          <p:cNvPr id="28" name="Table 6">
            <a:extLst>
              <a:ext uri="{FF2B5EF4-FFF2-40B4-BE49-F238E27FC236}">
                <a16:creationId xmlns:a16="http://schemas.microsoft.com/office/drawing/2014/main" id="{B00B1F54-B069-E0A3-9225-2474CBE7ABEB}"/>
              </a:ext>
            </a:extLst>
          </p:cNvPr>
          <p:cNvGraphicFramePr>
            <a:graphicFrameLocks noGrp="1"/>
          </p:cNvGraphicFramePr>
          <p:nvPr userDrawn="1">
            <p:extLst>
              <p:ext uri="{D42A27DB-BD31-4B8C-83A1-F6EECF244321}">
                <p14:modId xmlns:p14="http://schemas.microsoft.com/office/powerpoint/2010/main" val="3000451228"/>
              </p:ext>
            </p:extLst>
          </p:nvPr>
        </p:nvGraphicFramePr>
        <p:xfrm>
          <a:off x="482599" y="1776869"/>
          <a:ext cx="11209391" cy="256032"/>
        </p:xfrm>
        <a:graphic>
          <a:graphicData uri="http://schemas.openxmlformats.org/drawingml/2006/table">
            <a:tbl>
              <a:tblPr firstRow="1" bandRow="1">
                <a:tableStyleId>{5C22544A-7EE6-4342-B048-85BDC9FD1C3A}</a:tableStyleId>
              </a:tblPr>
              <a:tblGrid>
                <a:gridCol w="11209391">
                  <a:extLst>
                    <a:ext uri="{9D8B030D-6E8A-4147-A177-3AD203B41FA5}">
                      <a16:colId xmlns:a16="http://schemas.microsoft.com/office/drawing/2014/main" val="2709411978"/>
                    </a:ext>
                  </a:extLst>
                </a:gridCol>
              </a:tblGrid>
              <a:tr h="184747">
                <a:tc>
                  <a:txBody>
                    <a:bodyPr/>
                    <a:lstStyle/>
                    <a:p>
                      <a:r>
                        <a:rPr lang="en-US" sz="1200">
                          <a:solidFill>
                            <a:sysClr val="windowText" lastClr="000000"/>
                          </a:solidFill>
                          <a:latin typeface="Arial" panose="020B0604020202020204" pitchFamily="34" charset="0"/>
                          <a:cs typeface="Arial" panose="020B0604020202020204" pitchFamily="34" charset="0"/>
                        </a:rPr>
                        <a:t>Project Acceptance Sign-Off</a:t>
                      </a:r>
                    </a:p>
                  </a:txBody>
                  <a:tcPr marL="45720" marB="27432"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03481481"/>
                  </a:ext>
                </a:extLst>
              </a:tr>
            </a:tbl>
          </a:graphicData>
        </a:graphic>
      </p:graphicFrame>
      <p:graphicFrame>
        <p:nvGraphicFramePr>
          <p:cNvPr id="29" name="Table 8">
            <a:extLst>
              <a:ext uri="{FF2B5EF4-FFF2-40B4-BE49-F238E27FC236}">
                <a16:creationId xmlns:a16="http://schemas.microsoft.com/office/drawing/2014/main" id="{BBD43960-9D9E-087D-AB2D-B056AF222222}"/>
              </a:ext>
            </a:extLst>
          </p:cNvPr>
          <p:cNvGraphicFramePr>
            <a:graphicFrameLocks noGrp="1"/>
          </p:cNvGraphicFramePr>
          <p:nvPr userDrawn="1">
            <p:extLst>
              <p:ext uri="{D42A27DB-BD31-4B8C-83A1-F6EECF244321}">
                <p14:modId xmlns:p14="http://schemas.microsoft.com/office/powerpoint/2010/main" val="958771540"/>
              </p:ext>
            </p:extLst>
          </p:nvPr>
        </p:nvGraphicFramePr>
        <p:xfrm>
          <a:off x="482599" y="2056712"/>
          <a:ext cx="8128000" cy="256032"/>
        </p:xfrm>
        <a:graphic>
          <a:graphicData uri="http://schemas.openxmlformats.org/drawingml/2006/table">
            <a:tbl>
              <a:tblPr firstRow="1" bandRow="1">
                <a:tableStyleId>{5C22544A-7EE6-4342-B048-85BDC9FD1C3A}</a:tableStyleId>
              </a:tblPr>
              <a:tblGrid>
                <a:gridCol w="974726">
                  <a:extLst>
                    <a:ext uri="{9D8B030D-6E8A-4147-A177-3AD203B41FA5}">
                      <a16:colId xmlns:a16="http://schemas.microsoft.com/office/drawing/2014/main" val="2129635177"/>
                    </a:ext>
                  </a:extLst>
                </a:gridCol>
                <a:gridCol w="7153274">
                  <a:extLst>
                    <a:ext uri="{9D8B030D-6E8A-4147-A177-3AD203B41FA5}">
                      <a16:colId xmlns:a16="http://schemas.microsoft.com/office/drawing/2014/main" val="1479668850"/>
                    </a:ext>
                  </a:extLst>
                </a:gridCol>
              </a:tblGrid>
              <a:tr h="256032">
                <a:tc>
                  <a:txBody>
                    <a:bodyPr/>
                    <a:lstStyle/>
                    <a:p>
                      <a:r>
                        <a:rPr lang="en-US" sz="1000" b="0">
                          <a:solidFill>
                            <a:srgbClr val="000000"/>
                          </a:solidFill>
                          <a:latin typeface="Arial" panose="020B0604020202020204" pitchFamily="34" charset="0"/>
                          <a:cs typeface="Arial" panose="020B0604020202020204" pitchFamily="34" charset="0"/>
                        </a:rPr>
                        <a:t>Project Name:</a:t>
                      </a:r>
                    </a:p>
                  </a:txBody>
                  <a:tcPr marL="45720" anchor="ctr">
                    <a:lnR w="12700" cap="flat" cmpd="sng" algn="ctr">
                      <a:noFill/>
                      <a:prstDash val="solid"/>
                      <a:round/>
                      <a:headEnd type="none" w="med" len="med"/>
                      <a:tailEnd type="none" w="med" len="med"/>
                    </a:lnR>
                    <a:noFill/>
                  </a:tcPr>
                </a:tc>
                <a:tc>
                  <a:txBody>
                    <a:bodyPr/>
                    <a:lstStyle/>
                    <a:p>
                      <a:endParaRPr lang="en-US" sz="1000" b="0">
                        <a:solidFill>
                          <a:srgbClr val="000000"/>
                        </a:solidFill>
                        <a:latin typeface="Arial" panose="020B0604020202020204" pitchFamily="34" charset="0"/>
                        <a:cs typeface="Arial" panose="020B0604020202020204" pitchFamily="34" charset="0"/>
                      </a:endParaRPr>
                    </a:p>
                  </a:txBody>
                  <a:tcPr anchor="ctr">
                    <a:lnL w="12700" cap="flat" cmpd="sng" algn="ctr">
                      <a:noFill/>
                      <a:prstDash val="solid"/>
                      <a:round/>
                      <a:headEnd type="none" w="med" len="med"/>
                      <a:tailEnd type="none" w="med" len="med"/>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2628137"/>
                  </a:ext>
                </a:extLst>
              </a:tr>
            </a:tbl>
          </a:graphicData>
        </a:graphic>
      </p:graphicFrame>
      <p:graphicFrame>
        <p:nvGraphicFramePr>
          <p:cNvPr id="30" name="Table 6">
            <a:extLst>
              <a:ext uri="{FF2B5EF4-FFF2-40B4-BE49-F238E27FC236}">
                <a16:creationId xmlns:a16="http://schemas.microsoft.com/office/drawing/2014/main" id="{6FDC6EDF-14D5-B606-CD79-46745488C602}"/>
              </a:ext>
            </a:extLst>
          </p:cNvPr>
          <p:cNvGraphicFramePr>
            <a:graphicFrameLocks noGrp="1"/>
          </p:cNvGraphicFramePr>
          <p:nvPr userDrawn="1">
            <p:extLst>
              <p:ext uri="{D42A27DB-BD31-4B8C-83A1-F6EECF244321}">
                <p14:modId xmlns:p14="http://schemas.microsoft.com/office/powerpoint/2010/main" val="2748756953"/>
              </p:ext>
            </p:extLst>
          </p:nvPr>
        </p:nvGraphicFramePr>
        <p:xfrm>
          <a:off x="491304" y="2471456"/>
          <a:ext cx="5303520" cy="225552"/>
        </p:xfrm>
        <a:graphic>
          <a:graphicData uri="http://schemas.openxmlformats.org/drawingml/2006/table">
            <a:tbl>
              <a:tblPr firstRow="1" bandRow="1">
                <a:tableStyleId>{5C22544A-7EE6-4342-B048-85BDC9FD1C3A}</a:tableStyleId>
              </a:tblPr>
              <a:tblGrid>
                <a:gridCol w="968188">
                  <a:extLst>
                    <a:ext uri="{9D8B030D-6E8A-4147-A177-3AD203B41FA5}">
                      <a16:colId xmlns:a16="http://schemas.microsoft.com/office/drawing/2014/main" val="2709411978"/>
                    </a:ext>
                  </a:extLst>
                </a:gridCol>
                <a:gridCol w="4335332">
                  <a:extLst>
                    <a:ext uri="{9D8B030D-6E8A-4147-A177-3AD203B41FA5}">
                      <a16:colId xmlns:a16="http://schemas.microsoft.com/office/drawing/2014/main" val="2861028828"/>
                    </a:ext>
                  </a:extLst>
                </a:gridCol>
              </a:tblGrid>
              <a:tr h="130584">
                <a:tc>
                  <a:txBody>
                    <a:bodyPr/>
                    <a:lstStyle/>
                    <a:p>
                      <a:r>
                        <a:rPr lang="en-US" sz="1000" b="0">
                          <a:solidFill>
                            <a:sysClr val="windowText" lastClr="000000"/>
                          </a:solidFill>
                          <a:latin typeface="Arial" panose="020B0604020202020204" pitchFamily="34" charset="0"/>
                          <a:cs typeface="Arial" panose="020B0604020202020204" pitchFamily="34" charset="0"/>
                        </a:rPr>
                        <a:t>Sign-Off #1</a:t>
                      </a:r>
                    </a:p>
                  </a:txBody>
                  <a:tcPr marL="45720" marB="27432" anchor="ctr">
                    <a:lnL w="1270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a:r>
                        <a:rPr lang="en-US" sz="1000" b="0">
                          <a:solidFill>
                            <a:sysClr val="windowText" lastClr="000000"/>
                          </a:solidFill>
                          <a:latin typeface="Arial" panose="020B0604020202020204" pitchFamily="34" charset="0"/>
                          <a:cs typeface="Arial" panose="020B0604020202020204" pitchFamily="34" charset="0"/>
                        </a:rPr>
                        <a:t> </a:t>
                      </a:r>
                      <a:r>
                        <a:rPr lang="en-US" sz="1000" b="1">
                          <a:solidFill>
                            <a:sysClr val="windowText" lastClr="000000"/>
                          </a:solidFill>
                          <a:latin typeface="Arial" panose="020B0604020202020204" pitchFamily="34" charset="0"/>
                          <a:cs typeface="Arial" panose="020B0604020202020204" pitchFamily="34" charset="0"/>
                        </a:rPr>
                        <a:t>Jordan Jayson</a:t>
                      </a:r>
                    </a:p>
                  </a:txBody>
                  <a:tcPr marL="45720" marB="27432" anchor="ct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03481481"/>
                  </a:ext>
                </a:extLst>
              </a:tr>
            </a:tbl>
          </a:graphicData>
        </a:graphic>
      </p:graphicFrame>
      <p:graphicFrame>
        <p:nvGraphicFramePr>
          <p:cNvPr id="31" name="Table 6">
            <a:extLst>
              <a:ext uri="{FF2B5EF4-FFF2-40B4-BE49-F238E27FC236}">
                <a16:creationId xmlns:a16="http://schemas.microsoft.com/office/drawing/2014/main" id="{7FE65E71-910B-6A1F-8800-BF518D70E194}"/>
              </a:ext>
            </a:extLst>
          </p:cNvPr>
          <p:cNvGraphicFramePr>
            <a:graphicFrameLocks noGrp="1"/>
          </p:cNvGraphicFramePr>
          <p:nvPr userDrawn="1">
            <p:extLst>
              <p:ext uri="{D42A27DB-BD31-4B8C-83A1-F6EECF244321}">
                <p14:modId xmlns:p14="http://schemas.microsoft.com/office/powerpoint/2010/main" val="1811113786"/>
              </p:ext>
            </p:extLst>
          </p:nvPr>
        </p:nvGraphicFramePr>
        <p:xfrm>
          <a:off x="6397175" y="2471456"/>
          <a:ext cx="5303520" cy="225552"/>
        </p:xfrm>
        <a:graphic>
          <a:graphicData uri="http://schemas.openxmlformats.org/drawingml/2006/table">
            <a:tbl>
              <a:tblPr firstRow="1" bandRow="1">
                <a:tableStyleId>{5C22544A-7EE6-4342-B048-85BDC9FD1C3A}</a:tableStyleId>
              </a:tblPr>
              <a:tblGrid>
                <a:gridCol w="968188">
                  <a:extLst>
                    <a:ext uri="{9D8B030D-6E8A-4147-A177-3AD203B41FA5}">
                      <a16:colId xmlns:a16="http://schemas.microsoft.com/office/drawing/2014/main" val="2709411978"/>
                    </a:ext>
                  </a:extLst>
                </a:gridCol>
                <a:gridCol w="4335332">
                  <a:extLst>
                    <a:ext uri="{9D8B030D-6E8A-4147-A177-3AD203B41FA5}">
                      <a16:colId xmlns:a16="http://schemas.microsoft.com/office/drawing/2014/main" val="2861028828"/>
                    </a:ext>
                  </a:extLst>
                </a:gridCol>
              </a:tblGrid>
              <a:tr h="130584">
                <a:tc>
                  <a:txBody>
                    <a:bodyPr/>
                    <a:lstStyle/>
                    <a:p>
                      <a:r>
                        <a:rPr lang="en-US" sz="1000" b="0">
                          <a:solidFill>
                            <a:sysClr val="windowText" lastClr="000000"/>
                          </a:solidFill>
                          <a:latin typeface="Arial" panose="020B0604020202020204" pitchFamily="34" charset="0"/>
                          <a:cs typeface="Arial" panose="020B0604020202020204" pitchFamily="34" charset="0"/>
                        </a:rPr>
                        <a:t>Sign-Off #4</a:t>
                      </a:r>
                    </a:p>
                  </a:txBody>
                  <a:tcPr marL="45720" marB="27432" anchor="ctr">
                    <a:lnL w="1270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r>
                        <a:rPr lang="en-US" sz="1000" b="0">
                          <a:solidFill>
                            <a:sysClr val="windowText" lastClr="000000"/>
                          </a:solidFill>
                          <a:latin typeface="Arial" panose="020B0604020202020204" pitchFamily="34" charset="0"/>
                          <a:cs typeface="Arial" panose="020B0604020202020204" pitchFamily="34" charset="0"/>
                        </a:rPr>
                        <a:t> </a:t>
                      </a:r>
                      <a:r>
                        <a:rPr lang="en-US" sz="1000" b="1">
                          <a:solidFill>
                            <a:sysClr val="windowText" lastClr="000000"/>
                          </a:solidFill>
                          <a:latin typeface="Arial" panose="020B0604020202020204" pitchFamily="34" charset="0"/>
                          <a:cs typeface="Arial" panose="020B0604020202020204" pitchFamily="34" charset="0"/>
                        </a:rPr>
                        <a:t>Todd Witmer</a:t>
                      </a:r>
                    </a:p>
                  </a:txBody>
                  <a:tcPr marL="45720" marB="27432" anchor="ct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03481481"/>
                  </a:ext>
                </a:extLst>
              </a:tr>
            </a:tbl>
          </a:graphicData>
        </a:graphic>
      </p:graphicFrame>
      <p:graphicFrame>
        <p:nvGraphicFramePr>
          <p:cNvPr id="32" name="Table 11">
            <a:extLst>
              <a:ext uri="{FF2B5EF4-FFF2-40B4-BE49-F238E27FC236}">
                <a16:creationId xmlns:a16="http://schemas.microsoft.com/office/drawing/2014/main" id="{64AB193C-169E-CD6C-A38A-BE27C9FA4973}"/>
              </a:ext>
            </a:extLst>
          </p:cNvPr>
          <p:cNvGraphicFramePr>
            <a:graphicFrameLocks noGrp="1"/>
          </p:cNvGraphicFramePr>
          <p:nvPr userDrawn="1">
            <p:extLst>
              <p:ext uri="{D42A27DB-BD31-4B8C-83A1-F6EECF244321}">
                <p14:modId xmlns:p14="http://schemas.microsoft.com/office/powerpoint/2010/main" val="897205032"/>
              </p:ext>
            </p:extLst>
          </p:nvPr>
        </p:nvGraphicFramePr>
        <p:xfrm>
          <a:off x="491305" y="2730329"/>
          <a:ext cx="5303523" cy="542562"/>
        </p:xfrm>
        <a:graphic>
          <a:graphicData uri="http://schemas.openxmlformats.org/drawingml/2006/table">
            <a:tbl>
              <a:tblPr firstRow="1" bandRow="1">
                <a:tableStyleId>{5C22544A-7EE6-4342-B048-85BDC9FD1C3A}</a:tableStyleId>
              </a:tblPr>
              <a:tblGrid>
                <a:gridCol w="966020">
                  <a:extLst>
                    <a:ext uri="{9D8B030D-6E8A-4147-A177-3AD203B41FA5}">
                      <a16:colId xmlns:a16="http://schemas.microsoft.com/office/drawing/2014/main" val="3279156469"/>
                    </a:ext>
                  </a:extLst>
                </a:gridCol>
                <a:gridCol w="2849245">
                  <a:extLst>
                    <a:ext uri="{9D8B030D-6E8A-4147-A177-3AD203B41FA5}">
                      <a16:colId xmlns:a16="http://schemas.microsoft.com/office/drawing/2014/main" val="107418329"/>
                    </a:ext>
                  </a:extLst>
                </a:gridCol>
                <a:gridCol w="208280">
                  <a:extLst>
                    <a:ext uri="{9D8B030D-6E8A-4147-A177-3AD203B41FA5}">
                      <a16:colId xmlns:a16="http://schemas.microsoft.com/office/drawing/2014/main" val="4112279656"/>
                    </a:ext>
                  </a:extLst>
                </a:gridCol>
                <a:gridCol w="1279978">
                  <a:extLst>
                    <a:ext uri="{9D8B030D-6E8A-4147-A177-3AD203B41FA5}">
                      <a16:colId xmlns:a16="http://schemas.microsoft.com/office/drawing/2014/main" val="1524678321"/>
                    </a:ext>
                  </a:extLst>
                </a:gridCol>
              </a:tblGrid>
              <a:tr h="271281">
                <a:tc>
                  <a:txBody>
                    <a:bodyPr/>
                    <a:lstStyle/>
                    <a:p>
                      <a:endParaRPr lang="en-US" sz="1000">
                        <a:solidFill>
                          <a:srgbClr val="000000"/>
                        </a:solidFill>
                        <a:latin typeface="Arial" panose="020B0604020202020204" pitchFamily="34" charset="0"/>
                        <a:cs typeface="Arial" panose="020B0604020202020204" pitchFamily="34" charset="0"/>
                      </a:endParaRPr>
                    </a:p>
                  </a:txBody>
                  <a:tcPr>
                    <a:noFill/>
                  </a:tcPr>
                </a:tc>
                <a:tc>
                  <a:txBody>
                    <a:bodyPr/>
                    <a:lstStyle/>
                    <a:p>
                      <a:r>
                        <a:rPr lang="en-US" sz="1000" b="0" i="1">
                          <a:solidFill>
                            <a:srgbClr val="000000"/>
                          </a:solidFill>
                          <a:latin typeface="Arial" panose="020B0604020202020204" pitchFamily="34" charset="0"/>
                          <a:cs typeface="Arial" panose="020B0604020202020204" pitchFamily="34" charset="0"/>
                        </a:rPr>
                        <a:t>Signature</a:t>
                      </a:r>
                    </a:p>
                  </a:txBody>
                  <a:tcPr>
                    <a:noFill/>
                  </a:tcPr>
                </a:tc>
                <a:tc>
                  <a:txBody>
                    <a:bodyPr/>
                    <a:lstStyle/>
                    <a:p>
                      <a:endParaRPr lang="en-US" sz="1000">
                        <a:solidFill>
                          <a:srgbClr val="000000"/>
                        </a:solidFill>
                        <a:latin typeface="Arial" panose="020B0604020202020204" pitchFamily="34" charset="0"/>
                        <a:cs typeface="Arial" panose="020B0604020202020204" pitchFamily="34" charset="0"/>
                      </a:endParaRPr>
                    </a:p>
                  </a:txBody>
                  <a:tcPr>
                    <a:noFill/>
                  </a:tcPr>
                </a:tc>
                <a:tc>
                  <a:txBody>
                    <a:bodyPr/>
                    <a:lstStyle/>
                    <a:p>
                      <a:r>
                        <a:rPr lang="en-US" sz="1000" b="0" i="1">
                          <a:solidFill>
                            <a:srgbClr val="000000"/>
                          </a:solidFill>
                          <a:latin typeface="Arial" panose="020B0604020202020204" pitchFamily="34" charset="0"/>
                          <a:cs typeface="Arial" panose="020B0604020202020204" pitchFamily="34" charset="0"/>
                        </a:rPr>
                        <a:t>Date</a:t>
                      </a:r>
                    </a:p>
                  </a:txBody>
                  <a:tcPr>
                    <a:noFill/>
                  </a:tcPr>
                </a:tc>
                <a:extLst>
                  <a:ext uri="{0D108BD9-81ED-4DB2-BD59-A6C34878D82A}">
                    <a16:rowId xmlns:a16="http://schemas.microsoft.com/office/drawing/2014/main" val="790640291"/>
                  </a:ext>
                </a:extLst>
              </a:tr>
              <a:tr h="271281">
                <a:tc>
                  <a:txBody>
                    <a:bodyPr/>
                    <a:lstStyle/>
                    <a:p>
                      <a:endParaRPr lang="en-US" sz="1000">
                        <a:latin typeface="Arial" panose="020B0604020202020204" pitchFamily="34" charset="0"/>
                        <a:cs typeface="Arial" panose="020B0604020202020204" pitchFamily="34" charset="0"/>
                      </a:endParaRPr>
                    </a:p>
                  </a:txBody>
                  <a:tcPr>
                    <a:noFill/>
                  </a:tcPr>
                </a:tc>
                <a:tc>
                  <a:txBody>
                    <a:bodyPr/>
                    <a:lstStyle/>
                    <a:p>
                      <a:endParaRPr lang="en-US" sz="1000">
                        <a:latin typeface="Arial" panose="020B0604020202020204" pitchFamily="34" charset="0"/>
                        <a:cs typeface="Arial" panose="020B0604020202020204" pitchFamily="34" charset="0"/>
                      </a:endParaRPr>
                    </a:p>
                  </a:txBody>
                  <a:tcPr>
                    <a:lnB w="6350" cap="flat" cmpd="sng" algn="ctr">
                      <a:solidFill>
                        <a:srgbClr val="000000"/>
                      </a:solidFill>
                      <a:prstDash val="solid"/>
                      <a:round/>
                      <a:headEnd type="none" w="med" len="med"/>
                      <a:tailEnd type="none" w="med" len="med"/>
                    </a:lnB>
                    <a:noFill/>
                  </a:tcPr>
                </a:tc>
                <a:tc>
                  <a:txBody>
                    <a:bodyPr/>
                    <a:lstStyle/>
                    <a:p>
                      <a:endParaRPr lang="en-US" sz="1000">
                        <a:latin typeface="Arial" panose="020B0604020202020204" pitchFamily="34" charset="0"/>
                        <a:cs typeface="Arial" panose="020B0604020202020204" pitchFamily="34" charset="0"/>
                      </a:endParaRPr>
                    </a:p>
                  </a:txBody>
                  <a:tcPr>
                    <a:noFill/>
                  </a:tcPr>
                </a:tc>
                <a:tc>
                  <a:txBody>
                    <a:bodyPr/>
                    <a:lstStyle/>
                    <a:p>
                      <a:endParaRPr lang="en-US" sz="1000">
                        <a:latin typeface="Arial" panose="020B0604020202020204" pitchFamily="34" charset="0"/>
                        <a:cs typeface="Arial" panose="020B0604020202020204" pitchFamily="34" charset="0"/>
                      </a:endParaRPr>
                    </a:p>
                  </a:txBody>
                  <a:tcPr>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0108497"/>
                  </a:ext>
                </a:extLst>
              </a:tr>
            </a:tbl>
          </a:graphicData>
        </a:graphic>
      </p:graphicFrame>
      <p:graphicFrame>
        <p:nvGraphicFramePr>
          <p:cNvPr id="33" name="Table 11">
            <a:extLst>
              <a:ext uri="{FF2B5EF4-FFF2-40B4-BE49-F238E27FC236}">
                <a16:creationId xmlns:a16="http://schemas.microsoft.com/office/drawing/2014/main" id="{CA59A06F-412D-4236-0A78-04BC7BFC682A}"/>
              </a:ext>
            </a:extLst>
          </p:cNvPr>
          <p:cNvGraphicFramePr>
            <a:graphicFrameLocks noGrp="1"/>
          </p:cNvGraphicFramePr>
          <p:nvPr userDrawn="1">
            <p:extLst>
              <p:ext uri="{D42A27DB-BD31-4B8C-83A1-F6EECF244321}">
                <p14:modId xmlns:p14="http://schemas.microsoft.com/office/powerpoint/2010/main" val="2731440207"/>
              </p:ext>
            </p:extLst>
          </p:nvPr>
        </p:nvGraphicFramePr>
        <p:xfrm>
          <a:off x="6397172" y="2740259"/>
          <a:ext cx="5303523" cy="539496"/>
        </p:xfrm>
        <a:graphic>
          <a:graphicData uri="http://schemas.openxmlformats.org/drawingml/2006/table">
            <a:tbl>
              <a:tblPr firstRow="1" bandRow="1">
                <a:tableStyleId>{5C22544A-7EE6-4342-B048-85BDC9FD1C3A}</a:tableStyleId>
              </a:tblPr>
              <a:tblGrid>
                <a:gridCol w="966020">
                  <a:extLst>
                    <a:ext uri="{9D8B030D-6E8A-4147-A177-3AD203B41FA5}">
                      <a16:colId xmlns:a16="http://schemas.microsoft.com/office/drawing/2014/main" val="3279156469"/>
                    </a:ext>
                  </a:extLst>
                </a:gridCol>
                <a:gridCol w="2849245">
                  <a:extLst>
                    <a:ext uri="{9D8B030D-6E8A-4147-A177-3AD203B41FA5}">
                      <a16:colId xmlns:a16="http://schemas.microsoft.com/office/drawing/2014/main" val="107418329"/>
                    </a:ext>
                  </a:extLst>
                </a:gridCol>
                <a:gridCol w="208280">
                  <a:extLst>
                    <a:ext uri="{9D8B030D-6E8A-4147-A177-3AD203B41FA5}">
                      <a16:colId xmlns:a16="http://schemas.microsoft.com/office/drawing/2014/main" val="4112279656"/>
                    </a:ext>
                  </a:extLst>
                </a:gridCol>
                <a:gridCol w="1279978">
                  <a:extLst>
                    <a:ext uri="{9D8B030D-6E8A-4147-A177-3AD203B41FA5}">
                      <a16:colId xmlns:a16="http://schemas.microsoft.com/office/drawing/2014/main" val="1524678321"/>
                    </a:ext>
                  </a:extLst>
                </a:gridCol>
              </a:tblGrid>
              <a:tr h="269748">
                <a:tc>
                  <a:txBody>
                    <a:bodyPr/>
                    <a:lstStyle/>
                    <a:p>
                      <a:endParaRPr lang="en-US" sz="1000">
                        <a:solidFill>
                          <a:srgbClr val="000000"/>
                        </a:solidFill>
                        <a:latin typeface="Arial" panose="020B0604020202020204" pitchFamily="34" charset="0"/>
                        <a:cs typeface="Arial" panose="020B0604020202020204" pitchFamily="34" charset="0"/>
                      </a:endParaRPr>
                    </a:p>
                  </a:txBody>
                  <a:tcPr>
                    <a:noFill/>
                  </a:tcPr>
                </a:tc>
                <a:tc>
                  <a:txBody>
                    <a:bodyPr/>
                    <a:lstStyle/>
                    <a:p>
                      <a:r>
                        <a:rPr lang="en-US" sz="1000" b="0" i="1">
                          <a:solidFill>
                            <a:srgbClr val="000000"/>
                          </a:solidFill>
                          <a:latin typeface="Arial" panose="020B0604020202020204" pitchFamily="34" charset="0"/>
                          <a:cs typeface="Arial" panose="020B0604020202020204" pitchFamily="34" charset="0"/>
                        </a:rPr>
                        <a:t>Signature</a:t>
                      </a:r>
                    </a:p>
                  </a:txBody>
                  <a:tcPr>
                    <a:noFill/>
                  </a:tcPr>
                </a:tc>
                <a:tc>
                  <a:txBody>
                    <a:bodyPr/>
                    <a:lstStyle/>
                    <a:p>
                      <a:endParaRPr lang="en-US" sz="1000">
                        <a:solidFill>
                          <a:srgbClr val="000000"/>
                        </a:solidFill>
                        <a:latin typeface="Arial" panose="020B0604020202020204" pitchFamily="34" charset="0"/>
                        <a:cs typeface="Arial" panose="020B0604020202020204" pitchFamily="34" charset="0"/>
                      </a:endParaRPr>
                    </a:p>
                  </a:txBody>
                  <a:tcPr>
                    <a:noFill/>
                  </a:tcPr>
                </a:tc>
                <a:tc>
                  <a:txBody>
                    <a:bodyPr/>
                    <a:lstStyle/>
                    <a:p>
                      <a:r>
                        <a:rPr lang="en-US" sz="1000" b="0" i="1">
                          <a:solidFill>
                            <a:srgbClr val="000000"/>
                          </a:solidFill>
                          <a:latin typeface="Arial" panose="020B0604020202020204" pitchFamily="34" charset="0"/>
                          <a:cs typeface="Arial" panose="020B0604020202020204" pitchFamily="34" charset="0"/>
                        </a:rPr>
                        <a:t>Date</a:t>
                      </a:r>
                    </a:p>
                  </a:txBody>
                  <a:tcPr>
                    <a:noFill/>
                  </a:tcPr>
                </a:tc>
                <a:extLst>
                  <a:ext uri="{0D108BD9-81ED-4DB2-BD59-A6C34878D82A}">
                    <a16:rowId xmlns:a16="http://schemas.microsoft.com/office/drawing/2014/main" val="790640291"/>
                  </a:ext>
                </a:extLst>
              </a:tr>
              <a:tr h="269748">
                <a:tc>
                  <a:txBody>
                    <a:bodyPr/>
                    <a:lstStyle/>
                    <a:p>
                      <a:endParaRPr lang="en-US" sz="1000">
                        <a:latin typeface="Arial" panose="020B0604020202020204" pitchFamily="34" charset="0"/>
                        <a:cs typeface="Arial" panose="020B0604020202020204" pitchFamily="34" charset="0"/>
                      </a:endParaRPr>
                    </a:p>
                  </a:txBody>
                  <a:tcPr>
                    <a:noFill/>
                  </a:tcPr>
                </a:tc>
                <a:tc>
                  <a:txBody>
                    <a:bodyPr/>
                    <a:lstStyle/>
                    <a:p>
                      <a:endParaRPr lang="en-US" sz="1000">
                        <a:latin typeface="Arial" panose="020B0604020202020204" pitchFamily="34" charset="0"/>
                        <a:cs typeface="Arial" panose="020B0604020202020204" pitchFamily="34" charset="0"/>
                      </a:endParaRPr>
                    </a:p>
                  </a:txBody>
                  <a:tcPr>
                    <a:lnB w="6350" cap="flat" cmpd="sng" algn="ctr">
                      <a:solidFill>
                        <a:srgbClr val="000000"/>
                      </a:solidFill>
                      <a:prstDash val="solid"/>
                      <a:round/>
                      <a:headEnd type="none" w="med" len="med"/>
                      <a:tailEnd type="none" w="med" len="med"/>
                    </a:lnB>
                    <a:noFill/>
                  </a:tcPr>
                </a:tc>
                <a:tc>
                  <a:txBody>
                    <a:bodyPr/>
                    <a:lstStyle/>
                    <a:p>
                      <a:endParaRPr lang="en-US" sz="1000">
                        <a:latin typeface="Arial" panose="020B0604020202020204" pitchFamily="34" charset="0"/>
                        <a:cs typeface="Arial" panose="020B0604020202020204" pitchFamily="34" charset="0"/>
                      </a:endParaRPr>
                    </a:p>
                  </a:txBody>
                  <a:tcPr>
                    <a:noFill/>
                  </a:tcPr>
                </a:tc>
                <a:tc>
                  <a:txBody>
                    <a:bodyPr/>
                    <a:lstStyle/>
                    <a:p>
                      <a:endParaRPr lang="en-US" sz="1000">
                        <a:latin typeface="Arial" panose="020B0604020202020204" pitchFamily="34" charset="0"/>
                        <a:cs typeface="Arial" panose="020B0604020202020204" pitchFamily="34" charset="0"/>
                      </a:endParaRPr>
                    </a:p>
                  </a:txBody>
                  <a:tcPr>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0108497"/>
                  </a:ext>
                </a:extLst>
              </a:tr>
            </a:tbl>
          </a:graphicData>
        </a:graphic>
      </p:graphicFrame>
      <p:graphicFrame>
        <p:nvGraphicFramePr>
          <p:cNvPr id="34" name="Table 6">
            <a:extLst>
              <a:ext uri="{FF2B5EF4-FFF2-40B4-BE49-F238E27FC236}">
                <a16:creationId xmlns:a16="http://schemas.microsoft.com/office/drawing/2014/main" id="{144F2C3B-69D7-FF7B-B28F-30867A95376C}"/>
              </a:ext>
            </a:extLst>
          </p:cNvPr>
          <p:cNvGraphicFramePr>
            <a:graphicFrameLocks noGrp="1"/>
          </p:cNvGraphicFramePr>
          <p:nvPr userDrawn="1">
            <p:extLst>
              <p:ext uri="{D42A27DB-BD31-4B8C-83A1-F6EECF244321}">
                <p14:modId xmlns:p14="http://schemas.microsoft.com/office/powerpoint/2010/main" val="1885211824"/>
              </p:ext>
            </p:extLst>
          </p:nvPr>
        </p:nvGraphicFramePr>
        <p:xfrm>
          <a:off x="491304" y="3409375"/>
          <a:ext cx="5303520" cy="225552"/>
        </p:xfrm>
        <a:graphic>
          <a:graphicData uri="http://schemas.openxmlformats.org/drawingml/2006/table">
            <a:tbl>
              <a:tblPr firstRow="1" bandRow="1">
                <a:tableStyleId>{5C22544A-7EE6-4342-B048-85BDC9FD1C3A}</a:tableStyleId>
              </a:tblPr>
              <a:tblGrid>
                <a:gridCol w="968188">
                  <a:extLst>
                    <a:ext uri="{9D8B030D-6E8A-4147-A177-3AD203B41FA5}">
                      <a16:colId xmlns:a16="http://schemas.microsoft.com/office/drawing/2014/main" val="2709411978"/>
                    </a:ext>
                  </a:extLst>
                </a:gridCol>
                <a:gridCol w="4335332">
                  <a:extLst>
                    <a:ext uri="{9D8B030D-6E8A-4147-A177-3AD203B41FA5}">
                      <a16:colId xmlns:a16="http://schemas.microsoft.com/office/drawing/2014/main" val="2861028828"/>
                    </a:ext>
                  </a:extLst>
                </a:gridCol>
              </a:tblGrid>
              <a:tr h="130584">
                <a:tc>
                  <a:txBody>
                    <a:bodyPr/>
                    <a:lstStyle/>
                    <a:p>
                      <a:r>
                        <a:rPr lang="en-US" sz="1000" b="0">
                          <a:solidFill>
                            <a:sysClr val="windowText" lastClr="000000"/>
                          </a:solidFill>
                          <a:latin typeface="Arial" panose="020B0604020202020204" pitchFamily="34" charset="0"/>
                          <a:cs typeface="Arial" panose="020B0604020202020204" pitchFamily="34" charset="0"/>
                        </a:rPr>
                        <a:t>Sign-Off #2</a:t>
                      </a:r>
                    </a:p>
                  </a:txBody>
                  <a:tcPr marL="45720" marB="27432" anchor="ctr">
                    <a:lnL w="1270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a:r>
                        <a:rPr lang="en-US" sz="1000" b="1">
                          <a:solidFill>
                            <a:sysClr val="windowText" lastClr="000000"/>
                          </a:solidFill>
                          <a:latin typeface="Arial" panose="020B0604020202020204" pitchFamily="34" charset="0"/>
                          <a:cs typeface="Arial" panose="020B0604020202020204" pitchFamily="34" charset="0"/>
                        </a:rPr>
                        <a:t>Brandon Standifird</a:t>
                      </a:r>
                    </a:p>
                  </a:txBody>
                  <a:tcPr marL="45720" marB="27432" anchor="ct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03481481"/>
                  </a:ext>
                </a:extLst>
              </a:tr>
            </a:tbl>
          </a:graphicData>
        </a:graphic>
      </p:graphicFrame>
      <p:graphicFrame>
        <p:nvGraphicFramePr>
          <p:cNvPr id="35" name="Table 11">
            <a:extLst>
              <a:ext uri="{FF2B5EF4-FFF2-40B4-BE49-F238E27FC236}">
                <a16:creationId xmlns:a16="http://schemas.microsoft.com/office/drawing/2014/main" id="{2CA37642-802F-BD06-6269-58F52A3BBF9B}"/>
              </a:ext>
            </a:extLst>
          </p:cNvPr>
          <p:cNvGraphicFramePr>
            <a:graphicFrameLocks noGrp="1"/>
          </p:cNvGraphicFramePr>
          <p:nvPr userDrawn="1">
            <p:extLst>
              <p:ext uri="{D42A27DB-BD31-4B8C-83A1-F6EECF244321}">
                <p14:modId xmlns:p14="http://schemas.microsoft.com/office/powerpoint/2010/main" val="207017026"/>
              </p:ext>
            </p:extLst>
          </p:nvPr>
        </p:nvGraphicFramePr>
        <p:xfrm>
          <a:off x="491305" y="3668248"/>
          <a:ext cx="5303523" cy="542562"/>
        </p:xfrm>
        <a:graphic>
          <a:graphicData uri="http://schemas.openxmlformats.org/drawingml/2006/table">
            <a:tbl>
              <a:tblPr firstRow="1" bandRow="1">
                <a:tableStyleId>{5C22544A-7EE6-4342-B048-85BDC9FD1C3A}</a:tableStyleId>
              </a:tblPr>
              <a:tblGrid>
                <a:gridCol w="966020">
                  <a:extLst>
                    <a:ext uri="{9D8B030D-6E8A-4147-A177-3AD203B41FA5}">
                      <a16:colId xmlns:a16="http://schemas.microsoft.com/office/drawing/2014/main" val="3279156469"/>
                    </a:ext>
                  </a:extLst>
                </a:gridCol>
                <a:gridCol w="2849245">
                  <a:extLst>
                    <a:ext uri="{9D8B030D-6E8A-4147-A177-3AD203B41FA5}">
                      <a16:colId xmlns:a16="http://schemas.microsoft.com/office/drawing/2014/main" val="107418329"/>
                    </a:ext>
                  </a:extLst>
                </a:gridCol>
                <a:gridCol w="208280">
                  <a:extLst>
                    <a:ext uri="{9D8B030D-6E8A-4147-A177-3AD203B41FA5}">
                      <a16:colId xmlns:a16="http://schemas.microsoft.com/office/drawing/2014/main" val="4112279656"/>
                    </a:ext>
                  </a:extLst>
                </a:gridCol>
                <a:gridCol w="1279978">
                  <a:extLst>
                    <a:ext uri="{9D8B030D-6E8A-4147-A177-3AD203B41FA5}">
                      <a16:colId xmlns:a16="http://schemas.microsoft.com/office/drawing/2014/main" val="1524678321"/>
                    </a:ext>
                  </a:extLst>
                </a:gridCol>
              </a:tblGrid>
              <a:tr h="271281">
                <a:tc>
                  <a:txBody>
                    <a:bodyPr/>
                    <a:lstStyle/>
                    <a:p>
                      <a:endParaRPr lang="en-US" sz="1000">
                        <a:solidFill>
                          <a:srgbClr val="000000"/>
                        </a:solidFill>
                        <a:latin typeface="Arial" panose="020B0604020202020204" pitchFamily="34" charset="0"/>
                        <a:cs typeface="Arial" panose="020B0604020202020204" pitchFamily="34" charset="0"/>
                      </a:endParaRPr>
                    </a:p>
                  </a:txBody>
                  <a:tcPr>
                    <a:noFill/>
                  </a:tcPr>
                </a:tc>
                <a:tc>
                  <a:txBody>
                    <a:bodyPr/>
                    <a:lstStyle/>
                    <a:p>
                      <a:r>
                        <a:rPr lang="en-US" sz="1000" b="0" i="1">
                          <a:solidFill>
                            <a:srgbClr val="000000"/>
                          </a:solidFill>
                          <a:latin typeface="Arial" panose="020B0604020202020204" pitchFamily="34" charset="0"/>
                          <a:cs typeface="Arial" panose="020B0604020202020204" pitchFamily="34" charset="0"/>
                        </a:rPr>
                        <a:t>Signature</a:t>
                      </a:r>
                    </a:p>
                  </a:txBody>
                  <a:tcPr>
                    <a:noFill/>
                  </a:tcPr>
                </a:tc>
                <a:tc>
                  <a:txBody>
                    <a:bodyPr/>
                    <a:lstStyle/>
                    <a:p>
                      <a:endParaRPr lang="en-US" sz="1000">
                        <a:solidFill>
                          <a:srgbClr val="000000"/>
                        </a:solidFill>
                        <a:latin typeface="Arial" panose="020B0604020202020204" pitchFamily="34" charset="0"/>
                        <a:cs typeface="Arial" panose="020B0604020202020204" pitchFamily="34" charset="0"/>
                      </a:endParaRPr>
                    </a:p>
                  </a:txBody>
                  <a:tcPr>
                    <a:noFill/>
                  </a:tcPr>
                </a:tc>
                <a:tc>
                  <a:txBody>
                    <a:bodyPr/>
                    <a:lstStyle/>
                    <a:p>
                      <a:r>
                        <a:rPr lang="en-US" sz="1000" b="0" i="1">
                          <a:solidFill>
                            <a:srgbClr val="000000"/>
                          </a:solidFill>
                          <a:latin typeface="Arial" panose="020B0604020202020204" pitchFamily="34" charset="0"/>
                          <a:cs typeface="Arial" panose="020B0604020202020204" pitchFamily="34" charset="0"/>
                        </a:rPr>
                        <a:t>Date</a:t>
                      </a:r>
                    </a:p>
                  </a:txBody>
                  <a:tcPr>
                    <a:noFill/>
                  </a:tcPr>
                </a:tc>
                <a:extLst>
                  <a:ext uri="{0D108BD9-81ED-4DB2-BD59-A6C34878D82A}">
                    <a16:rowId xmlns:a16="http://schemas.microsoft.com/office/drawing/2014/main" val="790640291"/>
                  </a:ext>
                </a:extLst>
              </a:tr>
              <a:tr h="271281">
                <a:tc>
                  <a:txBody>
                    <a:bodyPr/>
                    <a:lstStyle/>
                    <a:p>
                      <a:endParaRPr lang="en-US" sz="1000">
                        <a:latin typeface="Arial" panose="020B0604020202020204" pitchFamily="34" charset="0"/>
                        <a:cs typeface="Arial" panose="020B0604020202020204" pitchFamily="34" charset="0"/>
                      </a:endParaRPr>
                    </a:p>
                  </a:txBody>
                  <a:tcPr>
                    <a:noFill/>
                  </a:tcPr>
                </a:tc>
                <a:tc>
                  <a:txBody>
                    <a:bodyPr/>
                    <a:lstStyle/>
                    <a:p>
                      <a:endParaRPr lang="en-US" sz="1000">
                        <a:latin typeface="Arial" panose="020B0604020202020204" pitchFamily="34" charset="0"/>
                        <a:cs typeface="Arial" panose="020B0604020202020204" pitchFamily="34" charset="0"/>
                      </a:endParaRPr>
                    </a:p>
                  </a:txBody>
                  <a:tcPr>
                    <a:lnB w="6350" cap="flat" cmpd="sng" algn="ctr">
                      <a:solidFill>
                        <a:srgbClr val="000000"/>
                      </a:solidFill>
                      <a:prstDash val="solid"/>
                      <a:round/>
                      <a:headEnd type="none" w="med" len="med"/>
                      <a:tailEnd type="none" w="med" len="med"/>
                    </a:lnB>
                    <a:noFill/>
                  </a:tcPr>
                </a:tc>
                <a:tc>
                  <a:txBody>
                    <a:bodyPr/>
                    <a:lstStyle/>
                    <a:p>
                      <a:endParaRPr lang="en-US" sz="1000">
                        <a:latin typeface="Arial" panose="020B0604020202020204" pitchFamily="34" charset="0"/>
                        <a:cs typeface="Arial" panose="020B0604020202020204" pitchFamily="34" charset="0"/>
                      </a:endParaRPr>
                    </a:p>
                  </a:txBody>
                  <a:tcPr>
                    <a:noFill/>
                  </a:tcPr>
                </a:tc>
                <a:tc>
                  <a:txBody>
                    <a:bodyPr/>
                    <a:lstStyle/>
                    <a:p>
                      <a:endParaRPr lang="en-US" sz="1000">
                        <a:latin typeface="Arial" panose="020B0604020202020204" pitchFamily="34" charset="0"/>
                        <a:cs typeface="Arial" panose="020B0604020202020204" pitchFamily="34" charset="0"/>
                      </a:endParaRPr>
                    </a:p>
                  </a:txBody>
                  <a:tcPr>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0108497"/>
                  </a:ext>
                </a:extLst>
              </a:tr>
            </a:tbl>
          </a:graphicData>
        </a:graphic>
      </p:graphicFrame>
      <p:graphicFrame>
        <p:nvGraphicFramePr>
          <p:cNvPr id="36" name="Table 6">
            <a:extLst>
              <a:ext uri="{FF2B5EF4-FFF2-40B4-BE49-F238E27FC236}">
                <a16:creationId xmlns:a16="http://schemas.microsoft.com/office/drawing/2014/main" id="{9C7B3213-DA9C-01CB-05D4-7EC675393D82}"/>
              </a:ext>
            </a:extLst>
          </p:cNvPr>
          <p:cNvGraphicFramePr>
            <a:graphicFrameLocks noGrp="1"/>
          </p:cNvGraphicFramePr>
          <p:nvPr userDrawn="1">
            <p:extLst>
              <p:ext uri="{D42A27DB-BD31-4B8C-83A1-F6EECF244321}">
                <p14:modId xmlns:p14="http://schemas.microsoft.com/office/powerpoint/2010/main" val="1611322414"/>
              </p:ext>
            </p:extLst>
          </p:nvPr>
        </p:nvGraphicFramePr>
        <p:xfrm>
          <a:off x="6388470" y="3409375"/>
          <a:ext cx="5303520" cy="225552"/>
        </p:xfrm>
        <a:graphic>
          <a:graphicData uri="http://schemas.openxmlformats.org/drawingml/2006/table">
            <a:tbl>
              <a:tblPr firstRow="1" bandRow="1">
                <a:tableStyleId>{5C22544A-7EE6-4342-B048-85BDC9FD1C3A}</a:tableStyleId>
              </a:tblPr>
              <a:tblGrid>
                <a:gridCol w="968188">
                  <a:extLst>
                    <a:ext uri="{9D8B030D-6E8A-4147-A177-3AD203B41FA5}">
                      <a16:colId xmlns:a16="http://schemas.microsoft.com/office/drawing/2014/main" val="2709411978"/>
                    </a:ext>
                  </a:extLst>
                </a:gridCol>
                <a:gridCol w="4335332">
                  <a:extLst>
                    <a:ext uri="{9D8B030D-6E8A-4147-A177-3AD203B41FA5}">
                      <a16:colId xmlns:a16="http://schemas.microsoft.com/office/drawing/2014/main" val="2861028828"/>
                    </a:ext>
                  </a:extLst>
                </a:gridCol>
              </a:tblGrid>
              <a:tr h="130584">
                <a:tc>
                  <a:txBody>
                    <a:bodyPr/>
                    <a:lstStyle/>
                    <a:p>
                      <a:r>
                        <a:rPr lang="en-US" sz="1000" b="0">
                          <a:solidFill>
                            <a:sysClr val="windowText" lastClr="000000"/>
                          </a:solidFill>
                          <a:latin typeface="Arial" panose="020B0604020202020204" pitchFamily="34" charset="0"/>
                          <a:cs typeface="Arial" panose="020B0604020202020204" pitchFamily="34" charset="0"/>
                        </a:rPr>
                        <a:t>Sign-Off #5</a:t>
                      </a:r>
                    </a:p>
                  </a:txBody>
                  <a:tcPr marL="45720" marB="27432" anchor="ctr">
                    <a:lnL w="1270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r>
                        <a:rPr lang="en-US" sz="1000" b="0">
                          <a:solidFill>
                            <a:sysClr val="windowText" lastClr="000000"/>
                          </a:solidFill>
                          <a:latin typeface="Arial" panose="020B0604020202020204" pitchFamily="34" charset="0"/>
                          <a:cs typeface="Arial" panose="020B0604020202020204" pitchFamily="34" charset="0"/>
                        </a:rPr>
                        <a:t> </a:t>
                      </a:r>
                      <a:r>
                        <a:rPr lang="en-US" sz="1000" b="1">
                          <a:solidFill>
                            <a:sysClr val="windowText" lastClr="000000"/>
                          </a:solidFill>
                          <a:latin typeface="Arial" panose="020B0604020202020204" pitchFamily="34" charset="0"/>
                          <a:cs typeface="Arial" panose="020B0604020202020204" pitchFamily="34" charset="0"/>
                        </a:rPr>
                        <a:t>Destiny Arteaga</a:t>
                      </a:r>
                    </a:p>
                  </a:txBody>
                  <a:tcPr marL="45720" marB="27432" anchor="ct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03481481"/>
                  </a:ext>
                </a:extLst>
              </a:tr>
            </a:tbl>
          </a:graphicData>
        </a:graphic>
      </p:graphicFrame>
      <p:graphicFrame>
        <p:nvGraphicFramePr>
          <p:cNvPr id="37" name="Table 11">
            <a:extLst>
              <a:ext uri="{FF2B5EF4-FFF2-40B4-BE49-F238E27FC236}">
                <a16:creationId xmlns:a16="http://schemas.microsoft.com/office/drawing/2014/main" id="{C95C776D-3380-E8FE-4252-3C03FC8878E2}"/>
              </a:ext>
            </a:extLst>
          </p:cNvPr>
          <p:cNvGraphicFramePr>
            <a:graphicFrameLocks noGrp="1"/>
          </p:cNvGraphicFramePr>
          <p:nvPr userDrawn="1">
            <p:extLst>
              <p:ext uri="{D42A27DB-BD31-4B8C-83A1-F6EECF244321}">
                <p14:modId xmlns:p14="http://schemas.microsoft.com/office/powerpoint/2010/main" val="3545957596"/>
              </p:ext>
            </p:extLst>
          </p:nvPr>
        </p:nvGraphicFramePr>
        <p:xfrm>
          <a:off x="6388467" y="3668248"/>
          <a:ext cx="5303523" cy="539496"/>
        </p:xfrm>
        <a:graphic>
          <a:graphicData uri="http://schemas.openxmlformats.org/drawingml/2006/table">
            <a:tbl>
              <a:tblPr firstRow="1" bandRow="1">
                <a:tableStyleId>{5C22544A-7EE6-4342-B048-85BDC9FD1C3A}</a:tableStyleId>
              </a:tblPr>
              <a:tblGrid>
                <a:gridCol w="966020">
                  <a:extLst>
                    <a:ext uri="{9D8B030D-6E8A-4147-A177-3AD203B41FA5}">
                      <a16:colId xmlns:a16="http://schemas.microsoft.com/office/drawing/2014/main" val="3279156469"/>
                    </a:ext>
                  </a:extLst>
                </a:gridCol>
                <a:gridCol w="2849245">
                  <a:extLst>
                    <a:ext uri="{9D8B030D-6E8A-4147-A177-3AD203B41FA5}">
                      <a16:colId xmlns:a16="http://schemas.microsoft.com/office/drawing/2014/main" val="107418329"/>
                    </a:ext>
                  </a:extLst>
                </a:gridCol>
                <a:gridCol w="208280">
                  <a:extLst>
                    <a:ext uri="{9D8B030D-6E8A-4147-A177-3AD203B41FA5}">
                      <a16:colId xmlns:a16="http://schemas.microsoft.com/office/drawing/2014/main" val="4112279656"/>
                    </a:ext>
                  </a:extLst>
                </a:gridCol>
                <a:gridCol w="1279978">
                  <a:extLst>
                    <a:ext uri="{9D8B030D-6E8A-4147-A177-3AD203B41FA5}">
                      <a16:colId xmlns:a16="http://schemas.microsoft.com/office/drawing/2014/main" val="1524678321"/>
                    </a:ext>
                  </a:extLst>
                </a:gridCol>
              </a:tblGrid>
              <a:tr h="269748">
                <a:tc>
                  <a:txBody>
                    <a:bodyPr/>
                    <a:lstStyle/>
                    <a:p>
                      <a:endParaRPr lang="en-US" sz="1000">
                        <a:solidFill>
                          <a:srgbClr val="000000"/>
                        </a:solidFill>
                        <a:latin typeface="Arial" panose="020B0604020202020204" pitchFamily="34" charset="0"/>
                        <a:cs typeface="Arial" panose="020B0604020202020204" pitchFamily="34" charset="0"/>
                      </a:endParaRPr>
                    </a:p>
                  </a:txBody>
                  <a:tcPr>
                    <a:noFill/>
                  </a:tcPr>
                </a:tc>
                <a:tc>
                  <a:txBody>
                    <a:bodyPr/>
                    <a:lstStyle/>
                    <a:p>
                      <a:r>
                        <a:rPr lang="en-US" sz="1000" b="0" i="1">
                          <a:solidFill>
                            <a:srgbClr val="000000"/>
                          </a:solidFill>
                          <a:latin typeface="Arial" panose="020B0604020202020204" pitchFamily="34" charset="0"/>
                          <a:cs typeface="Arial" panose="020B0604020202020204" pitchFamily="34" charset="0"/>
                        </a:rPr>
                        <a:t>Signature</a:t>
                      </a:r>
                    </a:p>
                  </a:txBody>
                  <a:tcPr>
                    <a:noFill/>
                  </a:tcPr>
                </a:tc>
                <a:tc>
                  <a:txBody>
                    <a:bodyPr/>
                    <a:lstStyle/>
                    <a:p>
                      <a:endParaRPr lang="en-US" sz="1000">
                        <a:solidFill>
                          <a:srgbClr val="000000"/>
                        </a:solidFill>
                        <a:latin typeface="Arial" panose="020B0604020202020204" pitchFamily="34" charset="0"/>
                        <a:cs typeface="Arial" panose="020B0604020202020204" pitchFamily="34" charset="0"/>
                      </a:endParaRPr>
                    </a:p>
                  </a:txBody>
                  <a:tcPr>
                    <a:noFill/>
                  </a:tcPr>
                </a:tc>
                <a:tc>
                  <a:txBody>
                    <a:bodyPr/>
                    <a:lstStyle/>
                    <a:p>
                      <a:r>
                        <a:rPr lang="en-US" sz="1000" b="0" i="1">
                          <a:solidFill>
                            <a:srgbClr val="000000"/>
                          </a:solidFill>
                          <a:latin typeface="Arial" panose="020B0604020202020204" pitchFamily="34" charset="0"/>
                          <a:cs typeface="Arial" panose="020B0604020202020204" pitchFamily="34" charset="0"/>
                        </a:rPr>
                        <a:t>Date</a:t>
                      </a:r>
                    </a:p>
                  </a:txBody>
                  <a:tcPr>
                    <a:noFill/>
                  </a:tcPr>
                </a:tc>
                <a:extLst>
                  <a:ext uri="{0D108BD9-81ED-4DB2-BD59-A6C34878D82A}">
                    <a16:rowId xmlns:a16="http://schemas.microsoft.com/office/drawing/2014/main" val="790640291"/>
                  </a:ext>
                </a:extLst>
              </a:tr>
              <a:tr h="269748">
                <a:tc>
                  <a:txBody>
                    <a:bodyPr/>
                    <a:lstStyle/>
                    <a:p>
                      <a:endParaRPr lang="en-US" sz="1000">
                        <a:latin typeface="Arial" panose="020B0604020202020204" pitchFamily="34" charset="0"/>
                        <a:cs typeface="Arial" panose="020B0604020202020204" pitchFamily="34" charset="0"/>
                      </a:endParaRPr>
                    </a:p>
                  </a:txBody>
                  <a:tcPr>
                    <a:noFill/>
                  </a:tcPr>
                </a:tc>
                <a:tc>
                  <a:txBody>
                    <a:bodyPr/>
                    <a:lstStyle/>
                    <a:p>
                      <a:endParaRPr lang="en-US" sz="1000">
                        <a:latin typeface="Arial" panose="020B0604020202020204" pitchFamily="34" charset="0"/>
                        <a:cs typeface="Arial" panose="020B0604020202020204" pitchFamily="34" charset="0"/>
                      </a:endParaRPr>
                    </a:p>
                  </a:txBody>
                  <a:tcPr>
                    <a:lnB w="6350" cap="flat" cmpd="sng" algn="ctr">
                      <a:solidFill>
                        <a:srgbClr val="000000"/>
                      </a:solidFill>
                      <a:prstDash val="solid"/>
                      <a:round/>
                      <a:headEnd type="none" w="med" len="med"/>
                      <a:tailEnd type="none" w="med" len="med"/>
                    </a:lnB>
                    <a:noFill/>
                  </a:tcPr>
                </a:tc>
                <a:tc>
                  <a:txBody>
                    <a:bodyPr/>
                    <a:lstStyle/>
                    <a:p>
                      <a:endParaRPr lang="en-US" sz="1000">
                        <a:latin typeface="Arial" panose="020B0604020202020204" pitchFamily="34" charset="0"/>
                        <a:cs typeface="Arial" panose="020B0604020202020204" pitchFamily="34" charset="0"/>
                      </a:endParaRPr>
                    </a:p>
                  </a:txBody>
                  <a:tcPr>
                    <a:noFill/>
                  </a:tcPr>
                </a:tc>
                <a:tc>
                  <a:txBody>
                    <a:bodyPr/>
                    <a:lstStyle/>
                    <a:p>
                      <a:endParaRPr lang="en-US" sz="1000">
                        <a:latin typeface="Arial" panose="020B0604020202020204" pitchFamily="34" charset="0"/>
                        <a:cs typeface="Arial" panose="020B0604020202020204" pitchFamily="34" charset="0"/>
                      </a:endParaRPr>
                    </a:p>
                  </a:txBody>
                  <a:tcPr>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0108497"/>
                  </a:ext>
                </a:extLst>
              </a:tr>
            </a:tbl>
          </a:graphicData>
        </a:graphic>
      </p:graphicFrame>
      <p:graphicFrame>
        <p:nvGraphicFramePr>
          <p:cNvPr id="38" name="Table 6">
            <a:extLst>
              <a:ext uri="{FF2B5EF4-FFF2-40B4-BE49-F238E27FC236}">
                <a16:creationId xmlns:a16="http://schemas.microsoft.com/office/drawing/2014/main" id="{E67C97A4-54DC-7FB9-E52B-C1FCD5305EED}"/>
              </a:ext>
            </a:extLst>
          </p:cNvPr>
          <p:cNvGraphicFramePr>
            <a:graphicFrameLocks noGrp="1"/>
          </p:cNvGraphicFramePr>
          <p:nvPr userDrawn="1">
            <p:extLst>
              <p:ext uri="{D42A27DB-BD31-4B8C-83A1-F6EECF244321}">
                <p14:modId xmlns:p14="http://schemas.microsoft.com/office/powerpoint/2010/main" val="2975232892"/>
              </p:ext>
            </p:extLst>
          </p:nvPr>
        </p:nvGraphicFramePr>
        <p:xfrm>
          <a:off x="491304" y="4369522"/>
          <a:ext cx="5303520" cy="225552"/>
        </p:xfrm>
        <a:graphic>
          <a:graphicData uri="http://schemas.openxmlformats.org/drawingml/2006/table">
            <a:tbl>
              <a:tblPr firstRow="1" bandRow="1">
                <a:tableStyleId>{5C22544A-7EE6-4342-B048-85BDC9FD1C3A}</a:tableStyleId>
              </a:tblPr>
              <a:tblGrid>
                <a:gridCol w="968188">
                  <a:extLst>
                    <a:ext uri="{9D8B030D-6E8A-4147-A177-3AD203B41FA5}">
                      <a16:colId xmlns:a16="http://schemas.microsoft.com/office/drawing/2014/main" val="2709411978"/>
                    </a:ext>
                  </a:extLst>
                </a:gridCol>
                <a:gridCol w="4335332">
                  <a:extLst>
                    <a:ext uri="{9D8B030D-6E8A-4147-A177-3AD203B41FA5}">
                      <a16:colId xmlns:a16="http://schemas.microsoft.com/office/drawing/2014/main" val="2861028828"/>
                    </a:ext>
                  </a:extLst>
                </a:gridCol>
              </a:tblGrid>
              <a:tr h="130584">
                <a:tc>
                  <a:txBody>
                    <a:bodyPr/>
                    <a:lstStyle/>
                    <a:p>
                      <a:r>
                        <a:rPr lang="en-US" sz="1000" b="0">
                          <a:solidFill>
                            <a:sysClr val="windowText" lastClr="000000"/>
                          </a:solidFill>
                          <a:latin typeface="Arial" panose="020B0604020202020204" pitchFamily="34" charset="0"/>
                          <a:cs typeface="Arial" panose="020B0604020202020204" pitchFamily="34" charset="0"/>
                        </a:rPr>
                        <a:t>Sign-Off #3</a:t>
                      </a:r>
                    </a:p>
                  </a:txBody>
                  <a:tcPr marL="45720" marB="27432" anchor="ctr">
                    <a:lnL w="1270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a:r>
                        <a:rPr lang="en-US" sz="1000" b="1">
                          <a:solidFill>
                            <a:sysClr val="windowText" lastClr="000000"/>
                          </a:solidFill>
                          <a:latin typeface="Arial" panose="020B0604020202020204" pitchFamily="34" charset="0"/>
                          <a:cs typeface="Arial" panose="020B0604020202020204" pitchFamily="34" charset="0"/>
                        </a:rPr>
                        <a:t>Kevin Duncan</a:t>
                      </a:r>
                    </a:p>
                  </a:txBody>
                  <a:tcPr marL="45720" marB="27432" anchor="ct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03481481"/>
                  </a:ext>
                </a:extLst>
              </a:tr>
            </a:tbl>
          </a:graphicData>
        </a:graphic>
      </p:graphicFrame>
      <p:graphicFrame>
        <p:nvGraphicFramePr>
          <p:cNvPr id="39" name="Table 11">
            <a:extLst>
              <a:ext uri="{FF2B5EF4-FFF2-40B4-BE49-F238E27FC236}">
                <a16:creationId xmlns:a16="http://schemas.microsoft.com/office/drawing/2014/main" id="{98E955C3-1048-150B-B4C0-8E8293F21820}"/>
              </a:ext>
            </a:extLst>
          </p:cNvPr>
          <p:cNvGraphicFramePr>
            <a:graphicFrameLocks noGrp="1"/>
          </p:cNvGraphicFramePr>
          <p:nvPr userDrawn="1">
            <p:extLst>
              <p:ext uri="{D42A27DB-BD31-4B8C-83A1-F6EECF244321}">
                <p14:modId xmlns:p14="http://schemas.microsoft.com/office/powerpoint/2010/main" val="3656068324"/>
              </p:ext>
            </p:extLst>
          </p:nvPr>
        </p:nvGraphicFramePr>
        <p:xfrm>
          <a:off x="491305" y="4628395"/>
          <a:ext cx="5303523" cy="542562"/>
        </p:xfrm>
        <a:graphic>
          <a:graphicData uri="http://schemas.openxmlformats.org/drawingml/2006/table">
            <a:tbl>
              <a:tblPr firstRow="1" bandRow="1">
                <a:tableStyleId>{5C22544A-7EE6-4342-B048-85BDC9FD1C3A}</a:tableStyleId>
              </a:tblPr>
              <a:tblGrid>
                <a:gridCol w="966020">
                  <a:extLst>
                    <a:ext uri="{9D8B030D-6E8A-4147-A177-3AD203B41FA5}">
                      <a16:colId xmlns:a16="http://schemas.microsoft.com/office/drawing/2014/main" val="3279156469"/>
                    </a:ext>
                  </a:extLst>
                </a:gridCol>
                <a:gridCol w="2849245">
                  <a:extLst>
                    <a:ext uri="{9D8B030D-6E8A-4147-A177-3AD203B41FA5}">
                      <a16:colId xmlns:a16="http://schemas.microsoft.com/office/drawing/2014/main" val="107418329"/>
                    </a:ext>
                  </a:extLst>
                </a:gridCol>
                <a:gridCol w="208280">
                  <a:extLst>
                    <a:ext uri="{9D8B030D-6E8A-4147-A177-3AD203B41FA5}">
                      <a16:colId xmlns:a16="http://schemas.microsoft.com/office/drawing/2014/main" val="4112279656"/>
                    </a:ext>
                  </a:extLst>
                </a:gridCol>
                <a:gridCol w="1279978">
                  <a:extLst>
                    <a:ext uri="{9D8B030D-6E8A-4147-A177-3AD203B41FA5}">
                      <a16:colId xmlns:a16="http://schemas.microsoft.com/office/drawing/2014/main" val="1524678321"/>
                    </a:ext>
                  </a:extLst>
                </a:gridCol>
              </a:tblGrid>
              <a:tr h="271281">
                <a:tc>
                  <a:txBody>
                    <a:bodyPr/>
                    <a:lstStyle/>
                    <a:p>
                      <a:endParaRPr lang="en-US" sz="1000">
                        <a:solidFill>
                          <a:srgbClr val="000000"/>
                        </a:solidFill>
                        <a:latin typeface="Arial" panose="020B0604020202020204" pitchFamily="34" charset="0"/>
                        <a:cs typeface="Arial" panose="020B0604020202020204" pitchFamily="34" charset="0"/>
                      </a:endParaRPr>
                    </a:p>
                  </a:txBody>
                  <a:tcPr>
                    <a:noFill/>
                  </a:tcPr>
                </a:tc>
                <a:tc>
                  <a:txBody>
                    <a:bodyPr/>
                    <a:lstStyle/>
                    <a:p>
                      <a:r>
                        <a:rPr lang="en-US" sz="1000" b="0" i="1">
                          <a:solidFill>
                            <a:srgbClr val="000000"/>
                          </a:solidFill>
                          <a:latin typeface="Arial" panose="020B0604020202020204" pitchFamily="34" charset="0"/>
                          <a:cs typeface="Arial" panose="020B0604020202020204" pitchFamily="34" charset="0"/>
                        </a:rPr>
                        <a:t>Signature</a:t>
                      </a:r>
                    </a:p>
                  </a:txBody>
                  <a:tcPr>
                    <a:noFill/>
                  </a:tcPr>
                </a:tc>
                <a:tc>
                  <a:txBody>
                    <a:bodyPr/>
                    <a:lstStyle/>
                    <a:p>
                      <a:endParaRPr lang="en-US" sz="1000">
                        <a:solidFill>
                          <a:srgbClr val="000000"/>
                        </a:solidFill>
                        <a:latin typeface="Arial" panose="020B0604020202020204" pitchFamily="34" charset="0"/>
                        <a:cs typeface="Arial" panose="020B0604020202020204" pitchFamily="34" charset="0"/>
                      </a:endParaRPr>
                    </a:p>
                  </a:txBody>
                  <a:tcPr>
                    <a:noFill/>
                  </a:tcPr>
                </a:tc>
                <a:tc>
                  <a:txBody>
                    <a:bodyPr/>
                    <a:lstStyle/>
                    <a:p>
                      <a:r>
                        <a:rPr lang="en-US" sz="1000" b="0" i="1">
                          <a:solidFill>
                            <a:srgbClr val="000000"/>
                          </a:solidFill>
                          <a:latin typeface="Arial" panose="020B0604020202020204" pitchFamily="34" charset="0"/>
                          <a:cs typeface="Arial" panose="020B0604020202020204" pitchFamily="34" charset="0"/>
                        </a:rPr>
                        <a:t>Date</a:t>
                      </a:r>
                    </a:p>
                  </a:txBody>
                  <a:tcPr>
                    <a:noFill/>
                  </a:tcPr>
                </a:tc>
                <a:extLst>
                  <a:ext uri="{0D108BD9-81ED-4DB2-BD59-A6C34878D82A}">
                    <a16:rowId xmlns:a16="http://schemas.microsoft.com/office/drawing/2014/main" val="790640291"/>
                  </a:ext>
                </a:extLst>
              </a:tr>
              <a:tr h="271281">
                <a:tc>
                  <a:txBody>
                    <a:bodyPr/>
                    <a:lstStyle/>
                    <a:p>
                      <a:endParaRPr lang="en-US" sz="1000">
                        <a:latin typeface="Arial" panose="020B0604020202020204" pitchFamily="34" charset="0"/>
                        <a:cs typeface="Arial" panose="020B0604020202020204" pitchFamily="34" charset="0"/>
                      </a:endParaRPr>
                    </a:p>
                  </a:txBody>
                  <a:tcPr>
                    <a:noFill/>
                  </a:tcPr>
                </a:tc>
                <a:tc>
                  <a:txBody>
                    <a:bodyPr/>
                    <a:lstStyle/>
                    <a:p>
                      <a:endParaRPr lang="en-US" sz="1000">
                        <a:latin typeface="Arial" panose="020B0604020202020204" pitchFamily="34" charset="0"/>
                        <a:cs typeface="Arial" panose="020B0604020202020204" pitchFamily="34" charset="0"/>
                      </a:endParaRPr>
                    </a:p>
                  </a:txBody>
                  <a:tcPr>
                    <a:lnB w="6350" cap="flat" cmpd="sng" algn="ctr">
                      <a:solidFill>
                        <a:srgbClr val="000000"/>
                      </a:solidFill>
                      <a:prstDash val="solid"/>
                      <a:round/>
                      <a:headEnd type="none" w="med" len="med"/>
                      <a:tailEnd type="none" w="med" len="med"/>
                    </a:lnB>
                    <a:noFill/>
                  </a:tcPr>
                </a:tc>
                <a:tc>
                  <a:txBody>
                    <a:bodyPr/>
                    <a:lstStyle/>
                    <a:p>
                      <a:endParaRPr lang="en-US" sz="1000">
                        <a:latin typeface="Arial" panose="020B0604020202020204" pitchFamily="34" charset="0"/>
                        <a:cs typeface="Arial" panose="020B0604020202020204" pitchFamily="34" charset="0"/>
                      </a:endParaRPr>
                    </a:p>
                  </a:txBody>
                  <a:tcPr>
                    <a:noFill/>
                  </a:tcPr>
                </a:tc>
                <a:tc>
                  <a:txBody>
                    <a:bodyPr/>
                    <a:lstStyle/>
                    <a:p>
                      <a:endParaRPr lang="en-US" sz="1000">
                        <a:latin typeface="Arial" panose="020B0604020202020204" pitchFamily="34" charset="0"/>
                        <a:cs typeface="Arial" panose="020B0604020202020204" pitchFamily="34" charset="0"/>
                      </a:endParaRPr>
                    </a:p>
                  </a:txBody>
                  <a:tcPr>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0108497"/>
                  </a:ext>
                </a:extLst>
              </a:tr>
            </a:tbl>
          </a:graphicData>
        </a:graphic>
      </p:graphicFrame>
      <p:graphicFrame>
        <p:nvGraphicFramePr>
          <p:cNvPr id="40" name="Table 6">
            <a:extLst>
              <a:ext uri="{FF2B5EF4-FFF2-40B4-BE49-F238E27FC236}">
                <a16:creationId xmlns:a16="http://schemas.microsoft.com/office/drawing/2014/main" id="{974E1063-71A3-8D93-E230-7177C9ED3B5F}"/>
              </a:ext>
            </a:extLst>
          </p:cNvPr>
          <p:cNvGraphicFramePr>
            <a:graphicFrameLocks noGrp="1"/>
          </p:cNvGraphicFramePr>
          <p:nvPr userDrawn="1">
            <p:extLst>
              <p:ext uri="{D42A27DB-BD31-4B8C-83A1-F6EECF244321}">
                <p14:modId xmlns:p14="http://schemas.microsoft.com/office/powerpoint/2010/main" val="3795149829"/>
              </p:ext>
            </p:extLst>
          </p:nvPr>
        </p:nvGraphicFramePr>
        <p:xfrm>
          <a:off x="6388470" y="4369522"/>
          <a:ext cx="5303520" cy="225552"/>
        </p:xfrm>
        <a:graphic>
          <a:graphicData uri="http://schemas.openxmlformats.org/drawingml/2006/table">
            <a:tbl>
              <a:tblPr firstRow="1" bandRow="1">
                <a:tableStyleId>{5C22544A-7EE6-4342-B048-85BDC9FD1C3A}</a:tableStyleId>
              </a:tblPr>
              <a:tblGrid>
                <a:gridCol w="968188">
                  <a:extLst>
                    <a:ext uri="{9D8B030D-6E8A-4147-A177-3AD203B41FA5}">
                      <a16:colId xmlns:a16="http://schemas.microsoft.com/office/drawing/2014/main" val="2709411978"/>
                    </a:ext>
                  </a:extLst>
                </a:gridCol>
                <a:gridCol w="4335332">
                  <a:extLst>
                    <a:ext uri="{9D8B030D-6E8A-4147-A177-3AD203B41FA5}">
                      <a16:colId xmlns:a16="http://schemas.microsoft.com/office/drawing/2014/main" val="2861028828"/>
                    </a:ext>
                  </a:extLst>
                </a:gridCol>
              </a:tblGrid>
              <a:tr h="130584">
                <a:tc>
                  <a:txBody>
                    <a:bodyPr/>
                    <a:lstStyle/>
                    <a:p>
                      <a:r>
                        <a:rPr lang="en-US" sz="1000" b="0">
                          <a:solidFill>
                            <a:sysClr val="windowText" lastClr="000000"/>
                          </a:solidFill>
                          <a:latin typeface="Arial" panose="020B0604020202020204" pitchFamily="34" charset="0"/>
                          <a:cs typeface="Arial" panose="020B0604020202020204" pitchFamily="34" charset="0"/>
                        </a:rPr>
                        <a:t>Sign-Off #6</a:t>
                      </a:r>
                    </a:p>
                  </a:txBody>
                  <a:tcPr marL="45720" marB="27432" anchor="ctr">
                    <a:lnL w="12700" cap="flat" cmpd="sng" algn="ctr">
                      <a:no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B w="12700" cap="flat" cmpd="sng" algn="ctr">
                      <a:solidFill>
                        <a:srgbClr val="000000"/>
                      </a:solidFill>
                      <a:prstDash val="solid"/>
                      <a:round/>
                      <a:headEnd type="none" w="med" len="med"/>
                      <a:tailEnd type="none" w="med" len="med"/>
                    </a:lnB>
                    <a:solidFill>
                      <a:schemeClr val="bg1">
                        <a:lumMod val="85000"/>
                      </a:schemeClr>
                    </a:solidFill>
                  </a:tcPr>
                </a:tc>
                <a:tc>
                  <a:txBody>
                    <a:bodyPr/>
                    <a:lstStyle/>
                    <a:p>
                      <a:r>
                        <a:rPr lang="en-US" sz="1000" b="0">
                          <a:solidFill>
                            <a:sysClr val="windowText" lastClr="000000"/>
                          </a:solidFill>
                          <a:latin typeface="Arial" panose="020B0604020202020204" pitchFamily="34" charset="0"/>
                          <a:cs typeface="Arial" panose="020B0604020202020204" pitchFamily="34" charset="0"/>
                        </a:rPr>
                        <a:t> </a:t>
                      </a:r>
                      <a:endParaRPr lang="en-US" sz="1000" b="1">
                        <a:solidFill>
                          <a:sysClr val="windowText" lastClr="000000"/>
                        </a:solidFill>
                        <a:latin typeface="Arial" panose="020B0604020202020204" pitchFamily="34" charset="0"/>
                        <a:cs typeface="Arial" panose="020B0604020202020204" pitchFamily="34" charset="0"/>
                      </a:endParaRPr>
                    </a:p>
                  </a:txBody>
                  <a:tcPr marL="45720" marB="27432" anchor="ctr">
                    <a:lnL w="6350"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03481481"/>
                  </a:ext>
                </a:extLst>
              </a:tr>
            </a:tbl>
          </a:graphicData>
        </a:graphic>
      </p:graphicFrame>
      <p:graphicFrame>
        <p:nvGraphicFramePr>
          <p:cNvPr id="41" name="Table 11">
            <a:extLst>
              <a:ext uri="{FF2B5EF4-FFF2-40B4-BE49-F238E27FC236}">
                <a16:creationId xmlns:a16="http://schemas.microsoft.com/office/drawing/2014/main" id="{BF809C2C-7921-1DD8-E5E2-C364F620586E}"/>
              </a:ext>
            </a:extLst>
          </p:cNvPr>
          <p:cNvGraphicFramePr>
            <a:graphicFrameLocks noGrp="1"/>
          </p:cNvGraphicFramePr>
          <p:nvPr userDrawn="1">
            <p:extLst>
              <p:ext uri="{D42A27DB-BD31-4B8C-83A1-F6EECF244321}">
                <p14:modId xmlns:p14="http://schemas.microsoft.com/office/powerpoint/2010/main" val="1396514352"/>
              </p:ext>
            </p:extLst>
          </p:nvPr>
        </p:nvGraphicFramePr>
        <p:xfrm>
          <a:off x="6388467" y="4628395"/>
          <a:ext cx="5303523" cy="539496"/>
        </p:xfrm>
        <a:graphic>
          <a:graphicData uri="http://schemas.openxmlformats.org/drawingml/2006/table">
            <a:tbl>
              <a:tblPr firstRow="1" bandRow="1">
                <a:tableStyleId>{5C22544A-7EE6-4342-B048-85BDC9FD1C3A}</a:tableStyleId>
              </a:tblPr>
              <a:tblGrid>
                <a:gridCol w="966020">
                  <a:extLst>
                    <a:ext uri="{9D8B030D-6E8A-4147-A177-3AD203B41FA5}">
                      <a16:colId xmlns:a16="http://schemas.microsoft.com/office/drawing/2014/main" val="3279156469"/>
                    </a:ext>
                  </a:extLst>
                </a:gridCol>
                <a:gridCol w="2849245">
                  <a:extLst>
                    <a:ext uri="{9D8B030D-6E8A-4147-A177-3AD203B41FA5}">
                      <a16:colId xmlns:a16="http://schemas.microsoft.com/office/drawing/2014/main" val="107418329"/>
                    </a:ext>
                  </a:extLst>
                </a:gridCol>
                <a:gridCol w="208280">
                  <a:extLst>
                    <a:ext uri="{9D8B030D-6E8A-4147-A177-3AD203B41FA5}">
                      <a16:colId xmlns:a16="http://schemas.microsoft.com/office/drawing/2014/main" val="4112279656"/>
                    </a:ext>
                  </a:extLst>
                </a:gridCol>
                <a:gridCol w="1279978">
                  <a:extLst>
                    <a:ext uri="{9D8B030D-6E8A-4147-A177-3AD203B41FA5}">
                      <a16:colId xmlns:a16="http://schemas.microsoft.com/office/drawing/2014/main" val="1524678321"/>
                    </a:ext>
                  </a:extLst>
                </a:gridCol>
              </a:tblGrid>
              <a:tr h="269748">
                <a:tc>
                  <a:txBody>
                    <a:bodyPr/>
                    <a:lstStyle/>
                    <a:p>
                      <a:endParaRPr lang="en-US" sz="1000">
                        <a:solidFill>
                          <a:srgbClr val="000000"/>
                        </a:solidFill>
                        <a:latin typeface="Arial" panose="020B0604020202020204" pitchFamily="34" charset="0"/>
                        <a:cs typeface="Arial" panose="020B0604020202020204" pitchFamily="34" charset="0"/>
                      </a:endParaRPr>
                    </a:p>
                  </a:txBody>
                  <a:tcPr>
                    <a:noFill/>
                  </a:tcPr>
                </a:tc>
                <a:tc>
                  <a:txBody>
                    <a:bodyPr/>
                    <a:lstStyle/>
                    <a:p>
                      <a:r>
                        <a:rPr lang="en-US" sz="1000" b="0" i="1">
                          <a:solidFill>
                            <a:srgbClr val="000000"/>
                          </a:solidFill>
                          <a:latin typeface="Arial" panose="020B0604020202020204" pitchFamily="34" charset="0"/>
                          <a:cs typeface="Arial" panose="020B0604020202020204" pitchFamily="34" charset="0"/>
                        </a:rPr>
                        <a:t>Signature</a:t>
                      </a:r>
                    </a:p>
                  </a:txBody>
                  <a:tcPr>
                    <a:noFill/>
                  </a:tcPr>
                </a:tc>
                <a:tc>
                  <a:txBody>
                    <a:bodyPr/>
                    <a:lstStyle/>
                    <a:p>
                      <a:endParaRPr lang="en-US" sz="1000">
                        <a:solidFill>
                          <a:srgbClr val="000000"/>
                        </a:solidFill>
                        <a:latin typeface="Arial" panose="020B0604020202020204" pitchFamily="34" charset="0"/>
                        <a:cs typeface="Arial" panose="020B0604020202020204" pitchFamily="34" charset="0"/>
                      </a:endParaRPr>
                    </a:p>
                  </a:txBody>
                  <a:tcPr>
                    <a:noFill/>
                  </a:tcPr>
                </a:tc>
                <a:tc>
                  <a:txBody>
                    <a:bodyPr/>
                    <a:lstStyle/>
                    <a:p>
                      <a:r>
                        <a:rPr lang="en-US" sz="1000" b="0" i="1">
                          <a:solidFill>
                            <a:srgbClr val="000000"/>
                          </a:solidFill>
                          <a:latin typeface="Arial" panose="020B0604020202020204" pitchFamily="34" charset="0"/>
                          <a:cs typeface="Arial" panose="020B0604020202020204" pitchFamily="34" charset="0"/>
                        </a:rPr>
                        <a:t>Date</a:t>
                      </a:r>
                    </a:p>
                  </a:txBody>
                  <a:tcPr>
                    <a:noFill/>
                  </a:tcPr>
                </a:tc>
                <a:extLst>
                  <a:ext uri="{0D108BD9-81ED-4DB2-BD59-A6C34878D82A}">
                    <a16:rowId xmlns:a16="http://schemas.microsoft.com/office/drawing/2014/main" val="790640291"/>
                  </a:ext>
                </a:extLst>
              </a:tr>
              <a:tr h="269748">
                <a:tc>
                  <a:txBody>
                    <a:bodyPr/>
                    <a:lstStyle/>
                    <a:p>
                      <a:endParaRPr lang="en-US" sz="1000">
                        <a:latin typeface="Arial" panose="020B0604020202020204" pitchFamily="34" charset="0"/>
                        <a:cs typeface="Arial" panose="020B0604020202020204" pitchFamily="34" charset="0"/>
                      </a:endParaRPr>
                    </a:p>
                  </a:txBody>
                  <a:tcPr>
                    <a:noFill/>
                  </a:tcPr>
                </a:tc>
                <a:tc>
                  <a:txBody>
                    <a:bodyPr/>
                    <a:lstStyle/>
                    <a:p>
                      <a:endParaRPr lang="en-US" sz="1000">
                        <a:latin typeface="Arial" panose="020B0604020202020204" pitchFamily="34" charset="0"/>
                        <a:cs typeface="Arial" panose="020B0604020202020204" pitchFamily="34" charset="0"/>
                      </a:endParaRPr>
                    </a:p>
                  </a:txBody>
                  <a:tcPr>
                    <a:lnB w="6350" cap="flat" cmpd="sng" algn="ctr">
                      <a:solidFill>
                        <a:srgbClr val="000000"/>
                      </a:solidFill>
                      <a:prstDash val="solid"/>
                      <a:round/>
                      <a:headEnd type="none" w="med" len="med"/>
                      <a:tailEnd type="none" w="med" len="med"/>
                    </a:lnB>
                    <a:noFill/>
                  </a:tcPr>
                </a:tc>
                <a:tc>
                  <a:txBody>
                    <a:bodyPr/>
                    <a:lstStyle/>
                    <a:p>
                      <a:endParaRPr lang="en-US" sz="1000">
                        <a:latin typeface="Arial" panose="020B0604020202020204" pitchFamily="34" charset="0"/>
                        <a:cs typeface="Arial" panose="020B0604020202020204" pitchFamily="34" charset="0"/>
                      </a:endParaRPr>
                    </a:p>
                  </a:txBody>
                  <a:tcPr>
                    <a:noFill/>
                  </a:tcPr>
                </a:tc>
                <a:tc>
                  <a:txBody>
                    <a:bodyPr/>
                    <a:lstStyle/>
                    <a:p>
                      <a:endParaRPr lang="en-US" sz="1000">
                        <a:latin typeface="Arial" panose="020B0604020202020204" pitchFamily="34" charset="0"/>
                        <a:cs typeface="Arial" panose="020B0604020202020204" pitchFamily="34" charset="0"/>
                      </a:endParaRPr>
                    </a:p>
                  </a:txBody>
                  <a:tcPr>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20108497"/>
                  </a:ext>
                </a:extLst>
              </a:tr>
            </a:tbl>
          </a:graphicData>
        </a:graphic>
      </p:graphicFrame>
      <p:sp>
        <p:nvSpPr>
          <p:cNvPr id="43" name="Content Placeholder 42">
            <a:extLst>
              <a:ext uri="{FF2B5EF4-FFF2-40B4-BE49-F238E27FC236}">
                <a16:creationId xmlns:a16="http://schemas.microsoft.com/office/drawing/2014/main" id="{6EA05742-06E6-3E3C-8571-FAB9CF3D5C01}"/>
              </a:ext>
            </a:extLst>
          </p:cNvPr>
          <p:cNvSpPr>
            <a:spLocks noGrp="1"/>
          </p:cNvSpPr>
          <p:nvPr>
            <p:ph sz="quarter" idx="15" hasCustomPrompt="1"/>
          </p:nvPr>
        </p:nvSpPr>
        <p:spPr>
          <a:xfrm>
            <a:off x="1458262" y="2085250"/>
            <a:ext cx="10233728" cy="247162"/>
          </a:xfrm>
        </p:spPr>
        <p:txBody>
          <a:bodyPr>
            <a:normAutofit/>
          </a:bodyPr>
          <a:lstStyle>
            <a:lvl1pPr marL="0" indent="0">
              <a:buNone/>
              <a:defRPr sz="1000">
                <a:latin typeface="Arial" panose="020B0604020202020204" pitchFamily="34" charset="0"/>
                <a:cs typeface="Arial" panose="020B0604020202020204" pitchFamily="34" charset="0"/>
              </a:defRPr>
            </a:lvl1pPr>
          </a:lstStyle>
          <a:p>
            <a:pPr lvl="0"/>
            <a:r>
              <a:rPr lang="en-US"/>
              <a:t>Deal Name - County, State</a:t>
            </a:r>
          </a:p>
        </p:txBody>
      </p:sp>
      <p:sp>
        <p:nvSpPr>
          <p:cNvPr id="45" name="Slide Number Placeholder 1">
            <a:extLst>
              <a:ext uri="{FF2B5EF4-FFF2-40B4-BE49-F238E27FC236}">
                <a16:creationId xmlns:a16="http://schemas.microsoft.com/office/drawing/2014/main" id="{EC9D126C-8D21-D8BC-84B9-839DF2D07A8A}"/>
              </a:ext>
            </a:extLst>
          </p:cNvPr>
          <p:cNvSpPr txBox="1">
            <a:spLocks/>
          </p:cNvSpPr>
          <p:nvPr userDrawn="1"/>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19BDD-DD89-4CD9-A1F3-D76BEB018B7B}" type="slidenum">
              <a:rPr lang="en-US" sz="1000" smtClean="0">
                <a:latin typeface="Arial" panose="020B0604020202020204" pitchFamily="34" charset="0"/>
                <a:cs typeface="Arial" panose="020B0604020202020204" pitchFamily="34" charset="0"/>
              </a:rPr>
              <a:pPr/>
              <a:t>‹#›</a:t>
            </a:fld>
            <a:endParaRPr lang="en-US" sz="1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65782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xecutive Summary">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E4DE5016-2788-DB03-A98B-AB1EFE97EFEA}"/>
              </a:ext>
            </a:extLst>
          </p:cNvPr>
          <p:cNvSpPr>
            <a:spLocks noGrp="1"/>
          </p:cNvSpPr>
          <p:nvPr>
            <p:ph type="body" sz="quarter" idx="12" hasCustomPrompt="1"/>
          </p:nvPr>
        </p:nvSpPr>
        <p:spPr>
          <a:xfrm>
            <a:off x="392114" y="6483933"/>
            <a:ext cx="10491166" cy="374650"/>
          </a:xfrm>
        </p:spPr>
        <p:txBody>
          <a:bodyPr anchor="t">
            <a:normAutofit/>
          </a:bodyPr>
          <a:lstStyle>
            <a:lvl1pPr marL="228600" indent="-228600">
              <a:lnSpc>
                <a:spcPct val="100000"/>
              </a:lnSpc>
              <a:spcBef>
                <a:spcPts val="0"/>
              </a:spcBef>
              <a:buFont typeface="+mj-lt"/>
              <a:buAutoNum type="arabicPeriod"/>
              <a:defRPr sz="800">
                <a:latin typeface="Arial" panose="020B0604020202020204" pitchFamily="34" charset="0"/>
                <a:cs typeface="Arial" panose="020B0604020202020204" pitchFamily="34" charset="0"/>
              </a:defRPr>
            </a:lvl1pPr>
          </a:lstStyle>
          <a:p>
            <a:pPr lvl="0"/>
            <a:r>
              <a:rPr lang="en-US"/>
              <a:t>Footer</a:t>
            </a:r>
          </a:p>
        </p:txBody>
      </p:sp>
      <p:sp>
        <p:nvSpPr>
          <p:cNvPr id="14" name="Rectangle 7">
            <a:extLst>
              <a:ext uri="{FF2B5EF4-FFF2-40B4-BE49-F238E27FC236}">
                <a16:creationId xmlns:a16="http://schemas.microsoft.com/office/drawing/2014/main" id="{97F4A706-0F4D-4706-A9FB-B9355F5842B6}"/>
              </a:ext>
            </a:extLst>
          </p:cNvPr>
          <p:cNvSpPr/>
          <p:nvPr userDrawn="1"/>
        </p:nvSpPr>
        <p:spPr>
          <a:xfrm>
            <a:off x="0" y="673298"/>
            <a:ext cx="10491849" cy="235155"/>
          </a:xfrm>
          <a:custGeom>
            <a:avLst/>
            <a:gdLst>
              <a:gd name="connsiteX0" fmla="*/ 0 w 10629900"/>
              <a:gd name="connsiteY0" fmla="*/ 0 h 365125"/>
              <a:gd name="connsiteX1" fmla="*/ 10629900 w 10629900"/>
              <a:gd name="connsiteY1" fmla="*/ 0 h 365125"/>
              <a:gd name="connsiteX2" fmla="*/ 10629900 w 10629900"/>
              <a:gd name="connsiteY2" fmla="*/ 365125 h 365125"/>
              <a:gd name="connsiteX3" fmla="*/ 0 w 10629900"/>
              <a:gd name="connsiteY3" fmla="*/ 365125 h 365125"/>
              <a:gd name="connsiteX4" fmla="*/ 0 w 10629900"/>
              <a:gd name="connsiteY4" fmla="*/ 0 h 365125"/>
              <a:gd name="connsiteX0" fmla="*/ 0 w 10629900"/>
              <a:gd name="connsiteY0" fmla="*/ 0 h 365125"/>
              <a:gd name="connsiteX1" fmla="*/ 10629900 w 10629900"/>
              <a:gd name="connsiteY1" fmla="*/ 0 h 365125"/>
              <a:gd name="connsiteX2" fmla="*/ 10077450 w 10629900"/>
              <a:gd name="connsiteY2" fmla="*/ 355600 h 365125"/>
              <a:gd name="connsiteX3" fmla="*/ 0 w 10629900"/>
              <a:gd name="connsiteY3" fmla="*/ 365125 h 365125"/>
              <a:gd name="connsiteX4" fmla="*/ 0 w 10629900"/>
              <a:gd name="connsiteY4" fmla="*/ 0 h 36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9900" h="365125">
                <a:moveTo>
                  <a:pt x="0" y="0"/>
                </a:moveTo>
                <a:lnTo>
                  <a:pt x="10629900" y="0"/>
                </a:lnTo>
                <a:lnTo>
                  <a:pt x="10077450" y="355600"/>
                </a:lnTo>
                <a:lnTo>
                  <a:pt x="0" y="365125"/>
                </a:lnTo>
                <a:lnTo>
                  <a:pt x="0" y="0"/>
                </a:lnTo>
                <a:close/>
              </a:path>
            </a:pathLst>
          </a:custGeom>
          <a:solidFill>
            <a:schemeClr val="accent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5AEF7DA6-42FA-443D-82FD-DDB40A0BB056}"/>
              </a:ext>
            </a:extLst>
          </p:cNvPr>
          <p:cNvCxnSpPr/>
          <p:nvPr userDrawn="1"/>
        </p:nvCxnSpPr>
        <p:spPr>
          <a:xfrm>
            <a:off x="0" y="623328"/>
            <a:ext cx="12192000" cy="0"/>
          </a:xfrm>
          <a:prstGeom prst="line">
            <a:avLst/>
          </a:prstGeom>
          <a:ln w="28575">
            <a:solidFill>
              <a:srgbClr val="34364C"/>
            </a:solidFill>
          </a:ln>
        </p:spPr>
        <p:style>
          <a:lnRef idx="1">
            <a:schemeClr val="accent1"/>
          </a:lnRef>
          <a:fillRef idx="0">
            <a:schemeClr val="accent1"/>
          </a:fillRef>
          <a:effectRef idx="0">
            <a:schemeClr val="accent1"/>
          </a:effectRef>
          <a:fontRef idx="minor">
            <a:schemeClr val="tx1"/>
          </a:fontRef>
        </p:style>
      </p:cxnSp>
      <p:sp>
        <p:nvSpPr>
          <p:cNvPr id="3" name="Slide Number Placeholder 1">
            <a:extLst>
              <a:ext uri="{FF2B5EF4-FFF2-40B4-BE49-F238E27FC236}">
                <a16:creationId xmlns:a16="http://schemas.microsoft.com/office/drawing/2014/main" id="{C0264C16-D2DF-5B85-D3C4-B1B07C55B97B}"/>
              </a:ext>
            </a:extLst>
          </p:cNvPr>
          <p:cNvSpPr txBox="1">
            <a:spLocks/>
          </p:cNvSpPr>
          <p:nvPr userDrawn="1"/>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19BDD-DD89-4CD9-A1F3-D76BEB018B7B}" type="slidenum">
              <a:rPr lang="en-US" sz="1000" smtClean="0">
                <a:latin typeface="Arial" panose="020B0604020202020204" pitchFamily="34" charset="0"/>
                <a:cs typeface="Arial" panose="020B0604020202020204" pitchFamily="34" charset="0"/>
              </a:rPr>
              <a:pPr/>
              <a:t>‹#›</a:t>
            </a:fld>
            <a:endParaRPr lang="en-US" sz="1000">
              <a:latin typeface="Arial" panose="020B0604020202020204" pitchFamily="34" charset="0"/>
              <a:cs typeface="Arial" panose="020B0604020202020204" pitchFamily="34" charset="0"/>
            </a:endParaRPr>
          </a:p>
        </p:txBody>
      </p:sp>
      <p:sp>
        <p:nvSpPr>
          <p:cNvPr id="4" name="Rectangle 7">
            <a:extLst>
              <a:ext uri="{FF2B5EF4-FFF2-40B4-BE49-F238E27FC236}">
                <a16:creationId xmlns:a16="http://schemas.microsoft.com/office/drawing/2014/main" id="{64FA3D60-430C-AB99-ADFF-A7A254F13762}"/>
              </a:ext>
            </a:extLst>
          </p:cNvPr>
          <p:cNvSpPr/>
          <p:nvPr userDrawn="1"/>
        </p:nvSpPr>
        <p:spPr>
          <a:xfrm>
            <a:off x="0" y="673298"/>
            <a:ext cx="10491849" cy="235155"/>
          </a:xfrm>
          <a:custGeom>
            <a:avLst/>
            <a:gdLst>
              <a:gd name="connsiteX0" fmla="*/ 0 w 10629900"/>
              <a:gd name="connsiteY0" fmla="*/ 0 h 365125"/>
              <a:gd name="connsiteX1" fmla="*/ 10629900 w 10629900"/>
              <a:gd name="connsiteY1" fmla="*/ 0 h 365125"/>
              <a:gd name="connsiteX2" fmla="*/ 10629900 w 10629900"/>
              <a:gd name="connsiteY2" fmla="*/ 365125 h 365125"/>
              <a:gd name="connsiteX3" fmla="*/ 0 w 10629900"/>
              <a:gd name="connsiteY3" fmla="*/ 365125 h 365125"/>
              <a:gd name="connsiteX4" fmla="*/ 0 w 10629900"/>
              <a:gd name="connsiteY4" fmla="*/ 0 h 365125"/>
              <a:gd name="connsiteX0" fmla="*/ 0 w 10629900"/>
              <a:gd name="connsiteY0" fmla="*/ 0 h 365125"/>
              <a:gd name="connsiteX1" fmla="*/ 10629900 w 10629900"/>
              <a:gd name="connsiteY1" fmla="*/ 0 h 365125"/>
              <a:gd name="connsiteX2" fmla="*/ 10077450 w 10629900"/>
              <a:gd name="connsiteY2" fmla="*/ 355600 h 365125"/>
              <a:gd name="connsiteX3" fmla="*/ 0 w 10629900"/>
              <a:gd name="connsiteY3" fmla="*/ 365125 h 365125"/>
              <a:gd name="connsiteX4" fmla="*/ 0 w 10629900"/>
              <a:gd name="connsiteY4" fmla="*/ 0 h 36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9900" h="365125">
                <a:moveTo>
                  <a:pt x="0" y="0"/>
                </a:moveTo>
                <a:lnTo>
                  <a:pt x="10629900" y="0"/>
                </a:lnTo>
                <a:lnTo>
                  <a:pt x="10077450" y="355600"/>
                </a:lnTo>
                <a:lnTo>
                  <a:pt x="0" y="365125"/>
                </a:lnTo>
                <a:lnTo>
                  <a:pt x="0" y="0"/>
                </a:lnTo>
                <a:close/>
              </a:path>
            </a:pathLst>
          </a:custGeom>
          <a:solidFill>
            <a:schemeClr val="accent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6F1D922F-995F-7FF0-F91E-30F742E8759E}"/>
              </a:ext>
            </a:extLst>
          </p:cNvPr>
          <p:cNvCxnSpPr/>
          <p:nvPr userDrawn="1"/>
        </p:nvCxnSpPr>
        <p:spPr>
          <a:xfrm>
            <a:off x="0" y="623328"/>
            <a:ext cx="12192000" cy="0"/>
          </a:xfrm>
          <a:prstGeom prst="line">
            <a:avLst/>
          </a:prstGeom>
          <a:ln w="28575">
            <a:solidFill>
              <a:srgbClr val="3436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B2526F0-0C04-4EEA-EA6D-BA066C6F8EC0}"/>
              </a:ext>
            </a:extLst>
          </p:cNvPr>
          <p:cNvSpPr txBox="1"/>
          <p:nvPr userDrawn="1"/>
        </p:nvSpPr>
        <p:spPr>
          <a:xfrm>
            <a:off x="333375" y="73388"/>
            <a:ext cx="3928074" cy="523220"/>
          </a:xfrm>
          <a:prstGeom prst="rect">
            <a:avLst/>
          </a:prstGeom>
          <a:noFill/>
        </p:spPr>
        <p:txBody>
          <a:bodyPr wrap="square" rtlCol="0">
            <a:spAutoFit/>
          </a:bodyPr>
          <a:lstStyle/>
          <a:p>
            <a:pPr algn="l"/>
            <a:r>
              <a:rPr lang="en-US" sz="2800" b="1">
                <a:solidFill>
                  <a:schemeClr val="tx1"/>
                </a:solidFill>
                <a:latin typeface="Arial" panose="020B0604020202020204" pitchFamily="34" charset="0"/>
                <a:cs typeface="Arial" panose="020B0604020202020204" pitchFamily="34" charset="0"/>
              </a:rPr>
              <a:t>Executive Summary</a:t>
            </a:r>
          </a:p>
        </p:txBody>
      </p:sp>
      <p:sp>
        <p:nvSpPr>
          <p:cNvPr id="7" name="TextBox 6">
            <a:extLst>
              <a:ext uri="{FF2B5EF4-FFF2-40B4-BE49-F238E27FC236}">
                <a16:creationId xmlns:a16="http://schemas.microsoft.com/office/drawing/2014/main" id="{C541EFD0-36A4-A450-E728-17FE6C7E6CEB}"/>
              </a:ext>
            </a:extLst>
          </p:cNvPr>
          <p:cNvSpPr txBox="1"/>
          <p:nvPr userDrawn="1"/>
        </p:nvSpPr>
        <p:spPr>
          <a:xfrm>
            <a:off x="3819675" y="169777"/>
            <a:ext cx="262371" cy="400110"/>
          </a:xfrm>
          <a:prstGeom prst="rect">
            <a:avLst/>
          </a:prstGeom>
          <a:noFill/>
        </p:spPr>
        <p:txBody>
          <a:bodyPr wrap="square" rtlCol="0">
            <a:spAutoFit/>
          </a:bodyPr>
          <a:lstStyle/>
          <a:p>
            <a:pPr algn="l"/>
            <a:r>
              <a:rPr lang="en-US" sz="2000" b="0">
                <a:latin typeface="Arial" panose="020B0604020202020204" pitchFamily="34" charset="0"/>
                <a:cs typeface="Arial" panose="020B0604020202020204" pitchFamily="34" charset="0"/>
              </a:rPr>
              <a:t>|</a:t>
            </a:r>
            <a:endParaRPr lang="en-US" sz="2000" b="1">
              <a:solidFill>
                <a:schemeClr val="tx1"/>
              </a:solidFill>
              <a:latin typeface="Arial" panose="020B0604020202020204" pitchFamily="34" charset="0"/>
              <a:cs typeface="Arial" panose="020B0604020202020204" pitchFamily="34" charset="0"/>
            </a:endParaRPr>
          </a:p>
        </p:txBody>
      </p:sp>
      <p:sp>
        <p:nvSpPr>
          <p:cNvPr id="8" name="Text Placeholder 17">
            <a:extLst>
              <a:ext uri="{FF2B5EF4-FFF2-40B4-BE49-F238E27FC236}">
                <a16:creationId xmlns:a16="http://schemas.microsoft.com/office/drawing/2014/main" id="{4E814CF0-3259-14A7-E507-5949F673612F}"/>
              </a:ext>
            </a:extLst>
          </p:cNvPr>
          <p:cNvSpPr>
            <a:spLocks noGrp="1"/>
          </p:cNvSpPr>
          <p:nvPr>
            <p:ph type="body" sz="quarter" idx="14" hasCustomPrompt="1"/>
          </p:nvPr>
        </p:nvSpPr>
        <p:spPr>
          <a:xfrm>
            <a:off x="3967053" y="228719"/>
            <a:ext cx="8204662" cy="357794"/>
          </a:xfrm>
        </p:spPr>
        <p:txBody>
          <a:bodyPr/>
          <a:lstStyle>
            <a:lvl1pPr marL="0" indent="0">
              <a:buNone/>
              <a:defRPr sz="2000">
                <a:latin typeface="Arial" panose="020B0604020202020204" pitchFamily="34" charset="0"/>
                <a:cs typeface="Arial" panose="020B0604020202020204" pitchFamily="34" charset="0"/>
              </a:defRPr>
            </a:lvl1pPr>
            <a:lvl2pPr marL="457200" indent="0">
              <a:buNone/>
              <a:defRPr/>
            </a:lvl2pPr>
          </a:lstStyle>
          <a:p>
            <a:pPr lvl="0"/>
            <a:r>
              <a:rPr lang="en-US"/>
              <a:t>Deal Name</a:t>
            </a:r>
          </a:p>
        </p:txBody>
      </p:sp>
      <p:sp>
        <p:nvSpPr>
          <p:cNvPr id="11" name="Picture Placeholder 10">
            <a:extLst>
              <a:ext uri="{FF2B5EF4-FFF2-40B4-BE49-F238E27FC236}">
                <a16:creationId xmlns:a16="http://schemas.microsoft.com/office/drawing/2014/main" id="{2D3D1D8C-B6D2-46CF-5094-8E6F871C6323}"/>
              </a:ext>
            </a:extLst>
          </p:cNvPr>
          <p:cNvSpPr>
            <a:spLocks noGrp="1"/>
          </p:cNvSpPr>
          <p:nvPr>
            <p:ph type="pic" sz="quarter" idx="15" hasCustomPrompt="1"/>
          </p:nvPr>
        </p:nvSpPr>
        <p:spPr>
          <a:xfrm>
            <a:off x="6935788" y="994315"/>
            <a:ext cx="5235575" cy="5291138"/>
          </a:xfrm>
        </p:spPr>
        <p:txBody>
          <a:bodyPr>
            <a:normAutofit/>
          </a:bodyPr>
          <a:lstStyle>
            <a:lvl1pPr>
              <a:defRPr sz="1000" b="0" u="none">
                <a:latin typeface="Arial" panose="020B0604020202020204" pitchFamily="34" charset="0"/>
                <a:cs typeface="Arial" panose="020B0604020202020204" pitchFamily="34" charset="0"/>
              </a:defRPr>
            </a:lvl1pPr>
          </a:lstStyle>
          <a:p>
            <a:r>
              <a:rPr lang="en-US" sz="1000"/>
              <a:t>Map</a:t>
            </a:r>
          </a:p>
        </p:txBody>
      </p:sp>
      <p:sp>
        <p:nvSpPr>
          <p:cNvPr id="12" name="Table Placeholder 24">
            <a:extLst>
              <a:ext uri="{FF2B5EF4-FFF2-40B4-BE49-F238E27FC236}">
                <a16:creationId xmlns:a16="http://schemas.microsoft.com/office/drawing/2014/main" id="{D4E3CA29-B075-98AF-3112-2330664AA72C}"/>
              </a:ext>
            </a:extLst>
          </p:cNvPr>
          <p:cNvSpPr>
            <a:spLocks noGrp="1"/>
          </p:cNvSpPr>
          <p:nvPr>
            <p:ph type="tbl" sz="quarter" idx="16" hasCustomPrompt="1"/>
          </p:nvPr>
        </p:nvSpPr>
        <p:spPr>
          <a:xfrm>
            <a:off x="392114" y="3985404"/>
            <a:ext cx="6370995" cy="2300049"/>
          </a:xfrm>
        </p:spPr>
        <p:txBody>
          <a:bodyPr>
            <a:normAutofit/>
          </a:bodyPr>
          <a:lstStyle>
            <a:lvl1pPr>
              <a:defRPr sz="1000">
                <a:latin typeface="Arial" panose="020B0604020202020204" pitchFamily="34" charset="0"/>
                <a:cs typeface="Arial" panose="020B0604020202020204" pitchFamily="34" charset="0"/>
              </a:defRPr>
            </a:lvl1pPr>
          </a:lstStyle>
          <a:p>
            <a:r>
              <a:rPr lang="en-US" sz="1000">
                <a:latin typeface="Arial" panose="020B0604020202020204" pitchFamily="34" charset="0"/>
                <a:cs typeface="Arial" panose="020B0604020202020204" pitchFamily="34" charset="0"/>
              </a:rPr>
              <a:t>Table</a:t>
            </a:r>
            <a:endParaRPr lang="en-US"/>
          </a:p>
        </p:txBody>
      </p:sp>
      <p:sp>
        <p:nvSpPr>
          <p:cNvPr id="15" name="Text Placeholder 26">
            <a:extLst>
              <a:ext uri="{FF2B5EF4-FFF2-40B4-BE49-F238E27FC236}">
                <a16:creationId xmlns:a16="http://schemas.microsoft.com/office/drawing/2014/main" id="{7DFE5F9E-D14C-5337-73B7-874B1B0C6A69}"/>
              </a:ext>
            </a:extLst>
          </p:cNvPr>
          <p:cNvSpPr>
            <a:spLocks noGrp="1"/>
          </p:cNvSpPr>
          <p:nvPr>
            <p:ph type="body" sz="quarter" idx="13" hasCustomPrompt="1"/>
          </p:nvPr>
        </p:nvSpPr>
        <p:spPr>
          <a:xfrm>
            <a:off x="385134" y="1020194"/>
            <a:ext cx="6370995" cy="2766730"/>
          </a:xfrm>
        </p:spPr>
        <p:txBody>
          <a:bodyPr>
            <a:normAutofit/>
          </a:bodyPr>
          <a:lstStyle>
            <a:lvl1pPr>
              <a:defRPr sz="100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Text</a:t>
            </a:r>
          </a:p>
        </p:txBody>
      </p:sp>
    </p:spTree>
    <p:extLst>
      <p:ext uri="{BB962C8B-B14F-4D97-AF65-F5344CB8AC3E}">
        <p14:creationId xmlns:p14="http://schemas.microsoft.com/office/powerpoint/2010/main" val="29187046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E4DE5016-2788-DB03-A98B-AB1EFE97EFEA}"/>
              </a:ext>
            </a:extLst>
          </p:cNvPr>
          <p:cNvSpPr>
            <a:spLocks noGrp="1"/>
          </p:cNvSpPr>
          <p:nvPr>
            <p:ph type="body" sz="quarter" idx="12" hasCustomPrompt="1"/>
          </p:nvPr>
        </p:nvSpPr>
        <p:spPr>
          <a:xfrm>
            <a:off x="392114" y="6483933"/>
            <a:ext cx="10491166" cy="374650"/>
          </a:xfrm>
        </p:spPr>
        <p:txBody>
          <a:bodyPr anchor="t">
            <a:normAutofit/>
          </a:bodyPr>
          <a:lstStyle>
            <a:lvl1pPr marL="228600" indent="-228600">
              <a:lnSpc>
                <a:spcPct val="100000"/>
              </a:lnSpc>
              <a:spcBef>
                <a:spcPts val="0"/>
              </a:spcBef>
              <a:buFont typeface="+mj-lt"/>
              <a:buAutoNum type="arabicPeriod"/>
              <a:defRPr sz="800">
                <a:latin typeface="Arial" panose="020B0604020202020204" pitchFamily="34" charset="0"/>
                <a:cs typeface="Arial" panose="020B0604020202020204" pitchFamily="34" charset="0"/>
              </a:defRPr>
            </a:lvl1pPr>
          </a:lstStyle>
          <a:p>
            <a:pPr lvl="0"/>
            <a:r>
              <a:rPr lang="en-US"/>
              <a:t>Footer</a:t>
            </a:r>
          </a:p>
        </p:txBody>
      </p:sp>
      <p:sp>
        <p:nvSpPr>
          <p:cNvPr id="14" name="Rectangle 7">
            <a:extLst>
              <a:ext uri="{FF2B5EF4-FFF2-40B4-BE49-F238E27FC236}">
                <a16:creationId xmlns:a16="http://schemas.microsoft.com/office/drawing/2014/main" id="{97F4A706-0F4D-4706-A9FB-B9355F5842B6}"/>
              </a:ext>
            </a:extLst>
          </p:cNvPr>
          <p:cNvSpPr/>
          <p:nvPr userDrawn="1"/>
        </p:nvSpPr>
        <p:spPr>
          <a:xfrm>
            <a:off x="0" y="673298"/>
            <a:ext cx="10491849" cy="235155"/>
          </a:xfrm>
          <a:custGeom>
            <a:avLst/>
            <a:gdLst>
              <a:gd name="connsiteX0" fmla="*/ 0 w 10629900"/>
              <a:gd name="connsiteY0" fmla="*/ 0 h 365125"/>
              <a:gd name="connsiteX1" fmla="*/ 10629900 w 10629900"/>
              <a:gd name="connsiteY1" fmla="*/ 0 h 365125"/>
              <a:gd name="connsiteX2" fmla="*/ 10629900 w 10629900"/>
              <a:gd name="connsiteY2" fmla="*/ 365125 h 365125"/>
              <a:gd name="connsiteX3" fmla="*/ 0 w 10629900"/>
              <a:gd name="connsiteY3" fmla="*/ 365125 h 365125"/>
              <a:gd name="connsiteX4" fmla="*/ 0 w 10629900"/>
              <a:gd name="connsiteY4" fmla="*/ 0 h 365125"/>
              <a:gd name="connsiteX0" fmla="*/ 0 w 10629900"/>
              <a:gd name="connsiteY0" fmla="*/ 0 h 365125"/>
              <a:gd name="connsiteX1" fmla="*/ 10629900 w 10629900"/>
              <a:gd name="connsiteY1" fmla="*/ 0 h 365125"/>
              <a:gd name="connsiteX2" fmla="*/ 10077450 w 10629900"/>
              <a:gd name="connsiteY2" fmla="*/ 355600 h 365125"/>
              <a:gd name="connsiteX3" fmla="*/ 0 w 10629900"/>
              <a:gd name="connsiteY3" fmla="*/ 365125 h 365125"/>
              <a:gd name="connsiteX4" fmla="*/ 0 w 10629900"/>
              <a:gd name="connsiteY4" fmla="*/ 0 h 36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9900" h="365125">
                <a:moveTo>
                  <a:pt x="0" y="0"/>
                </a:moveTo>
                <a:lnTo>
                  <a:pt x="10629900" y="0"/>
                </a:lnTo>
                <a:lnTo>
                  <a:pt x="10077450" y="355600"/>
                </a:lnTo>
                <a:lnTo>
                  <a:pt x="0" y="365125"/>
                </a:lnTo>
                <a:lnTo>
                  <a:pt x="0" y="0"/>
                </a:lnTo>
                <a:close/>
              </a:path>
            </a:pathLst>
          </a:custGeom>
          <a:solidFill>
            <a:schemeClr val="accent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D95C57-D0F9-4D39-81D4-8BE1F77E0553}"/>
              </a:ext>
            </a:extLst>
          </p:cNvPr>
          <p:cNvSpPr>
            <a:spLocks noGrp="1"/>
          </p:cNvSpPr>
          <p:nvPr>
            <p:ph type="title" hasCustomPrompt="1"/>
          </p:nvPr>
        </p:nvSpPr>
        <p:spPr>
          <a:xfrm>
            <a:off x="333375" y="105971"/>
            <a:ext cx="11125200" cy="496493"/>
          </a:xfrm>
          <a:prstGeom prst="rect">
            <a:avLst/>
          </a:prstGeom>
        </p:spPr>
        <p:txBody>
          <a:bodyPr anchor="ctr"/>
          <a:lstStyle>
            <a:lvl1pPr algn="l">
              <a:defRPr sz="2800" b="1">
                <a:solidFill>
                  <a:schemeClr val="tx1"/>
                </a:solidFill>
                <a:latin typeface="Arial" panose="020B0604020202020204" pitchFamily="34" charset="0"/>
                <a:cs typeface="Arial" panose="020B0604020202020204" pitchFamily="34" charset="0"/>
              </a:defRPr>
            </a:lvl1pPr>
          </a:lstStyle>
          <a:p>
            <a:r>
              <a:rPr lang="en-US"/>
              <a:t>Click to Edit</a:t>
            </a:r>
          </a:p>
        </p:txBody>
      </p:sp>
      <p:cxnSp>
        <p:nvCxnSpPr>
          <p:cNvPr id="9" name="Straight Connector 8">
            <a:extLst>
              <a:ext uri="{FF2B5EF4-FFF2-40B4-BE49-F238E27FC236}">
                <a16:creationId xmlns:a16="http://schemas.microsoft.com/office/drawing/2014/main" id="{5AEF7DA6-42FA-443D-82FD-DDB40A0BB056}"/>
              </a:ext>
            </a:extLst>
          </p:cNvPr>
          <p:cNvCxnSpPr/>
          <p:nvPr userDrawn="1"/>
        </p:nvCxnSpPr>
        <p:spPr>
          <a:xfrm>
            <a:off x="0" y="623328"/>
            <a:ext cx="12192000" cy="0"/>
          </a:xfrm>
          <a:prstGeom prst="line">
            <a:avLst/>
          </a:prstGeom>
          <a:ln w="28575">
            <a:solidFill>
              <a:srgbClr val="34364C"/>
            </a:solidFill>
          </a:ln>
        </p:spPr>
        <p:style>
          <a:lnRef idx="1">
            <a:schemeClr val="accent1"/>
          </a:lnRef>
          <a:fillRef idx="0">
            <a:schemeClr val="accent1"/>
          </a:fillRef>
          <a:effectRef idx="0">
            <a:schemeClr val="accent1"/>
          </a:effectRef>
          <a:fontRef idx="minor">
            <a:schemeClr val="tx1"/>
          </a:fontRef>
        </p:style>
      </p:cxnSp>
      <p:sp>
        <p:nvSpPr>
          <p:cNvPr id="3" name="Slide Number Placeholder 1">
            <a:extLst>
              <a:ext uri="{FF2B5EF4-FFF2-40B4-BE49-F238E27FC236}">
                <a16:creationId xmlns:a16="http://schemas.microsoft.com/office/drawing/2014/main" id="{C0264C16-D2DF-5B85-D3C4-B1B07C55B97B}"/>
              </a:ext>
            </a:extLst>
          </p:cNvPr>
          <p:cNvSpPr txBox="1">
            <a:spLocks/>
          </p:cNvSpPr>
          <p:nvPr userDrawn="1"/>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19BDD-DD89-4CD9-A1F3-D76BEB018B7B}" type="slidenum">
              <a:rPr lang="en-US" sz="1000" smtClean="0">
                <a:latin typeface="Arial" panose="020B0604020202020204" pitchFamily="34" charset="0"/>
                <a:cs typeface="Arial" panose="020B0604020202020204" pitchFamily="34" charset="0"/>
              </a:rPr>
              <a:pPr/>
              <a:t>‹#›</a:t>
            </a:fld>
            <a:endParaRPr lang="en-US" sz="1000">
              <a:latin typeface="Arial" panose="020B0604020202020204" pitchFamily="34" charset="0"/>
              <a:cs typeface="Arial" panose="020B0604020202020204" pitchFamily="34" charset="0"/>
            </a:endParaRPr>
          </a:p>
        </p:txBody>
      </p:sp>
      <p:sp>
        <p:nvSpPr>
          <p:cNvPr id="4" name="Text Placeholder 5">
            <a:extLst>
              <a:ext uri="{FF2B5EF4-FFF2-40B4-BE49-F238E27FC236}">
                <a16:creationId xmlns:a16="http://schemas.microsoft.com/office/drawing/2014/main" id="{67327E0A-AA77-332B-50FA-A6E8C02501F8}"/>
              </a:ext>
            </a:extLst>
          </p:cNvPr>
          <p:cNvSpPr>
            <a:spLocks noGrp="1"/>
          </p:cNvSpPr>
          <p:nvPr>
            <p:ph type="body" sz="quarter" idx="13"/>
          </p:nvPr>
        </p:nvSpPr>
        <p:spPr>
          <a:xfrm>
            <a:off x="385134" y="1020194"/>
            <a:ext cx="6370995" cy="2766730"/>
          </a:xfrm>
        </p:spPr>
        <p:txBody>
          <a:bodyPr>
            <a:normAutofit/>
          </a:bodyPr>
          <a:lstStyle>
            <a:lvl1pPr>
              <a:defRPr sz="1000">
                <a:latin typeface="Arial" panose="020B0604020202020204" pitchFamily="34" charset="0"/>
                <a:cs typeface="Arial" panose="020B0604020202020204" pitchFamily="34" charset="0"/>
              </a:defRPr>
            </a:lvl1pPr>
          </a:lstStyle>
          <a:p>
            <a:endParaRPr lang="en-US"/>
          </a:p>
        </p:txBody>
      </p:sp>
    </p:spTree>
    <p:extLst>
      <p:ext uri="{BB962C8B-B14F-4D97-AF65-F5344CB8AC3E}">
        <p14:creationId xmlns:p14="http://schemas.microsoft.com/office/powerpoint/2010/main" val="3083418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ell Details">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E4DE5016-2788-DB03-A98B-AB1EFE97EFEA}"/>
              </a:ext>
            </a:extLst>
          </p:cNvPr>
          <p:cNvSpPr>
            <a:spLocks noGrp="1"/>
          </p:cNvSpPr>
          <p:nvPr>
            <p:ph type="body" sz="quarter" idx="12" hasCustomPrompt="1"/>
          </p:nvPr>
        </p:nvSpPr>
        <p:spPr>
          <a:xfrm>
            <a:off x="392114" y="6483933"/>
            <a:ext cx="10491166" cy="374650"/>
          </a:xfrm>
        </p:spPr>
        <p:txBody>
          <a:bodyPr anchor="t">
            <a:normAutofit/>
          </a:bodyPr>
          <a:lstStyle>
            <a:lvl1pPr marL="228600" indent="-228600">
              <a:lnSpc>
                <a:spcPct val="100000"/>
              </a:lnSpc>
              <a:spcBef>
                <a:spcPts val="0"/>
              </a:spcBef>
              <a:buFont typeface="+mj-lt"/>
              <a:buAutoNum type="arabicPeriod"/>
              <a:defRPr sz="800">
                <a:latin typeface="Arial" panose="020B0604020202020204" pitchFamily="34" charset="0"/>
                <a:cs typeface="Arial" panose="020B0604020202020204" pitchFamily="34" charset="0"/>
              </a:defRPr>
            </a:lvl1pPr>
          </a:lstStyle>
          <a:p>
            <a:pPr lvl="0"/>
            <a:r>
              <a:rPr lang="en-US"/>
              <a:t>Footer</a:t>
            </a:r>
          </a:p>
        </p:txBody>
      </p:sp>
      <p:sp>
        <p:nvSpPr>
          <p:cNvPr id="14" name="Rectangle 7">
            <a:extLst>
              <a:ext uri="{FF2B5EF4-FFF2-40B4-BE49-F238E27FC236}">
                <a16:creationId xmlns:a16="http://schemas.microsoft.com/office/drawing/2014/main" id="{97F4A706-0F4D-4706-A9FB-B9355F5842B6}"/>
              </a:ext>
            </a:extLst>
          </p:cNvPr>
          <p:cNvSpPr/>
          <p:nvPr userDrawn="1"/>
        </p:nvSpPr>
        <p:spPr>
          <a:xfrm>
            <a:off x="0" y="673298"/>
            <a:ext cx="10491849" cy="235155"/>
          </a:xfrm>
          <a:custGeom>
            <a:avLst/>
            <a:gdLst>
              <a:gd name="connsiteX0" fmla="*/ 0 w 10629900"/>
              <a:gd name="connsiteY0" fmla="*/ 0 h 365125"/>
              <a:gd name="connsiteX1" fmla="*/ 10629900 w 10629900"/>
              <a:gd name="connsiteY1" fmla="*/ 0 h 365125"/>
              <a:gd name="connsiteX2" fmla="*/ 10629900 w 10629900"/>
              <a:gd name="connsiteY2" fmla="*/ 365125 h 365125"/>
              <a:gd name="connsiteX3" fmla="*/ 0 w 10629900"/>
              <a:gd name="connsiteY3" fmla="*/ 365125 h 365125"/>
              <a:gd name="connsiteX4" fmla="*/ 0 w 10629900"/>
              <a:gd name="connsiteY4" fmla="*/ 0 h 365125"/>
              <a:gd name="connsiteX0" fmla="*/ 0 w 10629900"/>
              <a:gd name="connsiteY0" fmla="*/ 0 h 365125"/>
              <a:gd name="connsiteX1" fmla="*/ 10629900 w 10629900"/>
              <a:gd name="connsiteY1" fmla="*/ 0 h 365125"/>
              <a:gd name="connsiteX2" fmla="*/ 10077450 w 10629900"/>
              <a:gd name="connsiteY2" fmla="*/ 355600 h 365125"/>
              <a:gd name="connsiteX3" fmla="*/ 0 w 10629900"/>
              <a:gd name="connsiteY3" fmla="*/ 365125 h 365125"/>
              <a:gd name="connsiteX4" fmla="*/ 0 w 10629900"/>
              <a:gd name="connsiteY4" fmla="*/ 0 h 36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9900" h="365125">
                <a:moveTo>
                  <a:pt x="0" y="0"/>
                </a:moveTo>
                <a:lnTo>
                  <a:pt x="10629900" y="0"/>
                </a:lnTo>
                <a:lnTo>
                  <a:pt x="10077450" y="355600"/>
                </a:lnTo>
                <a:lnTo>
                  <a:pt x="0" y="365125"/>
                </a:lnTo>
                <a:lnTo>
                  <a:pt x="0" y="0"/>
                </a:lnTo>
                <a:close/>
              </a:path>
            </a:pathLst>
          </a:custGeom>
          <a:solidFill>
            <a:schemeClr val="accent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5AEF7DA6-42FA-443D-82FD-DDB40A0BB056}"/>
              </a:ext>
            </a:extLst>
          </p:cNvPr>
          <p:cNvCxnSpPr/>
          <p:nvPr userDrawn="1"/>
        </p:nvCxnSpPr>
        <p:spPr>
          <a:xfrm>
            <a:off x="0" y="623328"/>
            <a:ext cx="12192000" cy="0"/>
          </a:xfrm>
          <a:prstGeom prst="line">
            <a:avLst/>
          </a:prstGeom>
          <a:ln w="28575">
            <a:solidFill>
              <a:srgbClr val="34364C"/>
            </a:solidFill>
          </a:ln>
        </p:spPr>
        <p:style>
          <a:lnRef idx="1">
            <a:schemeClr val="accent1"/>
          </a:lnRef>
          <a:fillRef idx="0">
            <a:schemeClr val="accent1"/>
          </a:fillRef>
          <a:effectRef idx="0">
            <a:schemeClr val="accent1"/>
          </a:effectRef>
          <a:fontRef idx="minor">
            <a:schemeClr val="tx1"/>
          </a:fontRef>
        </p:style>
      </p:cxnSp>
      <p:sp>
        <p:nvSpPr>
          <p:cNvPr id="3" name="Slide Number Placeholder 1">
            <a:extLst>
              <a:ext uri="{FF2B5EF4-FFF2-40B4-BE49-F238E27FC236}">
                <a16:creationId xmlns:a16="http://schemas.microsoft.com/office/drawing/2014/main" id="{C0264C16-D2DF-5B85-D3C4-B1B07C55B97B}"/>
              </a:ext>
            </a:extLst>
          </p:cNvPr>
          <p:cNvSpPr txBox="1">
            <a:spLocks/>
          </p:cNvSpPr>
          <p:nvPr userDrawn="1"/>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19BDD-DD89-4CD9-A1F3-D76BEB018B7B}" type="slidenum">
              <a:rPr lang="en-US" sz="1000" smtClean="0">
                <a:latin typeface="Arial" panose="020B0604020202020204" pitchFamily="34" charset="0"/>
                <a:cs typeface="Arial" panose="020B0604020202020204" pitchFamily="34" charset="0"/>
              </a:rPr>
              <a:pPr/>
              <a:t>‹#›</a:t>
            </a:fld>
            <a:endParaRPr lang="en-US" sz="1000">
              <a:latin typeface="Arial" panose="020B0604020202020204" pitchFamily="34" charset="0"/>
              <a:cs typeface="Arial" panose="020B0604020202020204" pitchFamily="34" charset="0"/>
            </a:endParaRPr>
          </a:p>
        </p:txBody>
      </p:sp>
      <p:sp>
        <p:nvSpPr>
          <p:cNvPr id="4" name="Rectangle 7">
            <a:extLst>
              <a:ext uri="{FF2B5EF4-FFF2-40B4-BE49-F238E27FC236}">
                <a16:creationId xmlns:a16="http://schemas.microsoft.com/office/drawing/2014/main" id="{64FA3D60-430C-AB99-ADFF-A7A254F13762}"/>
              </a:ext>
            </a:extLst>
          </p:cNvPr>
          <p:cNvSpPr/>
          <p:nvPr userDrawn="1"/>
        </p:nvSpPr>
        <p:spPr>
          <a:xfrm>
            <a:off x="0" y="673298"/>
            <a:ext cx="10491849" cy="235155"/>
          </a:xfrm>
          <a:custGeom>
            <a:avLst/>
            <a:gdLst>
              <a:gd name="connsiteX0" fmla="*/ 0 w 10629900"/>
              <a:gd name="connsiteY0" fmla="*/ 0 h 365125"/>
              <a:gd name="connsiteX1" fmla="*/ 10629900 w 10629900"/>
              <a:gd name="connsiteY1" fmla="*/ 0 h 365125"/>
              <a:gd name="connsiteX2" fmla="*/ 10629900 w 10629900"/>
              <a:gd name="connsiteY2" fmla="*/ 365125 h 365125"/>
              <a:gd name="connsiteX3" fmla="*/ 0 w 10629900"/>
              <a:gd name="connsiteY3" fmla="*/ 365125 h 365125"/>
              <a:gd name="connsiteX4" fmla="*/ 0 w 10629900"/>
              <a:gd name="connsiteY4" fmla="*/ 0 h 365125"/>
              <a:gd name="connsiteX0" fmla="*/ 0 w 10629900"/>
              <a:gd name="connsiteY0" fmla="*/ 0 h 365125"/>
              <a:gd name="connsiteX1" fmla="*/ 10629900 w 10629900"/>
              <a:gd name="connsiteY1" fmla="*/ 0 h 365125"/>
              <a:gd name="connsiteX2" fmla="*/ 10077450 w 10629900"/>
              <a:gd name="connsiteY2" fmla="*/ 355600 h 365125"/>
              <a:gd name="connsiteX3" fmla="*/ 0 w 10629900"/>
              <a:gd name="connsiteY3" fmla="*/ 365125 h 365125"/>
              <a:gd name="connsiteX4" fmla="*/ 0 w 10629900"/>
              <a:gd name="connsiteY4" fmla="*/ 0 h 36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9900" h="365125">
                <a:moveTo>
                  <a:pt x="0" y="0"/>
                </a:moveTo>
                <a:lnTo>
                  <a:pt x="10629900" y="0"/>
                </a:lnTo>
                <a:lnTo>
                  <a:pt x="10077450" y="355600"/>
                </a:lnTo>
                <a:lnTo>
                  <a:pt x="0" y="365125"/>
                </a:lnTo>
                <a:lnTo>
                  <a:pt x="0" y="0"/>
                </a:lnTo>
                <a:close/>
              </a:path>
            </a:pathLst>
          </a:custGeom>
          <a:solidFill>
            <a:schemeClr val="accent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6F1D922F-995F-7FF0-F91E-30F742E8759E}"/>
              </a:ext>
            </a:extLst>
          </p:cNvPr>
          <p:cNvCxnSpPr/>
          <p:nvPr userDrawn="1"/>
        </p:nvCxnSpPr>
        <p:spPr>
          <a:xfrm>
            <a:off x="0" y="623328"/>
            <a:ext cx="12192000" cy="0"/>
          </a:xfrm>
          <a:prstGeom prst="line">
            <a:avLst/>
          </a:prstGeom>
          <a:ln w="28575">
            <a:solidFill>
              <a:srgbClr val="3436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B2526F0-0C04-4EEA-EA6D-BA066C6F8EC0}"/>
              </a:ext>
            </a:extLst>
          </p:cNvPr>
          <p:cNvSpPr txBox="1"/>
          <p:nvPr userDrawn="1"/>
        </p:nvSpPr>
        <p:spPr>
          <a:xfrm>
            <a:off x="333375" y="73388"/>
            <a:ext cx="2318770" cy="523220"/>
          </a:xfrm>
          <a:prstGeom prst="rect">
            <a:avLst/>
          </a:prstGeom>
          <a:noFill/>
        </p:spPr>
        <p:txBody>
          <a:bodyPr wrap="square" rtlCol="0">
            <a:spAutoFit/>
          </a:bodyPr>
          <a:lstStyle/>
          <a:p>
            <a:pPr algn="l"/>
            <a:r>
              <a:rPr lang="en-US" sz="2800" b="1">
                <a:solidFill>
                  <a:schemeClr val="tx1"/>
                </a:solidFill>
                <a:latin typeface="Arial" panose="020B0604020202020204" pitchFamily="34" charset="0"/>
                <a:cs typeface="Arial" panose="020B0604020202020204" pitchFamily="34" charset="0"/>
              </a:rPr>
              <a:t>Well Details</a:t>
            </a:r>
          </a:p>
        </p:txBody>
      </p:sp>
      <p:sp>
        <p:nvSpPr>
          <p:cNvPr id="7" name="TextBox 6">
            <a:extLst>
              <a:ext uri="{FF2B5EF4-FFF2-40B4-BE49-F238E27FC236}">
                <a16:creationId xmlns:a16="http://schemas.microsoft.com/office/drawing/2014/main" id="{C541EFD0-36A4-A450-E728-17FE6C7E6CEB}"/>
              </a:ext>
            </a:extLst>
          </p:cNvPr>
          <p:cNvSpPr txBox="1"/>
          <p:nvPr userDrawn="1"/>
        </p:nvSpPr>
        <p:spPr>
          <a:xfrm>
            <a:off x="2433487" y="169777"/>
            <a:ext cx="262371" cy="400110"/>
          </a:xfrm>
          <a:prstGeom prst="rect">
            <a:avLst/>
          </a:prstGeom>
          <a:noFill/>
        </p:spPr>
        <p:txBody>
          <a:bodyPr wrap="square" rtlCol="0">
            <a:spAutoFit/>
          </a:bodyPr>
          <a:lstStyle/>
          <a:p>
            <a:pPr algn="l"/>
            <a:r>
              <a:rPr lang="en-US" sz="2000" b="0">
                <a:latin typeface="Arial" panose="020B0604020202020204" pitchFamily="34" charset="0"/>
                <a:cs typeface="Arial" panose="020B0604020202020204" pitchFamily="34" charset="0"/>
              </a:rPr>
              <a:t>|</a:t>
            </a:r>
            <a:endParaRPr lang="en-US" sz="2000" b="1">
              <a:solidFill>
                <a:schemeClr val="tx1"/>
              </a:solidFill>
              <a:latin typeface="Arial" panose="020B0604020202020204" pitchFamily="34" charset="0"/>
              <a:cs typeface="Arial" panose="020B0604020202020204" pitchFamily="34" charset="0"/>
            </a:endParaRPr>
          </a:p>
        </p:txBody>
      </p:sp>
      <p:sp>
        <p:nvSpPr>
          <p:cNvPr id="8" name="Text Placeholder 17">
            <a:extLst>
              <a:ext uri="{FF2B5EF4-FFF2-40B4-BE49-F238E27FC236}">
                <a16:creationId xmlns:a16="http://schemas.microsoft.com/office/drawing/2014/main" id="{4E814CF0-3259-14A7-E507-5949F673612F}"/>
              </a:ext>
            </a:extLst>
          </p:cNvPr>
          <p:cNvSpPr>
            <a:spLocks noGrp="1"/>
          </p:cNvSpPr>
          <p:nvPr>
            <p:ph type="body" sz="quarter" idx="14" hasCustomPrompt="1"/>
          </p:nvPr>
        </p:nvSpPr>
        <p:spPr>
          <a:xfrm>
            <a:off x="2580865" y="228719"/>
            <a:ext cx="8204662" cy="357794"/>
          </a:xfrm>
        </p:spPr>
        <p:txBody>
          <a:bodyPr/>
          <a:lstStyle>
            <a:lvl1pPr marL="0" indent="0">
              <a:buNone/>
              <a:defRPr sz="2000">
                <a:latin typeface="Arial" panose="020B0604020202020204" pitchFamily="34" charset="0"/>
                <a:cs typeface="Arial" panose="020B0604020202020204" pitchFamily="34" charset="0"/>
              </a:defRPr>
            </a:lvl1pPr>
            <a:lvl2pPr marL="457200" indent="0">
              <a:buNone/>
              <a:defRPr/>
            </a:lvl2pPr>
          </a:lstStyle>
          <a:p>
            <a:pPr lvl="0"/>
            <a:r>
              <a:rPr lang="en-US"/>
              <a:t>Deal Name</a:t>
            </a:r>
          </a:p>
        </p:txBody>
      </p:sp>
      <p:sp>
        <p:nvSpPr>
          <p:cNvPr id="10" name="Picture Placeholder 10">
            <a:extLst>
              <a:ext uri="{FF2B5EF4-FFF2-40B4-BE49-F238E27FC236}">
                <a16:creationId xmlns:a16="http://schemas.microsoft.com/office/drawing/2014/main" id="{F2411997-20E4-9904-E10B-1FBF468BA801}"/>
              </a:ext>
            </a:extLst>
          </p:cNvPr>
          <p:cNvSpPr>
            <a:spLocks noGrp="1"/>
          </p:cNvSpPr>
          <p:nvPr>
            <p:ph type="pic" sz="quarter" idx="15" hasCustomPrompt="1"/>
          </p:nvPr>
        </p:nvSpPr>
        <p:spPr>
          <a:xfrm>
            <a:off x="8348870" y="994314"/>
            <a:ext cx="3041373" cy="2931639"/>
          </a:xfrm>
        </p:spPr>
        <p:txBody>
          <a:bodyPr>
            <a:normAutofit/>
          </a:bodyPr>
          <a:lstStyle>
            <a:lvl1pPr>
              <a:defRPr sz="1000">
                <a:latin typeface="Arial" panose="020B0604020202020204" pitchFamily="34" charset="0"/>
                <a:cs typeface="Arial" panose="020B0604020202020204" pitchFamily="34" charset="0"/>
              </a:defRPr>
            </a:lvl1pPr>
          </a:lstStyle>
          <a:p>
            <a:r>
              <a:rPr lang="en-US" sz="1000"/>
              <a:t>Map</a:t>
            </a:r>
            <a:endParaRPr lang="en-US"/>
          </a:p>
        </p:txBody>
      </p:sp>
      <p:sp>
        <p:nvSpPr>
          <p:cNvPr id="2" name="Table Placeholder 24">
            <a:extLst>
              <a:ext uri="{FF2B5EF4-FFF2-40B4-BE49-F238E27FC236}">
                <a16:creationId xmlns:a16="http://schemas.microsoft.com/office/drawing/2014/main" id="{1C334CB3-C4D5-4CA4-C89E-837C52AE85F7}"/>
              </a:ext>
            </a:extLst>
          </p:cNvPr>
          <p:cNvSpPr>
            <a:spLocks noGrp="1"/>
          </p:cNvSpPr>
          <p:nvPr>
            <p:ph type="tbl" sz="quarter" idx="16" hasCustomPrompt="1"/>
          </p:nvPr>
        </p:nvSpPr>
        <p:spPr>
          <a:xfrm>
            <a:off x="384163" y="4304852"/>
            <a:ext cx="11463280" cy="1893957"/>
          </a:xfrm>
        </p:spPr>
        <p:txBody>
          <a:bodyPr>
            <a:normAutofit/>
          </a:bodyPr>
          <a:lstStyle>
            <a:lvl1pPr>
              <a:defRPr sz="1000">
                <a:latin typeface="Arial" panose="020B0604020202020204" pitchFamily="34" charset="0"/>
                <a:cs typeface="Arial" panose="020B0604020202020204" pitchFamily="34" charset="0"/>
              </a:defRPr>
            </a:lvl1pPr>
          </a:lstStyle>
          <a:p>
            <a:r>
              <a:rPr lang="en-US" sz="1000">
                <a:latin typeface="Arial" panose="020B0604020202020204" pitchFamily="34" charset="0"/>
                <a:cs typeface="Arial" panose="020B0604020202020204" pitchFamily="34" charset="0"/>
              </a:rPr>
              <a:t>Table</a:t>
            </a:r>
            <a:endParaRPr lang="en-US"/>
          </a:p>
        </p:txBody>
      </p:sp>
      <p:sp>
        <p:nvSpPr>
          <p:cNvPr id="11" name="Table Placeholder 24">
            <a:extLst>
              <a:ext uri="{FF2B5EF4-FFF2-40B4-BE49-F238E27FC236}">
                <a16:creationId xmlns:a16="http://schemas.microsoft.com/office/drawing/2014/main" id="{D854AA18-C4BD-6481-92F2-4066C7C746D8}"/>
              </a:ext>
            </a:extLst>
          </p:cNvPr>
          <p:cNvSpPr>
            <a:spLocks noGrp="1"/>
          </p:cNvSpPr>
          <p:nvPr>
            <p:ph type="tbl" sz="quarter" idx="17" hasCustomPrompt="1"/>
          </p:nvPr>
        </p:nvSpPr>
        <p:spPr>
          <a:xfrm>
            <a:off x="392114" y="1143825"/>
            <a:ext cx="6227347" cy="2165905"/>
          </a:xfrm>
        </p:spPr>
        <p:txBody>
          <a:bodyPr>
            <a:normAutofit/>
          </a:bodyPr>
          <a:lstStyle>
            <a:lvl1pPr>
              <a:defRPr sz="1000">
                <a:latin typeface="Arial" panose="020B0604020202020204" pitchFamily="34" charset="0"/>
                <a:cs typeface="Arial" panose="020B0604020202020204" pitchFamily="34" charset="0"/>
              </a:defRPr>
            </a:lvl1pPr>
          </a:lstStyle>
          <a:p>
            <a:r>
              <a:rPr lang="en-US" sz="1000">
                <a:latin typeface="Arial" panose="020B0604020202020204" pitchFamily="34" charset="0"/>
                <a:cs typeface="Arial" panose="020B0604020202020204" pitchFamily="34" charset="0"/>
              </a:rPr>
              <a:t>Table</a:t>
            </a:r>
            <a:endParaRPr lang="en-US"/>
          </a:p>
        </p:txBody>
      </p:sp>
    </p:spTree>
    <p:extLst>
      <p:ext uri="{BB962C8B-B14F-4D97-AF65-F5344CB8AC3E}">
        <p14:creationId xmlns:p14="http://schemas.microsoft.com/office/powerpoint/2010/main" val="2084633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eturn Sensitivities: DF">
    <p:spTree>
      <p:nvGrpSpPr>
        <p:cNvPr id="1" name=""/>
        <p:cNvGrpSpPr/>
        <p:nvPr/>
      </p:nvGrpSpPr>
      <p:grpSpPr>
        <a:xfrm>
          <a:off x="0" y="0"/>
          <a:ext cx="0" cy="0"/>
          <a:chOff x="0" y="0"/>
          <a:chExt cx="0" cy="0"/>
        </a:xfrm>
      </p:grpSpPr>
      <p:sp>
        <p:nvSpPr>
          <p:cNvPr id="7" name="Text Placeholder 12">
            <a:extLst>
              <a:ext uri="{FF2B5EF4-FFF2-40B4-BE49-F238E27FC236}">
                <a16:creationId xmlns:a16="http://schemas.microsoft.com/office/drawing/2014/main" id="{1C2ED53A-C13C-2EA5-4B3B-EA65F6C90C36}"/>
              </a:ext>
            </a:extLst>
          </p:cNvPr>
          <p:cNvSpPr>
            <a:spLocks noGrp="1"/>
          </p:cNvSpPr>
          <p:nvPr>
            <p:ph type="body" sz="quarter" idx="15" hasCustomPrompt="1"/>
          </p:nvPr>
        </p:nvSpPr>
        <p:spPr>
          <a:xfrm>
            <a:off x="392114" y="6483933"/>
            <a:ext cx="10491166" cy="374650"/>
          </a:xfrm>
        </p:spPr>
        <p:txBody>
          <a:bodyPr anchor="t">
            <a:normAutofit/>
          </a:bodyPr>
          <a:lstStyle>
            <a:lvl1pPr marL="228600" indent="-228600">
              <a:lnSpc>
                <a:spcPct val="100000"/>
              </a:lnSpc>
              <a:spcBef>
                <a:spcPts val="0"/>
              </a:spcBef>
              <a:buFont typeface="+mj-lt"/>
              <a:buAutoNum type="arabicPeriod"/>
              <a:defRPr sz="800">
                <a:latin typeface="Arial" panose="020B0604020202020204" pitchFamily="34" charset="0"/>
                <a:cs typeface="Arial" panose="020B0604020202020204" pitchFamily="34" charset="0"/>
              </a:defRPr>
            </a:lvl1pPr>
          </a:lstStyle>
          <a:p>
            <a:pPr lvl="0"/>
            <a:r>
              <a:rPr lang="en-US"/>
              <a:t>Footer</a:t>
            </a:r>
          </a:p>
        </p:txBody>
      </p:sp>
      <p:sp>
        <p:nvSpPr>
          <p:cNvPr id="25" name="Table Placeholder 24">
            <a:extLst>
              <a:ext uri="{FF2B5EF4-FFF2-40B4-BE49-F238E27FC236}">
                <a16:creationId xmlns:a16="http://schemas.microsoft.com/office/drawing/2014/main" id="{0DD40676-44B1-FA25-D951-70D1D559754A}"/>
              </a:ext>
            </a:extLst>
          </p:cNvPr>
          <p:cNvSpPr>
            <a:spLocks noGrp="1"/>
          </p:cNvSpPr>
          <p:nvPr>
            <p:ph type="tbl" sz="quarter" idx="12" hasCustomPrompt="1"/>
          </p:nvPr>
        </p:nvSpPr>
        <p:spPr>
          <a:xfrm>
            <a:off x="2968332" y="1296988"/>
            <a:ext cx="8878888" cy="1439251"/>
          </a:xfrm>
        </p:spPr>
        <p:txBody>
          <a:bodyPr>
            <a:normAutofit/>
          </a:bodyPr>
          <a:lstStyle>
            <a:lvl1pPr>
              <a:defRPr sz="1000">
                <a:latin typeface="Arial" panose="020B0604020202020204" pitchFamily="34" charset="0"/>
                <a:cs typeface="Arial" panose="020B0604020202020204" pitchFamily="34" charset="0"/>
              </a:defRPr>
            </a:lvl1pPr>
          </a:lstStyle>
          <a:p>
            <a:r>
              <a:rPr lang="en-US" sz="1000">
                <a:latin typeface="Arial" panose="020B0604020202020204" pitchFamily="34" charset="0"/>
                <a:cs typeface="Arial" panose="020B0604020202020204" pitchFamily="34" charset="0"/>
              </a:rPr>
              <a:t>Table</a:t>
            </a:r>
            <a:endParaRPr lang="en-US"/>
          </a:p>
        </p:txBody>
      </p:sp>
      <p:sp>
        <p:nvSpPr>
          <p:cNvPr id="14" name="Rectangle 7">
            <a:extLst>
              <a:ext uri="{FF2B5EF4-FFF2-40B4-BE49-F238E27FC236}">
                <a16:creationId xmlns:a16="http://schemas.microsoft.com/office/drawing/2014/main" id="{97F4A706-0F4D-4706-A9FB-B9355F5842B6}"/>
              </a:ext>
            </a:extLst>
          </p:cNvPr>
          <p:cNvSpPr/>
          <p:nvPr userDrawn="1"/>
        </p:nvSpPr>
        <p:spPr>
          <a:xfrm>
            <a:off x="0" y="673298"/>
            <a:ext cx="10491849" cy="235155"/>
          </a:xfrm>
          <a:custGeom>
            <a:avLst/>
            <a:gdLst>
              <a:gd name="connsiteX0" fmla="*/ 0 w 10629900"/>
              <a:gd name="connsiteY0" fmla="*/ 0 h 365125"/>
              <a:gd name="connsiteX1" fmla="*/ 10629900 w 10629900"/>
              <a:gd name="connsiteY1" fmla="*/ 0 h 365125"/>
              <a:gd name="connsiteX2" fmla="*/ 10629900 w 10629900"/>
              <a:gd name="connsiteY2" fmla="*/ 365125 h 365125"/>
              <a:gd name="connsiteX3" fmla="*/ 0 w 10629900"/>
              <a:gd name="connsiteY3" fmla="*/ 365125 h 365125"/>
              <a:gd name="connsiteX4" fmla="*/ 0 w 10629900"/>
              <a:gd name="connsiteY4" fmla="*/ 0 h 365125"/>
              <a:gd name="connsiteX0" fmla="*/ 0 w 10629900"/>
              <a:gd name="connsiteY0" fmla="*/ 0 h 365125"/>
              <a:gd name="connsiteX1" fmla="*/ 10629900 w 10629900"/>
              <a:gd name="connsiteY1" fmla="*/ 0 h 365125"/>
              <a:gd name="connsiteX2" fmla="*/ 10077450 w 10629900"/>
              <a:gd name="connsiteY2" fmla="*/ 355600 h 365125"/>
              <a:gd name="connsiteX3" fmla="*/ 0 w 10629900"/>
              <a:gd name="connsiteY3" fmla="*/ 365125 h 365125"/>
              <a:gd name="connsiteX4" fmla="*/ 0 w 10629900"/>
              <a:gd name="connsiteY4" fmla="*/ 0 h 36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9900" h="365125">
                <a:moveTo>
                  <a:pt x="0" y="0"/>
                </a:moveTo>
                <a:lnTo>
                  <a:pt x="10629900" y="0"/>
                </a:lnTo>
                <a:lnTo>
                  <a:pt x="10077450" y="355600"/>
                </a:lnTo>
                <a:lnTo>
                  <a:pt x="0" y="365125"/>
                </a:lnTo>
                <a:lnTo>
                  <a:pt x="0" y="0"/>
                </a:lnTo>
                <a:close/>
              </a:path>
            </a:pathLst>
          </a:custGeom>
          <a:solidFill>
            <a:schemeClr val="accent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D95C57-D0F9-4D39-81D4-8BE1F77E0553}"/>
              </a:ext>
            </a:extLst>
          </p:cNvPr>
          <p:cNvSpPr>
            <a:spLocks noGrp="1"/>
          </p:cNvSpPr>
          <p:nvPr>
            <p:ph type="title" hasCustomPrompt="1"/>
          </p:nvPr>
        </p:nvSpPr>
        <p:spPr>
          <a:xfrm>
            <a:off x="3890357" y="105971"/>
            <a:ext cx="7568218" cy="496493"/>
          </a:xfrm>
          <a:prstGeom prst="rect">
            <a:avLst/>
          </a:prstGeom>
        </p:spPr>
        <p:txBody>
          <a:bodyPr anchor="ctr"/>
          <a:lstStyle>
            <a:lvl1pPr algn="l">
              <a:defRPr sz="2800" b="1">
                <a:solidFill>
                  <a:schemeClr val="tx1"/>
                </a:solidFill>
                <a:latin typeface="Arial" panose="020B0604020202020204" pitchFamily="34" charset="0"/>
                <a:cs typeface="Arial" panose="020B0604020202020204" pitchFamily="34" charset="0"/>
              </a:defRPr>
            </a:lvl1pPr>
          </a:lstStyle>
          <a:p>
            <a:r>
              <a:rPr lang="en-US"/>
              <a:t>Click to Edit</a:t>
            </a:r>
          </a:p>
        </p:txBody>
      </p:sp>
      <p:cxnSp>
        <p:nvCxnSpPr>
          <p:cNvPr id="9" name="Straight Connector 8">
            <a:extLst>
              <a:ext uri="{FF2B5EF4-FFF2-40B4-BE49-F238E27FC236}">
                <a16:creationId xmlns:a16="http://schemas.microsoft.com/office/drawing/2014/main" id="{5AEF7DA6-42FA-443D-82FD-DDB40A0BB056}"/>
              </a:ext>
            </a:extLst>
          </p:cNvPr>
          <p:cNvCxnSpPr/>
          <p:nvPr userDrawn="1"/>
        </p:nvCxnSpPr>
        <p:spPr>
          <a:xfrm>
            <a:off x="0" y="623328"/>
            <a:ext cx="12192000" cy="0"/>
          </a:xfrm>
          <a:prstGeom prst="line">
            <a:avLst/>
          </a:prstGeom>
          <a:ln w="28575">
            <a:solidFill>
              <a:srgbClr val="34364C"/>
            </a:solidFill>
          </a:ln>
        </p:spPr>
        <p:style>
          <a:lnRef idx="1">
            <a:schemeClr val="accent1"/>
          </a:lnRef>
          <a:fillRef idx="0">
            <a:schemeClr val="accent1"/>
          </a:fillRef>
          <a:effectRef idx="0">
            <a:schemeClr val="accent1"/>
          </a:effectRef>
          <a:fontRef idx="minor">
            <a:schemeClr val="tx1"/>
          </a:fontRef>
        </p:style>
      </p:cxnSp>
      <p:sp>
        <p:nvSpPr>
          <p:cNvPr id="3" name="Slide Number Placeholder 1">
            <a:extLst>
              <a:ext uri="{FF2B5EF4-FFF2-40B4-BE49-F238E27FC236}">
                <a16:creationId xmlns:a16="http://schemas.microsoft.com/office/drawing/2014/main" id="{C0264C16-D2DF-5B85-D3C4-B1B07C55B97B}"/>
              </a:ext>
            </a:extLst>
          </p:cNvPr>
          <p:cNvSpPr txBox="1">
            <a:spLocks/>
          </p:cNvSpPr>
          <p:nvPr userDrawn="1"/>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19BDD-DD89-4CD9-A1F3-D76BEB018B7B}" type="slidenum">
              <a:rPr lang="en-US" sz="1000" smtClean="0">
                <a:latin typeface="Arial" panose="020B0604020202020204" pitchFamily="34" charset="0"/>
                <a:cs typeface="Arial" panose="020B0604020202020204" pitchFamily="34" charset="0"/>
              </a:rPr>
              <a:pPr/>
              <a:t>‹#›</a:t>
            </a:fld>
            <a:endParaRPr lang="en-US" sz="100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9043BE7-F5A8-E6FD-7EBD-E3589D056178}"/>
              </a:ext>
            </a:extLst>
          </p:cNvPr>
          <p:cNvSpPr txBox="1"/>
          <p:nvPr userDrawn="1"/>
        </p:nvSpPr>
        <p:spPr>
          <a:xfrm>
            <a:off x="333375" y="73388"/>
            <a:ext cx="3759654" cy="523220"/>
          </a:xfrm>
          <a:prstGeom prst="rect">
            <a:avLst/>
          </a:prstGeom>
          <a:noFill/>
        </p:spPr>
        <p:txBody>
          <a:bodyPr wrap="square" rtlCol="0">
            <a:spAutoFit/>
          </a:bodyPr>
          <a:lstStyle/>
          <a:p>
            <a:pPr algn="l"/>
            <a:r>
              <a:rPr lang="en-US" sz="2800" b="1">
                <a:solidFill>
                  <a:schemeClr val="tx1"/>
                </a:solidFill>
                <a:latin typeface="Arial" panose="020B0604020202020204" pitchFamily="34" charset="0"/>
                <a:cs typeface="Arial" panose="020B0604020202020204" pitchFamily="34" charset="0"/>
              </a:rPr>
              <a:t>Return Sensitivities:</a:t>
            </a:r>
          </a:p>
        </p:txBody>
      </p:sp>
      <p:graphicFrame>
        <p:nvGraphicFramePr>
          <p:cNvPr id="6" name="Table 5">
            <a:extLst>
              <a:ext uri="{FF2B5EF4-FFF2-40B4-BE49-F238E27FC236}">
                <a16:creationId xmlns:a16="http://schemas.microsoft.com/office/drawing/2014/main" id="{AA600B61-A6E3-FCB6-F3BB-B3D5E83B542E}"/>
              </a:ext>
            </a:extLst>
          </p:cNvPr>
          <p:cNvGraphicFramePr>
            <a:graphicFrameLocks noGrp="1"/>
          </p:cNvGraphicFramePr>
          <p:nvPr userDrawn="1">
            <p:extLst>
              <p:ext uri="{D42A27DB-BD31-4B8C-83A1-F6EECF244321}">
                <p14:modId xmlns:p14="http://schemas.microsoft.com/office/powerpoint/2010/main" val="3610496751"/>
              </p:ext>
            </p:extLst>
          </p:nvPr>
        </p:nvGraphicFramePr>
        <p:xfrm>
          <a:off x="2968332" y="970149"/>
          <a:ext cx="8878717" cy="283464"/>
        </p:xfrm>
        <a:graphic>
          <a:graphicData uri="http://schemas.openxmlformats.org/drawingml/2006/table">
            <a:tbl>
              <a:tblPr firstRow="1" bandRow="1">
                <a:tableStyleId>{5C22544A-7EE6-4342-B048-85BDC9FD1C3A}</a:tableStyleId>
              </a:tblPr>
              <a:tblGrid>
                <a:gridCol w="8878717">
                  <a:extLst>
                    <a:ext uri="{9D8B030D-6E8A-4147-A177-3AD203B41FA5}">
                      <a16:colId xmlns:a16="http://schemas.microsoft.com/office/drawing/2014/main" val="809247573"/>
                    </a:ext>
                  </a:extLst>
                </a:gridCol>
              </a:tblGrid>
              <a:tr h="159698">
                <a:tc>
                  <a:txBody>
                    <a:bodyPr/>
                    <a:lstStyle/>
                    <a:p>
                      <a:r>
                        <a:rPr lang="en-US" sz="1200" baseline="0">
                          <a:solidFill>
                            <a:schemeClr val="tx1"/>
                          </a:solidFill>
                          <a:latin typeface="Arial" panose="020B0604020202020204" pitchFamily="34" charset="0"/>
                          <a:cs typeface="Arial" panose="020B0604020202020204" pitchFamily="34" charset="0"/>
                        </a:rPr>
                        <a:t>Heads Up</a:t>
                      </a:r>
                      <a:endParaRPr lang="en-US" sz="1200">
                        <a:solidFill>
                          <a:schemeClr val="tx1"/>
                        </a:solidFill>
                        <a:latin typeface="Arial" panose="020B0604020202020204" pitchFamily="34" charset="0"/>
                        <a:cs typeface="Arial" panose="020B0604020202020204" pitchFamily="34" charset="0"/>
                      </a:endParaRPr>
                    </a:p>
                  </a:txBody>
                  <a:tcPr marL="0" marB="54864"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7620600"/>
                  </a:ext>
                </a:extLst>
              </a:tr>
            </a:tbl>
          </a:graphicData>
        </a:graphic>
      </p:graphicFrame>
      <p:sp>
        <p:nvSpPr>
          <p:cNvPr id="27" name="Text Placeholder 26">
            <a:extLst>
              <a:ext uri="{FF2B5EF4-FFF2-40B4-BE49-F238E27FC236}">
                <a16:creationId xmlns:a16="http://schemas.microsoft.com/office/drawing/2014/main" id="{E09B1F68-8BED-557E-ADDF-1603F95D0E0A}"/>
              </a:ext>
            </a:extLst>
          </p:cNvPr>
          <p:cNvSpPr>
            <a:spLocks noGrp="1"/>
          </p:cNvSpPr>
          <p:nvPr>
            <p:ph type="body" sz="quarter" idx="13" hasCustomPrompt="1"/>
          </p:nvPr>
        </p:nvSpPr>
        <p:spPr>
          <a:xfrm>
            <a:off x="333375" y="1296988"/>
            <a:ext cx="2443162" cy="5162550"/>
          </a:xfrm>
        </p:spPr>
        <p:txBody>
          <a:bodyPr>
            <a:normAutofit/>
          </a:bodyPr>
          <a:lstStyle>
            <a:lvl1pPr>
              <a:defRPr sz="100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Assumptions</a:t>
            </a:r>
          </a:p>
        </p:txBody>
      </p:sp>
      <p:sp>
        <p:nvSpPr>
          <p:cNvPr id="30" name="Table Placeholder 24">
            <a:extLst>
              <a:ext uri="{FF2B5EF4-FFF2-40B4-BE49-F238E27FC236}">
                <a16:creationId xmlns:a16="http://schemas.microsoft.com/office/drawing/2014/main" id="{DC8FCA1D-6D2F-CEDC-69D7-8988FD4B2359}"/>
              </a:ext>
            </a:extLst>
          </p:cNvPr>
          <p:cNvSpPr>
            <a:spLocks noGrp="1"/>
          </p:cNvSpPr>
          <p:nvPr>
            <p:ph type="tbl" sz="quarter" idx="14" hasCustomPrompt="1"/>
          </p:nvPr>
        </p:nvSpPr>
        <p:spPr>
          <a:xfrm>
            <a:off x="2968332" y="3151913"/>
            <a:ext cx="8878888" cy="1439251"/>
          </a:xfrm>
        </p:spPr>
        <p:txBody>
          <a:bodyPr>
            <a:normAutofit/>
          </a:bodyPr>
          <a:lstStyle>
            <a:lvl1pPr>
              <a:defRPr sz="1000">
                <a:latin typeface="Arial" panose="020B0604020202020204" pitchFamily="34" charset="0"/>
                <a:cs typeface="Arial" panose="020B0604020202020204" pitchFamily="34" charset="0"/>
              </a:defRPr>
            </a:lvl1pPr>
          </a:lstStyle>
          <a:p>
            <a:r>
              <a:rPr lang="en-US" sz="1000">
                <a:latin typeface="Arial" panose="020B0604020202020204" pitchFamily="34" charset="0"/>
                <a:cs typeface="Arial" panose="020B0604020202020204" pitchFamily="34" charset="0"/>
              </a:rPr>
              <a:t>Table</a:t>
            </a:r>
            <a:endParaRPr lang="en-US"/>
          </a:p>
        </p:txBody>
      </p:sp>
      <p:graphicFrame>
        <p:nvGraphicFramePr>
          <p:cNvPr id="31" name="Table 30">
            <a:extLst>
              <a:ext uri="{FF2B5EF4-FFF2-40B4-BE49-F238E27FC236}">
                <a16:creationId xmlns:a16="http://schemas.microsoft.com/office/drawing/2014/main" id="{C8A8C0C1-ADD1-14E1-2CEA-1DFB6D747EDD}"/>
              </a:ext>
            </a:extLst>
          </p:cNvPr>
          <p:cNvGraphicFramePr>
            <a:graphicFrameLocks noGrp="1"/>
          </p:cNvGraphicFramePr>
          <p:nvPr userDrawn="1">
            <p:extLst>
              <p:ext uri="{D42A27DB-BD31-4B8C-83A1-F6EECF244321}">
                <p14:modId xmlns:p14="http://schemas.microsoft.com/office/powerpoint/2010/main" val="2354229375"/>
              </p:ext>
            </p:extLst>
          </p:nvPr>
        </p:nvGraphicFramePr>
        <p:xfrm>
          <a:off x="2968332" y="2835340"/>
          <a:ext cx="8878717" cy="283464"/>
        </p:xfrm>
        <a:graphic>
          <a:graphicData uri="http://schemas.openxmlformats.org/drawingml/2006/table">
            <a:tbl>
              <a:tblPr firstRow="1" bandRow="1">
                <a:tableStyleId>{5C22544A-7EE6-4342-B048-85BDC9FD1C3A}</a:tableStyleId>
              </a:tblPr>
              <a:tblGrid>
                <a:gridCol w="8878717">
                  <a:extLst>
                    <a:ext uri="{9D8B030D-6E8A-4147-A177-3AD203B41FA5}">
                      <a16:colId xmlns:a16="http://schemas.microsoft.com/office/drawing/2014/main" val="809247573"/>
                    </a:ext>
                  </a:extLst>
                </a:gridCol>
              </a:tblGrid>
              <a:tr h="159698">
                <a:tc>
                  <a:txBody>
                    <a:bodyPr/>
                    <a:lstStyle/>
                    <a:p>
                      <a:r>
                        <a:rPr lang="en-US" sz="1200" baseline="0">
                          <a:solidFill>
                            <a:schemeClr val="tx1"/>
                          </a:solidFill>
                          <a:latin typeface="Arial" panose="020B0604020202020204" pitchFamily="34" charset="0"/>
                          <a:cs typeface="Arial" panose="020B0604020202020204" pitchFamily="34" charset="0"/>
                        </a:rPr>
                        <a:t>Drilling Fund</a:t>
                      </a:r>
                      <a:endParaRPr lang="en-US" sz="1200">
                        <a:solidFill>
                          <a:schemeClr val="tx1"/>
                        </a:solidFill>
                        <a:latin typeface="Arial" panose="020B0604020202020204" pitchFamily="34" charset="0"/>
                        <a:cs typeface="Arial" panose="020B0604020202020204" pitchFamily="34" charset="0"/>
                      </a:endParaRPr>
                    </a:p>
                  </a:txBody>
                  <a:tcPr marL="0" marB="54864"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7620600"/>
                  </a:ext>
                </a:extLst>
              </a:tr>
            </a:tbl>
          </a:graphicData>
        </a:graphic>
      </p:graphicFrame>
      <p:graphicFrame>
        <p:nvGraphicFramePr>
          <p:cNvPr id="34" name="Table 33">
            <a:extLst>
              <a:ext uri="{FF2B5EF4-FFF2-40B4-BE49-F238E27FC236}">
                <a16:creationId xmlns:a16="http://schemas.microsoft.com/office/drawing/2014/main" id="{6AA70ACA-1F25-8CC9-4086-3C44580249F5}"/>
              </a:ext>
            </a:extLst>
          </p:cNvPr>
          <p:cNvGraphicFramePr>
            <a:graphicFrameLocks noGrp="1"/>
          </p:cNvGraphicFramePr>
          <p:nvPr userDrawn="1">
            <p:extLst>
              <p:ext uri="{D42A27DB-BD31-4B8C-83A1-F6EECF244321}">
                <p14:modId xmlns:p14="http://schemas.microsoft.com/office/powerpoint/2010/main" val="1636437699"/>
              </p:ext>
            </p:extLst>
          </p:nvPr>
        </p:nvGraphicFramePr>
        <p:xfrm>
          <a:off x="333375" y="970149"/>
          <a:ext cx="2347195" cy="283464"/>
        </p:xfrm>
        <a:graphic>
          <a:graphicData uri="http://schemas.openxmlformats.org/drawingml/2006/table">
            <a:tbl>
              <a:tblPr firstRow="1" bandRow="1">
                <a:tableStyleId>{5C22544A-7EE6-4342-B048-85BDC9FD1C3A}</a:tableStyleId>
              </a:tblPr>
              <a:tblGrid>
                <a:gridCol w="2347195">
                  <a:extLst>
                    <a:ext uri="{9D8B030D-6E8A-4147-A177-3AD203B41FA5}">
                      <a16:colId xmlns:a16="http://schemas.microsoft.com/office/drawing/2014/main" val="809247573"/>
                    </a:ext>
                  </a:extLst>
                </a:gridCol>
              </a:tblGrid>
              <a:tr h="159698">
                <a:tc>
                  <a:txBody>
                    <a:bodyPr/>
                    <a:lstStyle/>
                    <a:p>
                      <a:r>
                        <a:rPr lang="en-US" sz="1200" baseline="0">
                          <a:solidFill>
                            <a:schemeClr val="tx1"/>
                          </a:solidFill>
                          <a:latin typeface="Arial" panose="020B0604020202020204" pitchFamily="34" charset="0"/>
                          <a:cs typeface="Arial" panose="020B0604020202020204" pitchFamily="34" charset="0"/>
                        </a:rPr>
                        <a:t>Assumptions</a:t>
                      </a:r>
                      <a:endParaRPr lang="en-US" sz="1200">
                        <a:solidFill>
                          <a:schemeClr val="tx1"/>
                        </a:solidFill>
                        <a:latin typeface="Arial" panose="020B0604020202020204" pitchFamily="34" charset="0"/>
                        <a:cs typeface="Arial" panose="020B0604020202020204" pitchFamily="34" charset="0"/>
                      </a:endParaRPr>
                    </a:p>
                  </a:txBody>
                  <a:tcPr marL="0" marB="54864"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7620600"/>
                  </a:ext>
                </a:extLst>
              </a:tr>
            </a:tbl>
          </a:graphicData>
        </a:graphic>
      </p:graphicFrame>
    </p:spTree>
    <p:extLst>
      <p:ext uri="{BB962C8B-B14F-4D97-AF65-F5344CB8AC3E}">
        <p14:creationId xmlns:p14="http://schemas.microsoft.com/office/powerpoint/2010/main" val="2782588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eturn Sensitivities: QOZ">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B8B9BD7F-36C2-D6BA-034C-24BF26F9F9F8}"/>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 Placeholder 12">
            <a:extLst>
              <a:ext uri="{FF2B5EF4-FFF2-40B4-BE49-F238E27FC236}">
                <a16:creationId xmlns:a16="http://schemas.microsoft.com/office/drawing/2014/main" id="{16541F7B-4F60-C854-A3B5-F972BD25E2A2}"/>
              </a:ext>
            </a:extLst>
          </p:cNvPr>
          <p:cNvSpPr>
            <a:spLocks noGrp="1"/>
          </p:cNvSpPr>
          <p:nvPr>
            <p:ph type="body" sz="quarter" idx="16" hasCustomPrompt="1"/>
          </p:nvPr>
        </p:nvSpPr>
        <p:spPr>
          <a:xfrm>
            <a:off x="392114" y="6483933"/>
            <a:ext cx="10491166" cy="374650"/>
          </a:xfrm>
        </p:spPr>
        <p:txBody>
          <a:bodyPr anchor="t">
            <a:normAutofit/>
          </a:bodyPr>
          <a:lstStyle>
            <a:lvl1pPr marL="228600" indent="-228600">
              <a:lnSpc>
                <a:spcPct val="100000"/>
              </a:lnSpc>
              <a:spcBef>
                <a:spcPts val="0"/>
              </a:spcBef>
              <a:buFont typeface="+mj-lt"/>
              <a:buAutoNum type="arabicPeriod"/>
              <a:defRPr sz="800">
                <a:latin typeface="Arial" panose="020B0604020202020204" pitchFamily="34" charset="0"/>
                <a:cs typeface="Arial" panose="020B0604020202020204" pitchFamily="34" charset="0"/>
              </a:defRPr>
            </a:lvl1pPr>
          </a:lstStyle>
          <a:p>
            <a:pPr lvl="0"/>
            <a:r>
              <a:rPr lang="en-US"/>
              <a:t>Footer</a:t>
            </a:r>
          </a:p>
        </p:txBody>
      </p:sp>
      <p:sp>
        <p:nvSpPr>
          <p:cNvPr id="25" name="Table Placeholder 24">
            <a:extLst>
              <a:ext uri="{FF2B5EF4-FFF2-40B4-BE49-F238E27FC236}">
                <a16:creationId xmlns:a16="http://schemas.microsoft.com/office/drawing/2014/main" id="{0DD40676-44B1-FA25-D951-70D1D559754A}"/>
              </a:ext>
            </a:extLst>
          </p:cNvPr>
          <p:cNvSpPr>
            <a:spLocks noGrp="1"/>
          </p:cNvSpPr>
          <p:nvPr>
            <p:ph type="tbl" sz="quarter" idx="12" hasCustomPrompt="1"/>
          </p:nvPr>
        </p:nvSpPr>
        <p:spPr>
          <a:xfrm>
            <a:off x="2968332" y="1296988"/>
            <a:ext cx="8878888" cy="1439251"/>
          </a:xfrm>
        </p:spPr>
        <p:txBody>
          <a:bodyPr>
            <a:normAutofit/>
          </a:bodyPr>
          <a:lstStyle>
            <a:lvl1pPr>
              <a:defRPr sz="1000">
                <a:latin typeface="Arial" panose="020B0604020202020204" pitchFamily="34" charset="0"/>
                <a:cs typeface="Arial" panose="020B0604020202020204" pitchFamily="34" charset="0"/>
              </a:defRPr>
            </a:lvl1pPr>
          </a:lstStyle>
          <a:p>
            <a:r>
              <a:rPr lang="en-US" sz="1000">
                <a:latin typeface="Arial" panose="020B0604020202020204" pitchFamily="34" charset="0"/>
                <a:cs typeface="Arial" panose="020B0604020202020204" pitchFamily="34" charset="0"/>
              </a:rPr>
              <a:t>Table</a:t>
            </a:r>
            <a:endParaRPr lang="en-US"/>
          </a:p>
        </p:txBody>
      </p:sp>
      <p:sp>
        <p:nvSpPr>
          <p:cNvPr id="14" name="Rectangle 7">
            <a:extLst>
              <a:ext uri="{FF2B5EF4-FFF2-40B4-BE49-F238E27FC236}">
                <a16:creationId xmlns:a16="http://schemas.microsoft.com/office/drawing/2014/main" id="{97F4A706-0F4D-4706-A9FB-B9355F5842B6}"/>
              </a:ext>
            </a:extLst>
          </p:cNvPr>
          <p:cNvSpPr/>
          <p:nvPr userDrawn="1"/>
        </p:nvSpPr>
        <p:spPr>
          <a:xfrm>
            <a:off x="0" y="673298"/>
            <a:ext cx="10491849" cy="235155"/>
          </a:xfrm>
          <a:custGeom>
            <a:avLst/>
            <a:gdLst>
              <a:gd name="connsiteX0" fmla="*/ 0 w 10629900"/>
              <a:gd name="connsiteY0" fmla="*/ 0 h 365125"/>
              <a:gd name="connsiteX1" fmla="*/ 10629900 w 10629900"/>
              <a:gd name="connsiteY1" fmla="*/ 0 h 365125"/>
              <a:gd name="connsiteX2" fmla="*/ 10629900 w 10629900"/>
              <a:gd name="connsiteY2" fmla="*/ 365125 h 365125"/>
              <a:gd name="connsiteX3" fmla="*/ 0 w 10629900"/>
              <a:gd name="connsiteY3" fmla="*/ 365125 h 365125"/>
              <a:gd name="connsiteX4" fmla="*/ 0 w 10629900"/>
              <a:gd name="connsiteY4" fmla="*/ 0 h 365125"/>
              <a:gd name="connsiteX0" fmla="*/ 0 w 10629900"/>
              <a:gd name="connsiteY0" fmla="*/ 0 h 365125"/>
              <a:gd name="connsiteX1" fmla="*/ 10629900 w 10629900"/>
              <a:gd name="connsiteY1" fmla="*/ 0 h 365125"/>
              <a:gd name="connsiteX2" fmla="*/ 10077450 w 10629900"/>
              <a:gd name="connsiteY2" fmla="*/ 355600 h 365125"/>
              <a:gd name="connsiteX3" fmla="*/ 0 w 10629900"/>
              <a:gd name="connsiteY3" fmla="*/ 365125 h 365125"/>
              <a:gd name="connsiteX4" fmla="*/ 0 w 10629900"/>
              <a:gd name="connsiteY4" fmla="*/ 0 h 36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9900" h="365125">
                <a:moveTo>
                  <a:pt x="0" y="0"/>
                </a:moveTo>
                <a:lnTo>
                  <a:pt x="10629900" y="0"/>
                </a:lnTo>
                <a:lnTo>
                  <a:pt x="10077450" y="355600"/>
                </a:lnTo>
                <a:lnTo>
                  <a:pt x="0" y="365125"/>
                </a:lnTo>
                <a:lnTo>
                  <a:pt x="0" y="0"/>
                </a:lnTo>
                <a:close/>
              </a:path>
            </a:pathLst>
          </a:custGeom>
          <a:solidFill>
            <a:schemeClr val="accent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D95C57-D0F9-4D39-81D4-8BE1F77E0553}"/>
              </a:ext>
            </a:extLst>
          </p:cNvPr>
          <p:cNvSpPr>
            <a:spLocks noGrp="1"/>
          </p:cNvSpPr>
          <p:nvPr>
            <p:ph type="title" hasCustomPrompt="1"/>
          </p:nvPr>
        </p:nvSpPr>
        <p:spPr>
          <a:xfrm>
            <a:off x="3890357" y="105971"/>
            <a:ext cx="7568218" cy="496493"/>
          </a:xfrm>
          <a:prstGeom prst="rect">
            <a:avLst/>
          </a:prstGeom>
        </p:spPr>
        <p:txBody>
          <a:bodyPr anchor="ctr"/>
          <a:lstStyle>
            <a:lvl1pPr algn="l">
              <a:defRPr sz="2800" b="1">
                <a:solidFill>
                  <a:schemeClr val="tx1"/>
                </a:solidFill>
                <a:latin typeface="Arial" panose="020B0604020202020204" pitchFamily="34" charset="0"/>
                <a:cs typeface="Arial" panose="020B0604020202020204" pitchFamily="34" charset="0"/>
              </a:defRPr>
            </a:lvl1pPr>
          </a:lstStyle>
          <a:p>
            <a:r>
              <a:rPr lang="en-US"/>
              <a:t>Click to Edit</a:t>
            </a:r>
          </a:p>
        </p:txBody>
      </p:sp>
      <p:cxnSp>
        <p:nvCxnSpPr>
          <p:cNvPr id="9" name="Straight Connector 8">
            <a:extLst>
              <a:ext uri="{FF2B5EF4-FFF2-40B4-BE49-F238E27FC236}">
                <a16:creationId xmlns:a16="http://schemas.microsoft.com/office/drawing/2014/main" id="{5AEF7DA6-42FA-443D-82FD-DDB40A0BB056}"/>
              </a:ext>
            </a:extLst>
          </p:cNvPr>
          <p:cNvCxnSpPr/>
          <p:nvPr userDrawn="1"/>
        </p:nvCxnSpPr>
        <p:spPr>
          <a:xfrm>
            <a:off x="0" y="623328"/>
            <a:ext cx="12192000" cy="0"/>
          </a:xfrm>
          <a:prstGeom prst="line">
            <a:avLst/>
          </a:prstGeom>
          <a:ln w="28575">
            <a:solidFill>
              <a:srgbClr val="34364C"/>
            </a:solidFill>
          </a:ln>
        </p:spPr>
        <p:style>
          <a:lnRef idx="1">
            <a:schemeClr val="accent1"/>
          </a:lnRef>
          <a:fillRef idx="0">
            <a:schemeClr val="accent1"/>
          </a:fillRef>
          <a:effectRef idx="0">
            <a:schemeClr val="accent1"/>
          </a:effectRef>
          <a:fontRef idx="minor">
            <a:schemeClr val="tx1"/>
          </a:fontRef>
        </p:style>
      </p:cxnSp>
      <p:sp>
        <p:nvSpPr>
          <p:cNvPr id="3" name="Slide Number Placeholder 1">
            <a:extLst>
              <a:ext uri="{FF2B5EF4-FFF2-40B4-BE49-F238E27FC236}">
                <a16:creationId xmlns:a16="http://schemas.microsoft.com/office/drawing/2014/main" id="{C0264C16-D2DF-5B85-D3C4-B1B07C55B97B}"/>
              </a:ext>
            </a:extLst>
          </p:cNvPr>
          <p:cNvSpPr txBox="1">
            <a:spLocks/>
          </p:cNvSpPr>
          <p:nvPr userDrawn="1"/>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19BDD-DD89-4CD9-A1F3-D76BEB018B7B}" type="slidenum">
              <a:rPr lang="en-US" sz="1000" smtClean="0">
                <a:latin typeface="Arial" panose="020B0604020202020204" pitchFamily="34" charset="0"/>
                <a:cs typeface="Arial" panose="020B0604020202020204" pitchFamily="34" charset="0"/>
              </a:rPr>
              <a:pPr/>
              <a:t>‹#›</a:t>
            </a:fld>
            <a:endParaRPr lang="en-US" sz="100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9043BE7-F5A8-E6FD-7EBD-E3589D056178}"/>
              </a:ext>
            </a:extLst>
          </p:cNvPr>
          <p:cNvSpPr txBox="1"/>
          <p:nvPr userDrawn="1"/>
        </p:nvSpPr>
        <p:spPr>
          <a:xfrm>
            <a:off x="333375" y="73388"/>
            <a:ext cx="3759654" cy="523220"/>
          </a:xfrm>
          <a:prstGeom prst="rect">
            <a:avLst/>
          </a:prstGeom>
          <a:noFill/>
        </p:spPr>
        <p:txBody>
          <a:bodyPr wrap="square" rtlCol="0">
            <a:spAutoFit/>
          </a:bodyPr>
          <a:lstStyle/>
          <a:p>
            <a:pPr algn="l"/>
            <a:r>
              <a:rPr lang="en-US" sz="2800" b="1">
                <a:solidFill>
                  <a:schemeClr val="tx1"/>
                </a:solidFill>
                <a:latin typeface="Arial" panose="020B0604020202020204" pitchFamily="34" charset="0"/>
                <a:cs typeface="Arial" panose="020B0604020202020204" pitchFamily="34" charset="0"/>
              </a:rPr>
              <a:t>Return Sensitivities:</a:t>
            </a:r>
          </a:p>
        </p:txBody>
      </p:sp>
      <p:graphicFrame>
        <p:nvGraphicFramePr>
          <p:cNvPr id="6" name="Table 5">
            <a:extLst>
              <a:ext uri="{FF2B5EF4-FFF2-40B4-BE49-F238E27FC236}">
                <a16:creationId xmlns:a16="http://schemas.microsoft.com/office/drawing/2014/main" id="{AA600B61-A6E3-FCB6-F3BB-B3D5E83B542E}"/>
              </a:ext>
            </a:extLst>
          </p:cNvPr>
          <p:cNvGraphicFramePr>
            <a:graphicFrameLocks noGrp="1"/>
          </p:cNvGraphicFramePr>
          <p:nvPr userDrawn="1">
            <p:extLst>
              <p:ext uri="{D42A27DB-BD31-4B8C-83A1-F6EECF244321}">
                <p14:modId xmlns:p14="http://schemas.microsoft.com/office/powerpoint/2010/main" val="3610496751"/>
              </p:ext>
            </p:extLst>
          </p:nvPr>
        </p:nvGraphicFramePr>
        <p:xfrm>
          <a:off x="2968332" y="970149"/>
          <a:ext cx="8878717" cy="283464"/>
        </p:xfrm>
        <a:graphic>
          <a:graphicData uri="http://schemas.openxmlformats.org/drawingml/2006/table">
            <a:tbl>
              <a:tblPr firstRow="1" bandRow="1">
                <a:tableStyleId>{5C22544A-7EE6-4342-B048-85BDC9FD1C3A}</a:tableStyleId>
              </a:tblPr>
              <a:tblGrid>
                <a:gridCol w="8878717">
                  <a:extLst>
                    <a:ext uri="{9D8B030D-6E8A-4147-A177-3AD203B41FA5}">
                      <a16:colId xmlns:a16="http://schemas.microsoft.com/office/drawing/2014/main" val="809247573"/>
                    </a:ext>
                  </a:extLst>
                </a:gridCol>
              </a:tblGrid>
              <a:tr h="159698">
                <a:tc>
                  <a:txBody>
                    <a:bodyPr/>
                    <a:lstStyle/>
                    <a:p>
                      <a:r>
                        <a:rPr lang="en-US" sz="1200" baseline="0">
                          <a:solidFill>
                            <a:schemeClr val="tx1"/>
                          </a:solidFill>
                          <a:latin typeface="Arial" panose="020B0604020202020204" pitchFamily="34" charset="0"/>
                          <a:cs typeface="Arial" panose="020B0604020202020204" pitchFamily="34" charset="0"/>
                        </a:rPr>
                        <a:t>Heads Up</a:t>
                      </a:r>
                      <a:endParaRPr lang="en-US" sz="1200">
                        <a:solidFill>
                          <a:schemeClr val="tx1"/>
                        </a:solidFill>
                        <a:latin typeface="Arial" panose="020B0604020202020204" pitchFamily="34" charset="0"/>
                        <a:cs typeface="Arial" panose="020B0604020202020204" pitchFamily="34" charset="0"/>
                      </a:endParaRPr>
                    </a:p>
                  </a:txBody>
                  <a:tcPr marL="0" marB="54864"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7620600"/>
                  </a:ext>
                </a:extLst>
              </a:tr>
            </a:tbl>
          </a:graphicData>
        </a:graphic>
      </p:graphicFrame>
      <p:sp>
        <p:nvSpPr>
          <p:cNvPr id="27" name="Text Placeholder 26">
            <a:extLst>
              <a:ext uri="{FF2B5EF4-FFF2-40B4-BE49-F238E27FC236}">
                <a16:creationId xmlns:a16="http://schemas.microsoft.com/office/drawing/2014/main" id="{E09B1F68-8BED-557E-ADDF-1603F95D0E0A}"/>
              </a:ext>
            </a:extLst>
          </p:cNvPr>
          <p:cNvSpPr>
            <a:spLocks noGrp="1"/>
          </p:cNvSpPr>
          <p:nvPr>
            <p:ph type="body" sz="quarter" idx="13" hasCustomPrompt="1"/>
          </p:nvPr>
        </p:nvSpPr>
        <p:spPr>
          <a:xfrm>
            <a:off x="333375" y="1296988"/>
            <a:ext cx="2443162" cy="5162550"/>
          </a:xfrm>
        </p:spPr>
        <p:txBody>
          <a:bodyPr>
            <a:normAutofit/>
          </a:bodyPr>
          <a:lstStyle>
            <a:lvl1pPr>
              <a:defRPr sz="100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Assumptions</a:t>
            </a:r>
          </a:p>
        </p:txBody>
      </p:sp>
      <p:sp>
        <p:nvSpPr>
          <p:cNvPr id="30" name="Table Placeholder 24">
            <a:extLst>
              <a:ext uri="{FF2B5EF4-FFF2-40B4-BE49-F238E27FC236}">
                <a16:creationId xmlns:a16="http://schemas.microsoft.com/office/drawing/2014/main" id="{DC8FCA1D-6D2F-CEDC-69D7-8988FD4B2359}"/>
              </a:ext>
            </a:extLst>
          </p:cNvPr>
          <p:cNvSpPr>
            <a:spLocks noGrp="1"/>
          </p:cNvSpPr>
          <p:nvPr>
            <p:ph type="tbl" sz="quarter" idx="14" hasCustomPrompt="1"/>
          </p:nvPr>
        </p:nvSpPr>
        <p:spPr>
          <a:xfrm>
            <a:off x="2968332" y="3151913"/>
            <a:ext cx="8878888" cy="1439251"/>
          </a:xfrm>
        </p:spPr>
        <p:txBody>
          <a:bodyPr>
            <a:normAutofit/>
          </a:bodyPr>
          <a:lstStyle>
            <a:lvl1pPr>
              <a:defRPr sz="1000">
                <a:latin typeface="Arial" panose="020B0604020202020204" pitchFamily="34" charset="0"/>
                <a:cs typeface="Arial" panose="020B0604020202020204" pitchFamily="34" charset="0"/>
              </a:defRPr>
            </a:lvl1pPr>
          </a:lstStyle>
          <a:p>
            <a:r>
              <a:rPr lang="en-US" sz="1000">
                <a:latin typeface="Arial" panose="020B0604020202020204" pitchFamily="34" charset="0"/>
                <a:cs typeface="Arial" panose="020B0604020202020204" pitchFamily="34" charset="0"/>
              </a:rPr>
              <a:t>Table</a:t>
            </a:r>
            <a:endParaRPr lang="en-US"/>
          </a:p>
        </p:txBody>
      </p:sp>
      <p:graphicFrame>
        <p:nvGraphicFramePr>
          <p:cNvPr id="31" name="Table 30">
            <a:extLst>
              <a:ext uri="{FF2B5EF4-FFF2-40B4-BE49-F238E27FC236}">
                <a16:creationId xmlns:a16="http://schemas.microsoft.com/office/drawing/2014/main" id="{C8A8C0C1-ADD1-14E1-2CEA-1DFB6D747EDD}"/>
              </a:ext>
            </a:extLst>
          </p:cNvPr>
          <p:cNvGraphicFramePr>
            <a:graphicFrameLocks noGrp="1"/>
          </p:cNvGraphicFramePr>
          <p:nvPr userDrawn="1">
            <p:extLst>
              <p:ext uri="{D42A27DB-BD31-4B8C-83A1-F6EECF244321}">
                <p14:modId xmlns:p14="http://schemas.microsoft.com/office/powerpoint/2010/main" val="2354229375"/>
              </p:ext>
            </p:extLst>
          </p:nvPr>
        </p:nvGraphicFramePr>
        <p:xfrm>
          <a:off x="2968332" y="2835340"/>
          <a:ext cx="8878717" cy="283464"/>
        </p:xfrm>
        <a:graphic>
          <a:graphicData uri="http://schemas.openxmlformats.org/drawingml/2006/table">
            <a:tbl>
              <a:tblPr firstRow="1" bandRow="1">
                <a:tableStyleId>{5C22544A-7EE6-4342-B048-85BDC9FD1C3A}</a:tableStyleId>
              </a:tblPr>
              <a:tblGrid>
                <a:gridCol w="8878717">
                  <a:extLst>
                    <a:ext uri="{9D8B030D-6E8A-4147-A177-3AD203B41FA5}">
                      <a16:colId xmlns:a16="http://schemas.microsoft.com/office/drawing/2014/main" val="809247573"/>
                    </a:ext>
                  </a:extLst>
                </a:gridCol>
              </a:tblGrid>
              <a:tr h="159698">
                <a:tc>
                  <a:txBody>
                    <a:bodyPr/>
                    <a:lstStyle/>
                    <a:p>
                      <a:r>
                        <a:rPr lang="en-US" sz="1200" baseline="0">
                          <a:solidFill>
                            <a:schemeClr val="tx1"/>
                          </a:solidFill>
                          <a:latin typeface="Arial" panose="020B0604020202020204" pitchFamily="34" charset="0"/>
                          <a:cs typeface="Arial" panose="020B0604020202020204" pitchFamily="34" charset="0"/>
                        </a:rPr>
                        <a:t>Drilling Fund</a:t>
                      </a:r>
                      <a:endParaRPr lang="en-US" sz="1200">
                        <a:solidFill>
                          <a:schemeClr val="tx1"/>
                        </a:solidFill>
                        <a:latin typeface="Arial" panose="020B0604020202020204" pitchFamily="34" charset="0"/>
                        <a:cs typeface="Arial" panose="020B0604020202020204" pitchFamily="34" charset="0"/>
                      </a:endParaRPr>
                    </a:p>
                  </a:txBody>
                  <a:tcPr marL="0" marB="54864"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7620600"/>
                  </a:ext>
                </a:extLst>
              </a:tr>
            </a:tbl>
          </a:graphicData>
        </a:graphic>
      </p:graphicFrame>
      <p:sp>
        <p:nvSpPr>
          <p:cNvPr id="32" name="Table Placeholder 24">
            <a:extLst>
              <a:ext uri="{FF2B5EF4-FFF2-40B4-BE49-F238E27FC236}">
                <a16:creationId xmlns:a16="http://schemas.microsoft.com/office/drawing/2014/main" id="{D72D2AB2-A32E-1B4D-4EE0-5ED74053DBE8}"/>
              </a:ext>
            </a:extLst>
          </p:cNvPr>
          <p:cNvSpPr>
            <a:spLocks noGrp="1"/>
          </p:cNvSpPr>
          <p:nvPr>
            <p:ph type="tbl" sz="quarter" idx="15" hasCustomPrompt="1"/>
          </p:nvPr>
        </p:nvSpPr>
        <p:spPr>
          <a:xfrm>
            <a:off x="2968332" y="5010013"/>
            <a:ext cx="8878888" cy="1439251"/>
          </a:xfrm>
        </p:spPr>
        <p:txBody>
          <a:bodyPr>
            <a:normAutofit/>
          </a:bodyPr>
          <a:lstStyle>
            <a:lvl1pPr>
              <a:defRPr sz="1000">
                <a:latin typeface="Arial" panose="020B0604020202020204" pitchFamily="34" charset="0"/>
                <a:cs typeface="Arial" panose="020B0604020202020204" pitchFamily="34" charset="0"/>
              </a:defRPr>
            </a:lvl1pPr>
          </a:lstStyle>
          <a:p>
            <a:r>
              <a:rPr lang="en-US" sz="1000">
                <a:latin typeface="Arial" panose="020B0604020202020204" pitchFamily="34" charset="0"/>
                <a:cs typeface="Arial" panose="020B0604020202020204" pitchFamily="34" charset="0"/>
              </a:rPr>
              <a:t>Table</a:t>
            </a:r>
            <a:endParaRPr lang="en-US"/>
          </a:p>
        </p:txBody>
      </p:sp>
      <p:graphicFrame>
        <p:nvGraphicFramePr>
          <p:cNvPr id="33" name="Table 32">
            <a:extLst>
              <a:ext uri="{FF2B5EF4-FFF2-40B4-BE49-F238E27FC236}">
                <a16:creationId xmlns:a16="http://schemas.microsoft.com/office/drawing/2014/main" id="{5A79C200-708A-E1FB-5DAC-3B4F0F4ACBD0}"/>
              </a:ext>
            </a:extLst>
          </p:cNvPr>
          <p:cNvGraphicFramePr>
            <a:graphicFrameLocks noGrp="1"/>
          </p:cNvGraphicFramePr>
          <p:nvPr userDrawn="1">
            <p:extLst>
              <p:ext uri="{D42A27DB-BD31-4B8C-83A1-F6EECF244321}">
                <p14:modId xmlns:p14="http://schemas.microsoft.com/office/powerpoint/2010/main" val="1824550773"/>
              </p:ext>
            </p:extLst>
          </p:nvPr>
        </p:nvGraphicFramePr>
        <p:xfrm>
          <a:off x="2968332" y="4690257"/>
          <a:ext cx="8878717" cy="283464"/>
        </p:xfrm>
        <a:graphic>
          <a:graphicData uri="http://schemas.openxmlformats.org/drawingml/2006/table">
            <a:tbl>
              <a:tblPr firstRow="1" bandRow="1">
                <a:tableStyleId>{5C22544A-7EE6-4342-B048-85BDC9FD1C3A}</a:tableStyleId>
              </a:tblPr>
              <a:tblGrid>
                <a:gridCol w="8878717">
                  <a:extLst>
                    <a:ext uri="{9D8B030D-6E8A-4147-A177-3AD203B41FA5}">
                      <a16:colId xmlns:a16="http://schemas.microsoft.com/office/drawing/2014/main" val="809247573"/>
                    </a:ext>
                  </a:extLst>
                </a:gridCol>
              </a:tblGrid>
              <a:tr h="159698">
                <a:tc>
                  <a:txBody>
                    <a:bodyPr/>
                    <a:lstStyle/>
                    <a:p>
                      <a:r>
                        <a:rPr lang="en-US" sz="1200" baseline="0">
                          <a:solidFill>
                            <a:schemeClr val="tx1"/>
                          </a:solidFill>
                          <a:latin typeface="Arial" panose="020B0604020202020204" pitchFamily="34" charset="0"/>
                          <a:cs typeface="Arial" panose="020B0604020202020204" pitchFamily="34" charset="0"/>
                        </a:rPr>
                        <a:t>QOZ</a:t>
                      </a:r>
                      <a:endParaRPr lang="en-US" sz="1200">
                        <a:solidFill>
                          <a:schemeClr val="tx1"/>
                        </a:solidFill>
                        <a:latin typeface="Arial" panose="020B0604020202020204" pitchFamily="34" charset="0"/>
                        <a:cs typeface="Arial" panose="020B0604020202020204" pitchFamily="34" charset="0"/>
                      </a:endParaRPr>
                    </a:p>
                  </a:txBody>
                  <a:tcPr marL="0" marB="54864"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7620600"/>
                  </a:ext>
                </a:extLst>
              </a:tr>
            </a:tbl>
          </a:graphicData>
        </a:graphic>
      </p:graphicFrame>
      <p:graphicFrame>
        <p:nvGraphicFramePr>
          <p:cNvPr id="34" name="Table 33">
            <a:extLst>
              <a:ext uri="{FF2B5EF4-FFF2-40B4-BE49-F238E27FC236}">
                <a16:creationId xmlns:a16="http://schemas.microsoft.com/office/drawing/2014/main" id="{6AA70ACA-1F25-8CC9-4086-3C44580249F5}"/>
              </a:ext>
            </a:extLst>
          </p:cNvPr>
          <p:cNvGraphicFramePr>
            <a:graphicFrameLocks noGrp="1"/>
          </p:cNvGraphicFramePr>
          <p:nvPr userDrawn="1">
            <p:extLst>
              <p:ext uri="{D42A27DB-BD31-4B8C-83A1-F6EECF244321}">
                <p14:modId xmlns:p14="http://schemas.microsoft.com/office/powerpoint/2010/main" val="1636437699"/>
              </p:ext>
            </p:extLst>
          </p:nvPr>
        </p:nvGraphicFramePr>
        <p:xfrm>
          <a:off x="333375" y="970149"/>
          <a:ext cx="2347195" cy="283464"/>
        </p:xfrm>
        <a:graphic>
          <a:graphicData uri="http://schemas.openxmlformats.org/drawingml/2006/table">
            <a:tbl>
              <a:tblPr firstRow="1" bandRow="1">
                <a:tableStyleId>{5C22544A-7EE6-4342-B048-85BDC9FD1C3A}</a:tableStyleId>
              </a:tblPr>
              <a:tblGrid>
                <a:gridCol w="2347195">
                  <a:extLst>
                    <a:ext uri="{9D8B030D-6E8A-4147-A177-3AD203B41FA5}">
                      <a16:colId xmlns:a16="http://schemas.microsoft.com/office/drawing/2014/main" val="809247573"/>
                    </a:ext>
                  </a:extLst>
                </a:gridCol>
              </a:tblGrid>
              <a:tr h="159698">
                <a:tc>
                  <a:txBody>
                    <a:bodyPr/>
                    <a:lstStyle/>
                    <a:p>
                      <a:r>
                        <a:rPr lang="en-US" sz="1200" baseline="0">
                          <a:solidFill>
                            <a:schemeClr val="tx1"/>
                          </a:solidFill>
                          <a:latin typeface="Arial" panose="020B0604020202020204" pitchFamily="34" charset="0"/>
                          <a:cs typeface="Arial" panose="020B0604020202020204" pitchFamily="34" charset="0"/>
                        </a:rPr>
                        <a:t>Assumptions</a:t>
                      </a:r>
                      <a:endParaRPr lang="en-US" sz="1200">
                        <a:solidFill>
                          <a:schemeClr val="tx1"/>
                        </a:solidFill>
                        <a:latin typeface="Arial" panose="020B0604020202020204" pitchFamily="34" charset="0"/>
                        <a:cs typeface="Arial" panose="020B0604020202020204" pitchFamily="34" charset="0"/>
                      </a:endParaRPr>
                    </a:p>
                  </a:txBody>
                  <a:tcPr marL="0" marB="54864" anchor="ctr">
                    <a:lnL w="12700" cmpd="sng">
                      <a:noFill/>
                    </a:lnL>
                    <a:lnR w="12700" cmpd="sng">
                      <a:noFill/>
                    </a:lnR>
                    <a:lnT w="12700" cmpd="sng">
                      <a:noFill/>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7620600"/>
                  </a:ext>
                </a:extLst>
              </a:tr>
            </a:tbl>
          </a:graphicData>
        </a:graphic>
      </p:graphicFrame>
    </p:spTree>
    <p:extLst>
      <p:ext uri="{BB962C8B-B14F-4D97-AF65-F5344CB8AC3E}">
        <p14:creationId xmlns:p14="http://schemas.microsoft.com/office/powerpoint/2010/main" val="2998537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ructure">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E4DE5016-2788-DB03-A98B-AB1EFE97EFEA}"/>
              </a:ext>
            </a:extLst>
          </p:cNvPr>
          <p:cNvSpPr>
            <a:spLocks noGrp="1"/>
          </p:cNvSpPr>
          <p:nvPr>
            <p:ph type="body" sz="quarter" idx="12" hasCustomPrompt="1"/>
          </p:nvPr>
        </p:nvSpPr>
        <p:spPr>
          <a:xfrm>
            <a:off x="392114" y="6483933"/>
            <a:ext cx="10491166" cy="374650"/>
          </a:xfrm>
        </p:spPr>
        <p:txBody>
          <a:bodyPr anchor="t">
            <a:normAutofit/>
          </a:bodyPr>
          <a:lstStyle>
            <a:lvl1pPr marL="228600" indent="-228600">
              <a:lnSpc>
                <a:spcPct val="100000"/>
              </a:lnSpc>
              <a:spcBef>
                <a:spcPts val="0"/>
              </a:spcBef>
              <a:buFont typeface="+mj-lt"/>
              <a:buAutoNum type="arabicPeriod"/>
              <a:defRPr sz="800">
                <a:latin typeface="Arial" panose="020B0604020202020204" pitchFamily="34" charset="0"/>
                <a:cs typeface="Arial" panose="020B0604020202020204" pitchFamily="34" charset="0"/>
              </a:defRPr>
            </a:lvl1pPr>
          </a:lstStyle>
          <a:p>
            <a:pPr lvl="0"/>
            <a:r>
              <a:rPr lang="en-US"/>
              <a:t>Footer</a:t>
            </a:r>
          </a:p>
        </p:txBody>
      </p:sp>
      <p:sp>
        <p:nvSpPr>
          <p:cNvPr id="14" name="Rectangle 7">
            <a:extLst>
              <a:ext uri="{FF2B5EF4-FFF2-40B4-BE49-F238E27FC236}">
                <a16:creationId xmlns:a16="http://schemas.microsoft.com/office/drawing/2014/main" id="{97F4A706-0F4D-4706-A9FB-B9355F5842B6}"/>
              </a:ext>
            </a:extLst>
          </p:cNvPr>
          <p:cNvSpPr/>
          <p:nvPr userDrawn="1"/>
        </p:nvSpPr>
        <p:spPr>
          <a:xfrm>
            <a:off x="0" y="673298"/>
            <a:ext cx="10491849" cy="235155"/>
          </a:xfrm>
          <a:custGeom>
            <a:avLst/>
            <a:gdLst>
              <a:gd name="connsiteX0" fmla="*/ 0 w 10629900"/>
              <a:gd name="connsiteY0" fmla="*/ 0 h 365125"/>
              <a:gd name="connsiteX1" fmla="*/ 10629900 w 10629900"/>
              <a:gd name="connsiteY1" fmla="*/ 0 h 365125"/>
              <a:gd name="connsiteX2" fmla="*/ 10629900 w 10629900"/>
              <a:gd name="connsiteY2" fmla="*/ 365125 h 365125"/>
              <a:gd name="connsiteX3" fmla="*/ 0 w 10629900"/>
              <a:gd name="connsiteY3" fmla="*/ 365125 h 365125"/>
              <a:gd name="connsiteX4" fmla="*/ 0 w 10629900"/>
              <a:gd name="connsiteY4" fmla="*/ 0 h 365125"/>
              <a:gd name="connsiteX0" fmla="*/ 0 w 10629900"/>
              <a:gd name="connsiteY0" fmla="*/ 0 h 365125"/>
              <a:gd name="connsiteX1" fmla="*/ 10629900 w 10629900"/>
              <a:gd name="connsiteY1" fmla="*/ 0 h 365125"/>
              <a:gd name="connsiteX2" fmla="*/ 10077450 w 10629900"/>
              <a:gd name="connsiteY2" fmla="*/ 355600 h 365125"/>
              <a:gd name="connsiteX3" fmla="*/ 0 w 10629900"/>
              <a:gd name="connsiteY3" fmla="*/ 365125 h 365125"/>
              <a:gd name="connsiteX4" fmla="*/ 0 w 10629900"/>
              <a:gd name="connsiteY4" fmla="*/ 0 h 36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9900" h="365125">
                <a:moveTo>
                  <a:pt x="0" y="0"/>
                </a:moveTo>
                <a:lnTo>
                  <a:pt x="10629900" y="0"/>
                </a:lnTo>
                <a:lnTo>
                  <a:pt x="10077450" y="355600"/>
                </a:lnTo>
                <a:lnTo>
                  <a:pt x="0" y="365125"/>
                </a:lnTo>
                <a:lnTo>
                  <a:pt x="0" y="0"/>
                </a:lnTo>
                <a:close/>
              </a:path>
            </a:pathLst>
          </a:custGeom>
          <a:solidFill>
            <a:schemeClr val="accent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5AEF7DA6-42FA-443D-82FD-DDB40A0BB056}"/>
              </a:ext>
            </a:extLst>
          </p:cNvPr>
          <p:cNvCxnSpPr/>
          <p:nvPr userDrawn="1"/>
        </p:nvCxnSpPr>
        <p:spPr>
          <a:xfrm>
            <a:off x="0" y="623328"/>
            <a:ext cx="12192000" cy="0"/>
          </a:xfrm>
          <a:prstGeom prst="line">
            <a:avLst/>
          </a:prstGeom>
          <a:ln w="28575">
            <a:solidFill>
              <a:srgbClr val="34364C"/>
            </a:solidFill>
          </a:ln>
        </p:spPr>
        <p:style>
          <a:lnRef idx="1">
            <a:schemeClr val="accent1"/>
          </a:lnRef>
          <a:fillRef idx="0">
            <a:schemeClr val="accent1"/>
          </a:fillRef>
          <a:effectRef idx="0">
            <a:schemeClr val="accent1"/>
          </a:effectRef>
          <a:fontRef idx="minor">
            <a:schemeClr val="tx1"/>
          </a:fontRef>
        </p:style>
      </p:cxnSp>
      <p:sp>
        <p:nvSpPr>
          <p:cNvPr id="3" name="Slide Number Placeholder 1">
            <a:extLst>
              <a:ext uri="{FF2B5EF4-FFF2-40B4-BE49-F238E27FC236}">
                <a16:creationId xmlns:a16="http://schemas.microsoft.com/office/drawing/2014/main" id="{C0264C16-D2DF-5B85-D3C4-B1B07C55B97B}"/>
              </a:ext>
            </a:extLst>
          </p:cNvPr>
          <p:cNvSpPr txBox="1">
            <a:spLocks/>
          </p:cNvSpPr>
          <p:nvPr userDrawn="1"/>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19BDD-DD89-4CD9-A1F3-D76BEB018B7B}" type="slidenum">
              <a:rPr lang="en-US" sz="1000" smtClean="0">
                <a:latin typeface="Arial" panose="020B0604020202020204" pitchFamily="34" charset="0"/>
                <a:cs typeface="Arial" panose="020B0604020202020204" pitchFamily="34" charset="0"/>
              </a:rPr>
              <a:pPr/>
              <a:t>‹#›</a:t>
            </a:fld>
            <a:endParaRPr lang="en-US" sz="1000">
              <a:latin typeface="Arial" panose="020B0604020202020204" pitchFamily="34" charset="0"/>
              <a:cs typeface="Arial" panose="020B0604020202020204" pitchFamily="34" charset="0"/>
            </a:endParaRPr>
          </a:p>
        </p:txBody>
      </p:sp>
      <p:sp>
        <p:nvSpPr>
          <p:cNvPr id="4" name="Rectangle 7">
            <a:extLst>
              <a:ext uri="{FF2B5EF4-FFF2-40B4-BE49-F238E27FC236}">
                <a16:creationId xmlns:a16="http://schemas.microsoft.com/office/drawing/2014/main" id="{64FA3D60-430C-AB99-ADFF-A7A254F13762}"/>
              </a:ext>
            </a:extLst>
          </p:cNvPr>
          <p:cNvSpPr/>
          <p:nvPr userDrawn="1"/>
        </p:nvSpPr>
        <p:spPr>
          <a:xfrm>
            <a:off x="0" y="673298"/>
            <a:ext cx="10491849" cy="235155"/>
          </a:xfrm>
          <a:custGeom>
            <a:avLst/>
            <a:gdLst>
              <a:gd name="connsiteX0" fmla="*/ 0 w 10629900"/>
              <a:gd name="connsiteY0" fmla="*/ 0 h 365125"/>
              <a:gd name="connsiteX1" fmla="*/ 10629900 w 10629900"/>
              <a:gd name="connsiteY1" fmla="*/ 0 h 365125"/>
              <a:gd name="connsiteX2" fmla="*/ 10629900 w 10629900"/>
              <a:gd name="connsiteY2" fmla="*/ 365125 h 365125"/>
              <a:gd name="connsiteX3" fmla="*/ 0 w 10629900"/>
              <a:gd name="connsiteY3" fmla="*/ 365125 h 365125"/>
              <a:gd name="connsiteX4" fmla="*/ 0 w 10629900"/>
              <a:gd name="connsiteY4" fmla="*/ 0 h 365125"/>
              <a:gd name="connsiteX0" fmla="*/ 0 w 10629900"/>
              <a:gd name="connsiteY0" fmla="*/ 0 h 365125"/>
              <a:gd name="connsiteX1" fmla="*/ 10629900 w 10629900"/>
              <a:gd name="connsiteY1" fmla="*/ 0 h 365125"/>
              <a:gd name="connsiteX2" fmla="*/ 10077450 w 10629900"/>
              <a:gd name="connsiteY2" fmla="*/ 355600 h 365125"/>
              <a:gd name="connsiteX3" fmla="*/ 0 w 10629900"/>
              <a:gd name="connsiteY3" fmla="*/ 365125 h 365125"/>
              <a:gd name="connsiteX4" fmla="*/ 0 w 10629900"/>
              <a:gd name="connsiteY4" fmla="*/ 0 h 36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9900" h="365125">
                <a:moveTo>
                  <a:pt x="0" y="0"/>
                </a:moveTo>
                <a:lnTo>
                  <a:pt x="10629900" y="0"/>
                </a:lnTo>
                <a:lnTo>
                  <a:pt x="10077450" y="355600"/>
                </a:lnTo>
                <a:lnTo>
                  <a:pt x="0" y="365125"/>
                </a:lnTo>
                <a:lnTo>
                  <a:pt x="0" y="0"/>
                </a:lnTo>
                <a:close/>
              </a:path>
            </a:pathLst>
          </a:custGeom>
          <a:solidFill>
            <a:schemeClr val="accent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6F1D922F-995F-7FF0-F91E-30F742E8759E}"/>
              </a:ext>
            </a:extLst>
          </p:cNvPr>
          <p:cNvCxnSpPr/>
          <p:nvPr userDrawn="1"/>
        </p:nvCxnSpPr>
        <p:spPr>
          <a:xfrm>
            <a:off x="0" y="623328"/>
            <a:ext cx="12192000" cy="0"/>
          </a:xfrm>
          <a:prstGeom prst="line">
            <a:avLst/>
          </a:prstGeom>
          <a:ln w="28575">
            <a:solidFill>
              <a:srgbClr val="3436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B2526F0-0C04-4EEA-EA6D-BA066C6F8EC0}"/>
              </a:ext>
            </a:extLst>
          </p:cNvPr>
          <p:cNvSpPr txBox="1"/>
          <p:nvPr userDrawn="1"/>
        </p:nvSpPr>
        <p:spPr>
          <a:xfrm>
            <a:off x="333375" y="73388"/>
            <a:ext cx="1789040" cy="523220"/>
          </a:xfrm>
          <a:prstGeom prst="rect">
            <a:avLst/>
          </a:prstGeom>
          <a:noFill/>
        </p:spPr>
        <p:txBody>
          <a:bodyPr wrap="square" rtlCol="0">
            <a:spAutoFit/>
          </a:bodyPr>
          <a:lstStyle/>
          <a:p>
            <a:pPr algn="l"/>
            <a:r>
              <a:rPr lang="en-US" sz="2800" b="1">
                <a:solidFill>
                  <a:schemeClr val="tx1"/>
                </a:solidFill>
                <a:latin typeface="Arial" panose="020B0604020202020204" pitchFamily="34" charset="0"/>
                <a:cs typeface="Arial" panose="020B0604020202020204" pitchFamily="34" charset="0"/>
              </a:rPr>
              <a:t>Structure</a:t>
            </a:r>
          </a:p>
        </p:txBody>
      </p:sp>
      <p:sp>
        <p:nvSpPr>
          <p:cNvPr id="7" name="TextBox 6">
            <a:extLst>
              <a:ext uri="{FF2B5EF4-FFF2-40B4-BE49-F238E27FC236}">
                <a16:creationId xmlns:a16="http://schemas.microsoft.com/office/drawing/2014/main" id="{C541EFD0-36A4-A450-E728-17FE6C7E6CEB}"/>
              </a:ext>
            </a:extLst>
          </p:cNvPr>
          <p:cNvSpPr txBox="1"/>
          <p:nvPr userDrawn="1"/>
        </p:nvSpPr>
        <p:spPr>
          <a:xfrm>
            <a:off x="2016040" y="169777"/>
            <a:ext cx="262371" cy="400110"/>
          </a:xfrm>
          <a:prstGeom prst="rect">
            <a:avLst/>
          </a:prstGeom>
          <a:noFill/>
        </p:spPr>
        <p:txBody>
          <a:bodyPr wrap="square" rtlCol="0">
            <a:spAutoFit/>
          </a:bodyPr>
          <a:lstStyle/>
          <a:p>
            <a:pPr algn="l"/>
            <a:r>
              <a:rPr lang="en-US" sz="2000" b="0">
                <a:latin typeface="Arial" panose="020B0604020202020204" pitchFamily="34" charset="0"/>
                <a:cs typeface="Arial" panose="020B0604020202020204" pitchFamily="34" charset="0"/>
              </a:rPr>
              <a:t>|</a:t>
            </a:r>
            <a:endParaRPr lang="en-US" sz="2000" b="1">
              <a:solidFill>
                <a:schemeClr val="tx1"/>
              </a:solidFill>
              <a:latin typeface="Arial" panose="020B0604020202020204" pitchFamily="34" charset="0"/>
              <a:cs typeface="Arial" panose="020B0604020202020204" pitchFamily="34" charset="0"/>
            </a:endParaRPr>
          </a:p>
        </p:txBody>
      </p:sp>
      <p:sp>
        <p:nvSpPr>
          <p:cNvPr id="8" name="Text Placeholder 17">
            <a:extLst>
              <a:ext uri="{FF2B5EF4-FFF2-40B4-BE49-F238E27FC236}">
                <a16:creationId xmlns:a16="http://schemas.microsoft.com/office/drawing/2014/main" id="{4E814CF0-3259-14A7-E507-5949F673612F}"/>
              </a:ext>
            </a:extLst>
          </p:cNvPr>
          <p:cNvSpPr>
            <a:spLocks noGrp="1"/>
          </p:cNvSpPr>
          <p:nvPr>
            <p:ph type="body" sz="quarter" idx="14" hasCustomPrompt="1"/>
          </p:nvPr>
        </p:nvSpPr>
        <p:spPr>
          <a:xfrm>
            <a:off x="2163418" y="228719"/>
            <a:ext cx="8204662" cy="357794"/>
          </a:xfrm>
        </p:spPr>
        <p:txBody>
          <a:bodyPr/>
          <a:lstStyle>
            <a:lvl1pPr marL="0" indent="0">
              <a:buNone/>
              <a:defRPr sz="2000">
                <a:latin typeface="Arial" panose="020B0604020202020204" pitchFamily="34" charset="0"/>
                <a:cs typeface="Arial" panose="020B0604020202020204" pitchFamily="34" charset="0"/>
              </a:defRPr>
            </a:lvl1pPr>
            <a:lvl2pPr marL="457200" indent="0">
              <a:buNone/>
              <a:defRPr/>
            </a:lvl2pPr>
          </a:lstStyle>
          <a:p>
            <a:pPr lvl="0"/>
            <a:r>
              <a:rPr lang="en-US"/>
              <a:t>Deal Name</a:t>
            </a:r>
          </a:p>
        </p:txBody>
      </p:sp>
      <p:sp>
        <p:nvSpPr>
          <p:cNvPr id="15" name="Text Placeholder 26">
            <a:extLst>
              <a:ext uri="{FF2B5EF4-FFF2-40B4-BE49-F238E27FC236}">
                <a16:creationId xmlns:a16="http://schemas.microsoft.com/office/drawing/2014/main" id="{7DFE5F9E-D14C-5337-73B7-874B1B0C6A69}"/>
              </a:ext>
            </a:extLst>
          </p:cNvPr>
          <p:cNvSpPr>
            <a:spLocks noGrp="1"/>
          </p:cNvSpPr>
          <p:nvPr>
            <p:ph type="body" sz="quarter" idx="13" hasCustomPrompt="1"/>
          </p:nvPr>
        </p:nvSpPr>
        <p:spPr>
          <a:xfrm>
            <a:off x="239215" y="994315"/>
            <a:ext cx="5710866" cy="5265259"/>
          </a:xfrm>
        </p:spPr>
        <p:txBody>
          <a:bodyPr>
            <a:normAutofit/>
          </a:bodyPr>
          <a:lstStyle>
            <a:lvl1pPr>
              <a:defRPr sz="100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Text</a:t>
            </a:r>
          </a:p>
        </p:txBody>
      </p:sp>
      <p:sp>
        <p:nvSpPr>
          <p:cNvPr id="10" name="Picture Placeholder 10">
            <a:extLst>
              <a:ext uri="{FF2B5EF4-FFF2-40B4-BE49-F238E27FC236}">
                <a16:creationId xmlns:a16="http://schemas.microsoft.com/office/drawing/2014/main" id="{F2411997-20E4-9904-E10B-1FBF468BA801}"/>
              </a:ext>
            </a:extLst>
          </p:cNvPr>
          <p:cNvSpPr>
            <a:spLocks noGrp="1"/>
          </p:cNvSpPr>
          <p:nvPr>
            <p:ph type="pic" sz="quarter" idx="15" hasCustomPrompt="1"/>
          </p:nvPr>
        </p:nvSpPr>
        <p:spPr>
          <a:xfrm>
            <a:off x="6420678" y="994315"/>
            <a:ext cx="5506279" cy="5291138"/>
          </a:xfrm>
        </p:spPr>
        <p:txBody>
          <a:bodyPr>
            <a:normAutofit/>
          </a:bodyPr>
          <a:lstStyle>
            <a:lvl1pPr>
              <a:defRPr sz="1000">
                <a:latin typeface="Arial" panose="020B0604020202020204" pitchFamily="34" charset="0"/>
                <a:cs typeface="Arial" panose="020B0604020202020204" pitchFamily="34" charset="0"/>
              </a:defRPr>
            </a:lvl1pPr>
          </a:lstStyle>
          <a:p>
            <a:r>
              <a:rPr lang="en-US" sz="1000"/>
              <a:t>Map</a:t>
            </a:r>
            <a:endParaRPr lang="en-US"/>
          </a:p>
        </p:txBody>
      </p:sp>
    </p:spTree>
    <p:extLst>
      <p:ext uri="{BB962C8B-B14F-4D97-AF65-F5344CB8AC3E}">
        <p14:creationId xmlns:p14="http://schemas.microsoft.com/office/powerpoint/2010/main" val="97124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ype Lo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82721E68-FD60-69D8-A1AA-E9360BACE8D2}"/>
              </a:ext>
            </a:extLst>
          </p:cNvPr>
          <p:cNvSpPr>
            <a:spLocks noGrp="1"/>
          </p:cNvSpPr>
          <p:nvPr>
            <p:ph type="pic" sz="quarter" idx="16"/>
          </p:nvPr>
        </p:nvSpPr>
        <p:spPr>
          <a:xfrm>
            <a:off x="239843" y="993774"/>
            <a:ext cx="5715000" cy="5266944"/>
          </a:xfrm>
        </p:spPr>
        <p:txBody>
          <a:bodyPr>
            <a:normAutofit/>
          </a:bodyPr>
          <a:lstStyle>
            <a:lvl1pPr>
              <a:defRPr sz="1000">
                <a:latin typeface="Arial" panose="020B0604020202020204" pitchFamily="34" charset="0"/>
                <a:cs typeface="Arial" panose="020B0604020202020204" pitchFamily="34" charset="0"/>
              </a:defRPr>
            </a:lvl1pPr>
          </a:lstStyle>
          <a:p>
            <a:endParaRPr lang="en-US"/>
          </a:p>
        </p:txBody>
      </p:sp>
      <p:sp>
        <p:nvSpPr>
          <p:cNvPr id="13" name="Text Placeholder 12">
            <a:extLst>
              <a:ext uri="{FF2B5EF4-FFF2-40B4-BE49-F238E27FC236}">
                <a16:creationId xmlns:a16="http://schemas.microsoft.com/office/drawing/2014/main" id="{E4DE5016-2788-DB03-A98B-AB1EFE97EFEA}"/>
              </a:ext>
            </a:extLst>
          </p:cNvPr>
          <p:cNvSpPr>
            <a:spLocks noGrp="1"/>
          </p:cNvSpPr>
          <p:nvPr>
            <p:ph type="body" sz="quarter" idx="12" hasCustomPrompt="1"/>
          </p:nvPr>
        </p:nvSpPr>
        <p:spPr>
          <a:xfrm>
            <a:off x="392114" y="6483933"/>
            <a:ext cx="10491166" cy="374650"/>
          </a:xfrm>
        </p:spPr>
        <p:txBody>
          <a:bodyPr anchor="t">
            <a:normAutofit/>
          </a:bodyPr>
          <a:lstStyle>
            <a:lvl1pPr marL="228600" indent="-228600">
              <a:lnSpc>
                <a:spcPct val="100000"/>
              </a:lnSpc>
              <a:spcBef>
                <a:spcPts val="0"/>
              </a:spcBef>
              <a:buFont typeface="+mj-lt"/>
              <a:buAutoNum type="arabicPeriod"/>
              <a:defRPr sz="800">
                <a:latin typeface="Arial" panose="020B0604020202020204" pitchFamily="34" charset="0"/>
                <a:cs typeface="Arial" panose="020B0604020202020204" pitchFamily="34" charset="0"/>
              </a:defRPr>
            </a:lvl1pPr>
          </a:lstStyle>
          <a:p>
            <a:pPr lvl="0"/>
            <a:r>
              <a:rPr lang="en-US"/>
              <a:t>Footer</a:t>
            </a:r>
          </a:p>
        </p:txBody>
      </p:sp>
      <p:sp>
        <p:nvSpPr>
          <p:cNvPr id="14" name="Rectangle 7">
            <a:extLst>
              <a:ext uri="{FF2B5EF4-FFF2-40B4-BE49-F238E27FC236}">
                <a16:creationId xmlns:a16="http://schemas.microsoft.com/office/drawing/2014/main" id="{97F4A706-0F4D-4706-A9FB-B9355F5842B6}"/>
              </a:ext>
            </a:extLst>
          </p:cNvPr>
          <p:cNvSpPr/>
          <p:nvPr userDrawn="1"/>
        </p:nvSpPr>
        <p:spPr>
          <a:xfrm>
            <a:off x="0" y="673298"/>
            <a:ext cx="10491849" cy="235155"/>
          </a:xfrm>
          <a:custGeom>
            <a:avLst/>
            <a:gdLst>
              <a:gd name="connsiteX0" fmla="*/ 0 w 10629900"/>
              <a:gd name="connsiteY0" fmla="*/ 0 h 365125"/>
              <a:gd name="connsiteX1" fmla="*/ 10629900 w 10629900"/>
              <a:gd name="connsiteY1" fmla="*/ 0 h 365125"/>
              <a:gd name="connsiteX2" fmla="*/ 10629900 w 10629900"/>
              <a:gd name="connsiteY2" fmla="*/ 365125 h 365125"/>
              <a:gd name="connsiteX3" fmla="*/ 0 w 10629900"/>
              <a:gd name="connsiteY3" fmla="*/ 365125 h 365125"/>
              <a:gd name="connsiteX4" fmla="*/ 0 w 10629900"/>
              <a:gd name="connsiteY4" fmla="*/ 0 h 365125"/>
              <a:gd name="connsiteX0" fmla="*/ 0 w 10629900"/>
              <a:gd name="connsiteY0" fmla="*/ 0 h 365125"/>
              <a:gd name="connsiteX1" fmla="*/ 10629900 w 10629900"/>
              <a:gd name="connsiteY1" fmla="*/ 0 h 365125"/>
              <a:gd name="connsiteX2" fmla="*/ 10077450 w 10629900"/>
              <a:gd name="connsiteY2" fmla="*/ 355600 h 365125"/>
              <a:gd name="connsiteX3" fmla="*/ 0 w 10629900"/>
              <a:gd name="connsiteY3" fmla="*/ 365125 h 365125"/>
              <a:gd name="connsiteX4" fmla="*/ 0 w 10629900"/>
              <a:gd name="connsiteY4" fmla="*/ 0 h 36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9900" h="365125">
                <a:moveTo>
                  <a:pt x="0" y="0"/>
                </a:moveTo>
                <a:lnTo>
                  <a:pt x="10629900" y="0"/>
                </a:lnTo>
                <a:lnTo>
                  <a:pt x="10077450" y="355600"/>
                </a:lnTo>
                <a:lnTo>
                  <a:pt x="0" y="365125"/>
                </a:lnTo>
                <a:lnTo>
                  <a:pt x="0" y="0"/>
                </a:lnTo>
                <a:close/>
              </a:path>
            </a:pathLst>
          </a:custGeom>
          <a:solidFill>
            <a:schemeClr val="accent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5AEF7DA6-42FA-443D-82FD-DDB40A0BB056}"/>
              </a:ext>
            </a:extLst>
          </p:cNvPr>
          <p:cNvCxnSpPr/>
          <p:nvPr userDrawn="1"/>
        </p:nvCxnSpPr>
        <p:spPr>
          <a:xfrm>
            <a:off x="0" y="623328"/>
            <a:ext cx="12192000" cy="0"/>
          </a:xfrm>
          <a:prstGeom prst="line">
            <a:avLst/>
          </a:prstGeom>
          <a:ln w="28575">
            <a:solidFill>
              <a:srgbClr val="34364C"/>
            </a:solidFill>
          </a:ln>
        </p:spPr>
        <p:style>
          <a:lnRef idx="1">
            <a:schemeClr val="accent1"/>
          </a:lnRef>
          <a:fillRef idx="0">
            <a:schemeClr val="accent1"/>
          </a:fillRef>
          <a:effectRef idx="0">
            <a:schemeClr val="accent1"/>
          </a:effectRef>
          <a:fontRef idx="minor">
            <a:schemeClr val="tx1"/>
          </a:fontRef>
        </p:style>
      </p:cxnSp>
      <p:sp>
        <p:nvSpPr>
          <p:cNvPr id="3" name="Slide Number Placeholder 1">
            <a:extLst>
              <a:ext uri="{FF2B5EF4-FFF2-40B4-BE49-F238E27FC236}">
                <a16:creationId xmlns:a16="http://schemas.microsoft.com/office/drawing/2014/main" id="{C0264C16-D2DF-5B85-D3C4-B1B07C55B97B}"/>
              </a:ext>
            </a:extLst>
          </p:cNvPr>
          <p:cNvSpPr txBox="1">
            <a:spLocks/>
          </p:cNvSpPr>
          <p:nvPr userDrawn="1"/>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19BDD-DD89-4CD9-A1F3-D76BEB018B7B}" type="slidenum">
              <a:rPr lang="en-US" sz="1000" smtClean="0">
                <a:latin typeface="Arial" panose="020B0604020202020204" pitchFamily="34" charset="0"/>
                <a:cs typeface="Arial" panose="020B0604020202020204" pitchFamily="34" charset="0"/>
              </a:rPr>
              <a:pPr/>
              <a:t>‹#›</a:t>
            </a:fld>
            <a:endParaRPr lang="en-US" sz="1000">
              <a:latin typeface="Arial" panose="020B0604020202020204" pitchFamily="34" charset="0"/>
              <a:cs typeface="Arial" panose="020B0604020202020204" pitchFamily="34" charset="0"/>
            </a:endParaRPr>
          </a:p>
        </p:txBody>
      </p:sp>
      <p:sp>
        <p:nvSpPr>
          <p:cNvPr id="4" name="Rectangle 7">
            <a:extLst>
              <a:ext uri="{FF2B5EF4-FFF2-40B4-BE49-F238E27FC236}">
                <a16:creationId xmlns:a16="http://schemas.microsoft.com/office/drawing/2014/main" id="{64FA3D60-430C-AB99-ADFF-A7A254F13762}"/>
              </a:ext>
            </a:extLst>
          </p:cNvPr>
          <p:cNvSpPr/>
          <p:nvPr userDrawn="1"/>
        </p:nvSpPr>
        <p:spPr>
          <a:xfrm>
            <a:off x="0" y="673298"/>
            <a:ext cx="10491849" cy="235155"/>
          </a:xfrm>
          <a:custGeom>
            <a:avLst/>
            <a:gdLst>
              <a:gd name="connsiteX0" fmla="*/ 0 w 10629900"/>
              <a:gd name="connsiteY0" fmla="*/ 0 h 365125"/>
              <a:gd name="connsiteX1" fmla="*/ 10629900 w 10629900"/>
              <a:gd name="connsiteY1" fmla="*/ 0 h 365125"/>
              <a:gd name="connsiteX2" fmla="*/ 10629900 w 10629900"/>
              <a:gd name="connsiteY2" fmla="*/ 365125 h 365125"/>
              <a:gd name="connsiteX3" fmla="*/ 0 w 10629900"/>
              <a:gd name="connsiteY3" fmla="*/ 365125 h 365125"/>
              <a:gd name="connsiteX4" fmla="*/ 0 w 10629900"/>
              <a:gd name="connsiteY4" fmla="*/ 0 h 365125"/>
              <a:gd name="connsiteX0" fmla="*/ 0 w 10629900"/>
              <a:gd name="connsiteY0" fmla="*/ 0 h 365125"/>
              <a:gd name="connsiteX1" fmla="*/ 10629900 w 10629900"/>
              <a:gd name="connsiteY1" fmla="*/ 0 h 365125"/>
              <a:gd name="connsiteX2" fmla="*/ 10077450 w 10629900"/>
              <a:gd name="connsiteY2" fmla="*/ 355600 h 365125"/>
              <a:gd name="connsiteX3" fmla="*/ 0 w 10629900"/>
              <a:gd name="connsiteY3" fmla="*/ 365125 h 365125"/>
              <a:gd name="connsiteX4" fmla="*/ 0 w 10629900"/>
              <a:gd name="connsiteY4" fmla="*/ 0 h 36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9900" h="365125">
                <a:moveTo>
                  <a:pt x="0" y="0"/>
                </a:moveTo>
                <a:lnTo>
                  <a:pt x="10629900" y="0"/>
                </a:lnTo>
                <a:lnTo>
                  <a:pt x="10077450" y="355600"/>
                </a:lnTo>
                <a:lnTo>
                  <a:pt x="0" y="365125"/>
                </a:lnTo>
                <a:lnTo>
                  <a:pt x="0" y="0"/>
                </a:lnTo>
                <a:close/>
              </a:path>
            </a:pathLst>
          </a:custGeom>
          <a:solidFill>
            <a:schemeClr val="accent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6F1D922F-995F-7FF0-F91E-30F742E8759E}"/>
              </a:ext>
            </a:extLst>
          </p:cNvPr>
          <p:cNvCxnSpPr/>
          <p:nvPr userDrawn="1"/>
        </p:nvCxnSpPr>
        <p:spPr>
          <a:xfrm>
            <a:off x="0" y="623328"/>
            <a:ext cx="12192000" cy="0"/>
          </a:xfrm>
          <a:prstGeom prst="line">
            <a:avLst/>
          </a:prstGeom>
          <a:ln w="28575">
            <a:solidFill>
              <a:srgbClr val="3436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B2526F0-0C04-4EEA-EA6D-BA066C6F8EC0}"/>
              </a:ext>
            </a:extLst>
          </p:cNvPr>
          <p:cNvSpPr txBox="1"/>
          <p:nvPr userDrawn="1"/>
        </p:nvSpPr>
        <p:spPr>
          <a:xfrm>
            <a:off x="333375" y="73388"/>
            <a:ext cx="1789040" cy="523220"/>
          </a:xfrm>
          <a:prstGeom prst="rect">
            <a:avLst/>
          </a:prstGeom>
          <a:noFill/>
        </p:spPr>
        <p:txBody>
          <a:bodyPr wrap="square" rtlCol="0">
            <a:spAutoFit/>
          </a:bodyPr>
          <a:lstStyle/>
          <a:p>
            <a:pPr algn="l"/>
            <a:r>
              <a:rPr lang="en-US" sz="2800" b="1">
                <a:solidFill>
                  <a:schemeClr val="tx1"/>
                </a:solidFill>
                <a:latin typeface="Arial" panose="020B0604020202020204" pitchFamily="34" charset="0"/>
                <a:cs typeface="Arial" panose="020B0604020202020204" pitchFamily="34" charset="0"/>
              </a:rPr>
              <a:t>Type Log</a:t>
            </a:r>
          </a:p>
        </p:txBody>
      </p:sp>
      <p:sp>
        <p:nvSpPr>
          <p:cNvPr id="7" name="TextBox 6">
            <a:extLst>
              <a:ext uri="{FF2B5EF4-FFF2-40B4-BE49-F238E27FC236}">
                <a16:creationId xmlns:a16="http://schemas.microsoft.com/office/drawing/2014/main" id="{C541EFD0-36A4-A450-E728-17FE6C7E6CEB}"/>
              </a:ext>
            </a:extLst>
          </p:cNvPr>
          <p:cNvSpPr txBox="1"/>
          <p:nvPr userDrawn="1"/>
        </p:nvSpPr>
        <p:spPr>
          <a:xfrm>
            <a:off x="1999414" y="169777"/>
            <a:ext cx="262371" cy="400110"/>
          </a:xfrm>
          <a:prstGeom prst="rect">
            <a:avLst/>
          </a:prstGeom>
          <a:noFill/>
        </p:spPr>
        <p:txBody>
          <a:bodyPr wrap="square" rtlCol="0">
            <a:spAutoFit/>
          </a:bodyPr>
          <a:lstStyle/>
          <a:p>
            <a:pPr algn="l"/>
            <a:r>
              <a:rPr lang="en-US" sz="2000" b="0">
                <a:latin typeface="Arial" panose="020B0604020202020204" pitchFamily="34" charset="0"/>
                <a:cs typeface="Arial" panose="020B0604020202020204" pitchFamily="34" charset="0"/>
              </a:rPr>
              <a:t>|</a:t>
            </a:r>
            <a:endParaRPr lang="en-US" sz="2000" b="1">
              <a:solidFill>
                <a:schemeClr val="tx1"/>
              </a:solidFill>
              <a:latin typeface="Arial" panose="020B0604020202020204" pitchFamily="34" charset="0"/>
              <a:cs typeface="Arial" panose="020B0604020202020204" pitchFamily="34" charset="0"/>
            </a:endParaRPr>
          </a:p>
        </p:txBody>
      </p:sp>
      <p:sp>
        <p:nvSpPr>
          <p:cNvPr id="8" name="Text Placeholder 17">
            <a:extLst>
              <a:ext uri="{FF2B5EF4-FFF2-40B4-BE49-F238E27FC236}">
                <a16:creationId xmlns:a16="http://schemas.microsoft.com/office/drawing/2014/main" id="{4E814CF0-3259-14A7-E507-5949F673612F}"/>
              </a:ext>
            </a:extLst>
          </p:cNvPr>
          <p:cNvSpPr>
            <a:spLocks noGrp="1"/>
          </p:cNvSpPr>
          <p:nvPr>
            <p:ph type="body" sz="quarter" idx="14" hasCustomPrompt="1"/>
          </p:nvPr>
        </p:nvSpPr>
        <p:spPr>
          <a:xfrm>
            <a:off x="2146792" y="228719"/>
            <a:ext cx="8204662" cy="357794"/>
          </a:xfrm>
        </p:spPr>
        <p:txBody>
          <a:bodyPr/>
          <a:lstStyle>
            <a:lvl1pPr marL="0" indent="0">
              <a:buNone/>
              <a:defRPr sz="2000">
                <a:latin typeface="Arial" panose="020B0604020202020204" pitchFamily="34" charset="0"/>
                <a:cs typeface="Arial" panose="020B0604020202020204" pitchFamily="34" charset="0"/>
              </a:defRPr>
            </a:lvl1pPr>
            <a:lvl2pPr marL="457200" indent="0">
              <a:buNone/>
              <a:defRPr/>
            </a:lvl2pPr>
          </a:lstStyle>
          <a:p>
            <a:pPr lvl="0"/>
            <a:r>
              <a:rPr lang="en-US"/>
              <a:t>Deal Name</a:t>
            </a:r>
          </a:p>
        </p:txBody>
      </p:sp>
      <p:sp>
        <p:nvSpPr>
          <p:cNvPr id="11" name="Picture Placeholder 10">
            <a:extLst>
              <a:ext uri="{FF2B5EF4-FFF2-40B4-BE49-F238E27FC236}">
                <a16:creationId xmlns:a16="http://schemas.microsoft.com/office/drawing/2014/main" id="{2D3D1D8C-B6D2-46CF-5094-8E6F871C6323}"/>
              </a:ext>
            </a:extLst>
          </p:cNvPr>
          <p:cNvSpPr>
            <a:spLocks noGrp="1"/>
          </p:cNvSpPr>
          <p:nvPr>
            <p:ph type="pic" sz="quarter" idx="15" hasCustomPrompt="1"/>
          </p:nvPr>
        </p:nvSpPr>
        <p:spPr>
          <a:xfrm>
            <a:off x="6420678" y="994315"/>
            <a:ext cx="5506279" cy="5291138"/>
          </a:xfrm>
        </p:spPr>
        <p:txBody>
          <a:bodyPr>
            <a:normAutofit/>
          </a:bodyPr>
          <a:lstStyle>
            <a:lvl1pPr>
              <a:defRPr sz="1000">
                <a:latin typeface="Arial" panose="020B0604020202020204" pitchFamily="34" charset="0"/>
                <a:cs typeface="Arial" panose="020B0604020202020204" pitchFamily="34" charset="0"/>
              </a:defRPr>
            </a:lvl1pPr>
          </a:lstStyle>
          <a:p>
            <a:r>
              <a:rPr lang="en-US" sz="1000"/>
              <a:t>Map</a:t>
            </a:r>
            <a:endParaRPr lang="en-US"/>
          </a:p>
        </p:txBody>
      </p:sp>
    </p:spTree>
    <p:extLst>
      <p:ext uri="{BB962C8B-B14F-4D97-AF65-F5344CB8AC3E}">
        <p14:creationId xmlns:p14="http://schemas.microsoft.com/office/powerpoint/2010/main" val="748954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ross Section">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E4DE5016-2788-DB03-A98B-AB1EFE97EFEA}"/>
              </a:ext>
            </a:extLst>
          </p:cNvPr>
          <p:cNvSpPr>
            <a:spLocks noGrp="1"/>
          </p:cNvSpPr>
          <p:nvPr>
            <p:ph type="body" sz="quarter" idx="12" hasCustomPrompt="1"/>
          </p:nvPr>
        </p:nvSpPr>
        <p:spPr>
          <a:xfrm>
            <a:off x="392114" y="6483933"/>
            <a:ext cx="10491166" cy="374650"/>
          </a:xfrm>
        </p:spPr>
        <p:txBody>
          <a:bodyPr anchor="t">
            <a:normAutofit/>
          </a:bodyPr>
          <a:lstStyle>
            <a:lvl1pPr marL="228600" indent="-228600">
              <a:lnSpc>
                <a:spcPct val="100000"/>
              </a:lnSpc>
              <a:spcBef>
                <a:spcPts val="0"/>
              </a:spcBef>
              <a:buFont typeface="+mj-lt"/>
              <a:buAutoNum type="arabicPeriod"/>
              <a:defRPr sz="800">
                <a:latin typeface="Arial" panose="020B0604020202020204" pitchFamily="34" charset="0"/>
                <a:cs typeface="Arial" panose="020B0604020202020204" pitchFamily="34" charset="0"/>
              </a:defRPr>
            </a:lvl1pPr>
          </a:lstStyle>
          <a:p>
            <a:pPr lvl="0"/>
            <a:r>
              <a:rPr lang="en-US"/>
              <a:t>Footer</a:t>
            </a:r>
          </a:p>
        </p:txBody>
      </p:sp>
      <p:sp>
        <p:nvSpPr>
          <p:cNvPr id="14" name="Rectangle 7">
            <a:extLst>
              <a:ext uri="{FF2B5EF4-FFF2-40B4-BE49-F238E27FC236}">
                <a16:creationId xmlns:a16="http://schemas.microsoft.com/office/drawing/2014/main" id="{97F4A706-0F4D-4706-A9FB-B9355F5842B6}"/>
              </a:ext>
            </a:extLst>
          </p:cNvPr>
          <p:cNvSpPr/>
          <p:nvPr userDrawn="1"/>
        </p:nvSpPr>
        <p:spPr>
          <a:xfrm>
            <a:off x="0" y="673298"/>
            <a:ext cx="10491849" cy="235155"/>
          </a:xfrm>
          <a:custGeom>
            <a:avLst/>
            <a:gdLst>
              <a:gd name="connsiteX0" fmla="*/ 0 w 10629900"/>
              <a:gd name="connsiteY0" fmla="*/ 0 h 365125"/>
              <a:gd name="connsiteX1" fmla="*/ 10629900 w 10629900"/>
              <a:gd name="connsiteY1" fmla="*/ 0 h 365125"/>
              <a:gd name="connsiteX2" fmla="*/ 10629900 w 10629900"/>
              <a:gd name="connsiteY2" fmla="*/ 365125 h 365125"/>
              <a:gd name="connsiteX3" fmla="*/ 0 w 10629900"/>
              <a:gd name="connsiteY3" fmla="*/ 365125 h 365125"/>
              <a:gd name="connsiteX4" fmla="*/ 0 w 10629900"/>
              <a:gd name="connsiteY4" fmla="*/ 0 h 365125"/>
              <a:gd name="connsiteX0" fmla="*/ 0 w 10629900"/>
              <a:gd name="connsiteY0" fmla="*/ 0 h 365125"/>
              <a:gd name="connsiteX1" fmla="*/ 10629900 w 10629900"/>
              <a:gd name="connsiteY1" fmla="*/ 0 h 365125"/>
              <a:gd name="connsiteX2" fmla="*/ 10077450 w 10629900"/>
              <a:gd name="connsiteY2" fmla="*/ 355600 h 365125"/>
              <a:gd name="connsiteX3" fmla="*/ 0 w 10629900"/>
              <a:gd name="connsiteY3" fmla="*/ 365125 h 365125"/>
              <a:gd name="connsiteX4" fmla="*/ 0 w 10629900"/>
              <a:gd name="connsiteY4" fmla="*/ 0 h 36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9900" h="365125">
                <a:moveTo>
                  <a:pt x="0" y="0"/>
                </a:moveTo>
                <a:lnTo>
                  <a:pt x="10629900" y="0"/>
                </a:lnTo>
                <a:lnTo>
                  <a:pt x="10077450" y="355600"/>
                </a:lnTo>
                <a:lnTo>
                  <a:pt x="0" y="365125"/>
                </a:lnTo>
                <a:lnTo>
                  <a:pt x="0" y="0"/>
                </a:lnTo>
                <a:close/>
              </a:path>
            </a:pathLst>
          </a:custGeom>
          <a:solidFill>
            <a:schemeClr val="accent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5AEF7DA6-42FA-443D-82FD-DDB40A0BB056}"/>
              </a:ext>
            </a:extLst>
          </p:cNvPr>
          <p:cNvCxnSpPr/>
          <p:nvPr userDrawn="1"/>
        </p:nvCxnSpPr>
        <p:spPr>
          <a:xfrm>
            <a:off x="0" y="623328"/>
            <a:ext cx="12192000" cy="0"/>
          </a:xfrm>
          <a:prstGeom prst="line">
            <a:avLst/>
          </a:prstGeom>
          <a:ln w="28575">
            <a:solidFill>
              <a:srgbClr val="34364C"/>
            </a:solidFill>
          </a:ln>
        </p:spPr>
        <p:style>
          <a:lnRef idx="1">
            <a:schemeClr val="accent1"/>
          </a:lnRef>
          <a:fillRef idx="0">
            <a:schemeClr val="accent1"/>
          </a:fillRef>
          <a:effectRef idx="0">
            <a:schemeClr val="accent1"/>
          </a:effectRef>
          <a:fontRef idx="minor">
            <a:schemeClr val="tx1"/>
          </a:fontRef>
        </p:style>
      </p:cxnSp>
      <p:sp>
        <p:nvSpPr>
          <p:cNvPr id="3" name="Slide Number Placeholder 1">
            <a:extLst>
              <a:ext uri="{FF2B5EF4-FFF2-40B4-BE49-F238E27FC236}">
                <a16:creationId xmlns:a16="http://schemas.microsoft.com/office/drawing/2014/main" id="{C0264C16-D2DF-5B85-D3C4-B1B07C55B97B}"/>
              </a:ext>
            </a:extLst>
          </p:cNvPr>
          <p:cNvSpPr txBox="1">
            <a:spLocks/>
          </p:cNvSpPr>
          <p:nvPr userDrawn="1"/>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B19BDD-DD89-4CD9-A1F3-D76BEB018B7B}" type="slidenum">
              <a:rPr lang="en-US" sz="1000" smtClean="0">
                <a:latin typeface="Arial" panose="020B0604020202020204" pitchFamily="34" charset="0"/>
                <a:cs typeface="Arial" panose="020B0604020202020204" pitchFamily="34" charset="0"/>
              </a:rPr>
              <a:pPr/>
              <a:t>‹#›</a:t>
            </a:fld>
            <a:endParaRPr lang="en-US" sz="1000">
              <a:latin typeface="Arial" panose="020B0604020202020204" pitchFamily="34" charset="0"/>
              <a:cs typeface="Arial" panose="020B0604020202020204" pitchFamily="34" charset="0"/>
            </a:endParaRPr>
          </a:p>
        </p:txBody>
      </p:sp>
      <p:sp>
        <p:nvSpPr>
          <p:cNvPr id="4" name="Rectangle 7">
            <a:extLst>
              <a:ext uri="{FF2B5EF4-FFF2-40B4-BE49-F238E27FC236}">
                <a16:creationId xmlns:a16="http://schemas.microsoft.com/office/drawing/2014/main" id="{64FA3D60-430C-AB99-ADFF-A7A254F13762}"/>
              </a:ext>
            </a:extLst>
          </p:cNvPr>
          <p:cNvSpPr/>
          <p:nvPr userDrawn="1"/>
        </p:nvSpPr>
        <p:spPr>
          <a:xfrm>
            <a:off x="0" y="673298"/>
            <a:ext cx="10491849" cy="235155"/>
          </a:xfrm>
          <a:custGeom>
            <a:avLst/>
            <a:gdLst>
              <a:gd name="connsiteX0" fmla="*/ 0 w 10629900"/>
              <a:gd name="connsiteY0" fmla="*/ 0 h 365125"/>
              <a:gd name="connsiteX1" fmla="*/ 10629900 w 10629900"/>
              <a:gd name="connsiteY1" fmla="*/ 0 h 365125"/>
              <a:gd name="connsiteX2" fmla="*/ 10629900 w 10629900"/>
              <a:gd name="connsiteY2" fmla="*/ 365125 h 365125"/>
              <a:gd name="connsiteX3" fmla="*/ 0 w 10629900"/>
              <a:gd name="connsiteY3" fmla="*/ 365125 h 365125"/>
              <a:gd name="connsiteX4" fmla="*/ 0 w 10629900"/>
              <a:gd name="connsiteY4" fmla="*/ 0 h 365125"/>
              <a:gd name="connsiteX0" fmla="*/ 0 w 10629900"/>
              <a:gd name="connsiteY0" fmla="*/ 0 h 365125"/>
              <a:gd name="connsiteX1" fmla="*/ 10629900 w 10629900"/>
              <a:gd name="connsiteY1" fmla="*/ 0 h 365125"/>
              <a:gd name="connsiteX2" fmla="*/ 10077450 w 10629900"/>
              <a:gd name="connsiteY2" fmla="*/ 355600 h 365125"/>
              <a:gd name="connsiteX3" fmla="*/ 0 w 10629900"/>
              <a:gd name="connsiteY3" fmla="*/ 365125 h 365125"/>
              <a:gd name="connsiteX4" fmla="*/ 0 w 10629900"/>
              <a:gd name="connsiteY4" fmla="*/ 0 h 36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9900" h="365125">
                <a:moveTo>
                  <a:pt x="0" y="0"/>
                </a:moveTo>
                <a:lnTo>
                  <a:pt x="10629900" y="0"/>
                </a:lnTo>
                <a:lnTo>
                  <a:pt x="10077450" y="355600"/>
                </a:lnTo>
                <a:lnTo>
                  <a:pt x="0" y="365125"/>
                </a:lnTo>
                <a:lnTo>
                  <a:pt x="0" y="0"/>
                </a:lnTo>
                <a:close/>
              </a:path>
            </a:pathLst>
          </a:custGeom>
          <a:solidFill>
            <a:schemeClr val="accent2"/>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6F1D922F-995F-7FF0-F91E-30F742E8759E}"/>
              </a:ext>
            </a:extLst>
          </p:cNvPr>
          <p:cNvCxnSpPr/>
          <p:nvPr userDrawn="1"/>
        </p:nvCxnSpPr>
        <p:spPr>
          <a:xfrm>
            <a:off x="0" y="623328"/>
            <a:ext cx="12192000" cy="0"/>
          </a:xfrm>
          <a:prstGeom prst="line">
            <a:avLst/>
          </a:prstGeom>
          <a:ln w="28575">
            <a:solidFill>
              <a:srgbClr val="34364C"/>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B2526F0-0C04-4EEA-EA6D-BA066C6F8EC0}"/>
              </a:ext>
            </a:extLst>
          </p:cNvPr>
          <p:cNvSpPr txBox="1"/>
          <p:nvPr userDrawn="1"/>
        </p:nvSpPr>
        <p:spPr>
          <a:xfrm>
            <a:off x="333374" y="73388"/>
            <a:ext cx="3257723" cy="523220"/>
          </a:xfrm>
          <a:prstGeom prst="rect">
            <a:avLst/>
          </a:prstGeom>
          <a:noFill/>
        </p:spPr>
        <p:txBody>
          <a:bodyPr wrap="square" rtlCol="0">
            <a:spAutoFit/>
          </a:bodyPr>
          <a:lstStyle/>
          <a:p>
            <a:pPr algn="l"/>
            <a:r>
              <a:rPr lang="en-US" sz="2800" b="1">
                <a:solidFill>
                  <a:schemeClr val="tx1"/>
                </a:solidFill>
                <a:latin typeface="Arial" panose="020B0604020202020204" pitchFamily="34" charset="0"/>
                <a:cs typeface="Arial" panose="020B0604020202020204" pitchFamily="34" charset="0"/>
              </a:rPr>
              <a:t>Cross Section</a:t>
            </a:r>
          </a:p>
        </p:txBody>
      </p:sp>
      <p:sp>
        <p:nvSpPr>
          <p:cNvPr id="7" name="TextBox 6">
            <a:extLst>
              <a:ext uri="{FF2B5EF4-FFF2-40B4-BE49-F238E27FC236}">
                <a16:creationId xmlns:a16="http://schemas.microsoft.com/office/drawing/2014/main" id="{C541EFD0-36A4-A450-E728-17FE6C7E6CEB}"/>
              </a:ext>
            </a:extLst>
          </p:cNvPr>
          <p:cNvSpPr txBox="1"/>
          <p:nvPr userDrawn="1"/>
        </p:nvSpPr>
        <p:spPr>
          <a:xfrm>
            <a:off x="2822377" y="169777"/>
            <a:ext cx="262371" cy="400110"/>
          </a:xfrm>
          <a:prstGeom prst="rect">
            <a:avLst/>
          </a:prstGeom>
          <a:noFill/>
        </p:spPr>
        <p:txBody>
          <a:bodyPr wrap="square" rtlCol="0">
            <a:spAutoFit/>
          </a:bodyPr>
          <a:lstStyle/>
          <a:p>
            <a:pPr algn="l"/>
            <a:r>
              <a:rPr lang="en-US" sz="2000" b="0">
                <a:latin typeface="Arial" panose="020B0604020202020204" pitchFamily="34" charset="0"/>
                <a:cs typeface="Arial" panose="020B0604020202020204" pitchFamily="34" charset="0"/>
              </a:rPr>
              <a:t>|</a:t>
            </a:r>
            <a:endParaRPr lang="en-US" sz="2000" b="1">
              <a:solidFill>
                <a:schemeClr val="tx1"/>
              </a:solidFill>
              <a:latin typeface="Arial" panose="020B0604020202020204" pitchFamily="34" charset="0"/>
              <a:cs typeface="Arial" panose="020B0604020202020204" pitchFamily="34" charset="0"/>
            </a:endParaRPr>
          </a:p>
        </p:txBody>
      </p:sp>
      <p:sp>
        <p:nvSpPr>
          <p:cNvPr id="8" name="Text Placeholder 17">
            <a:extLst>
              <a:ext uri="{FF2B5EF4-FFF2-40B4-BE49-F238E27FC236}">
                <a16:creationId xmlns:a16="http://schemas.microsoft.com/office/drawing/2014/main" id="{4E814CF0-3259-14A7-E507-5949F673612F}"/>
              </a:ext>
            </a:extLst>
          </p:cNvPr>
          <p:cNvSpPr>
            <a:spLocks noGrp="1"/>
          </p:cNvSpPr>
          <p:nvPr>
            <p:ph type="body" sz="quarter" idx="14" hasCustomPrompt="1"/>
          </p:nvPr>
        </p:nvSpPr>
        <p:spPr>
          <a:xfrm>
            <a:off x="2969755" y="228719"/>
            <a:ext cx="8204662" cy="357794"/>
          </a:xfrm>
        </p:spPr>
        <p:txBody>
          <a:bodyPr/>
          <a:lstStyle>
            <a:lvl1pPr marL="0" indent="0">
              <a:buNone/>
              <a:defRPr sz="2000">
                <a:latin typeface="Arial" panose="020B0604020202020204" pitchFamily="34" charset="0"/>
                <a:cs typeface="Arial" panose="020B0604020202020204" pitchFamily="34" charset="0"/>
              </a:defRPr>
            </a:lvl1pPr>
            <a:lvl2pPr marL="457200" indent="0">
              <a:buNone/>
              <a:defRPr/>
            </a:lvl2pPr>
          </a:lstStyle>
          <a:p>
            <a:pPr lvl="0"/>
            <a:r>
              <a:rPr lang="en-US"/>
              <a:t>Deal Name</a:t>
            </a:r>
          </a:p>
        </p:txBody>
      </p:sp>
      <p:sp>
        <p:nvSpPr>
          <p:cNvPr id="15" name="Text Placeholder 26">
            <a:extLst>
              <a:ext uri="{FF2B5EF4-FFF2-40B4-BE49-F238E27FC236}">
                <a16:creationId xmlns:a16="http://schemas.microsoft.com/office/drawing/2014/main" id="{7DFE5F9E-D14C-5337-73B7-874B1B0C6A69}"/>
              </a:ext>
            </a:extLst>
          </p:cNvPr>
          <p:cNvSpPr>
            <a:spLocks noGrp="1"/>
          </p:cNvSpPr>
          <p:nvPr>
            <p:ph type="body" sz="quarter" idx="13" hasCustomPrompt="1"/>
          </p:nvPr>
        </p:nvSpPr>
        <p:spPr>
          <a:xfrm>
            <a:off x="239215" y="994315"/>
            <a:ext cx="5710866" cy="5265259"/>
          </a:xfrm>
        </p:spPr>
        <p:txBody>
          <a:bodyPr>
            <a:normAutofit/>
          </a:bodyPr>
          <a:lstStyle>
            <a:lvl1pPr>
              <a:defRPr sz="100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Text</a:t>
            </a:r>
          </a:p>
        </p:txBody>
      </p:sp>
      <p:sp>
        <p:nvSpPr>
          <p:cNvPr id="10" name="Picture Placeholder 10">
            <a:extLst>
              <a:ext uri="{FF2B5EF4-FFF2-40B4-BE49-F238E27FC236}">
                <a16:creationId xmlns:a16="http://schemas.microsoft.com/office/drawing/2014/main" id="{F2411997-20E4-9904-E10B-1FBF468BA801}"/>
              </a:ext>
            </a:extLst>
          </p:cNvPr>
          <p:cNvSpPr>
            <a:spLocks noGrp="1"/>
          </p:cNvSpPr>
          <p:nvPr>
            <p:ph type="pic" sz="quarter" idx="15" hasCustomPrompt="1"/>
          </p:nvPr>
        </p:nvSpPr>
        <p:spPr>
          <a:xfrm>
            <a:off x="6420678" y="994315"/>
            <a:ext cx="5506279" cy="5291138"/>
          </a:xfrm>
        </p:spPr>
        <p:txBody>
          <a:bodyPr>
            <a:normAutofit/>
          </a:bodyPr>
          <a:lstStyle>
            <a:lvl1pPr>
              <a:defRPr sz="1000">
                <a:latin typeface="Arial" panose="020B0604020202020204" pitchFamily="34" charset="0"/>
                <a:cs typeface="Arial" panose="020B0604020202020204" pitchFamily="34" charset="0"/>
              </a:defRPr>
            </a:lvl1pPr>
          </a:lstStyle>
          <a:p>
            <a:r>
              <a:rPr lang="en-US" sz="1000"/>
              <a:t>Map</a:t>
            </a:r>
            <a:endParaRPr lang="en-US"/>
          </a:p>
        </p:txBody>
      </p:sp>
    </p:spTree>
    <p:extLst>
      <p:ext uri="{BB962C8B-B14F-4D97-AF65-F5344CB8AC3E}">
        <p14:creationId xmlns:p14="http://schemas.microsoft.com/office/powerpoint/2010/main" val="3817098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ppendix">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46DA4467-B558-C455-2222-1A51892B51BA}"/>
              </a:ext>
            </a:extLst>
          </p:cNvPr>
          <p:cNvGrpSpPr/>
          <p:nvPr userDrawn="1"/>
        </p:nvGrpSpPr>
        <p:grpSpPr>
          <a:xfrm>
            <a:off x="29244" y="-1157667"/>
            <a:ext cx="12057062" cy="8658722"/>
            <a:chOff x="29244" y="-1157667"/>
            <a:chExt cx="12057062" cy="8658722"/>
          </a:xfrm>
        </p:grpSpPr>
        <p:pic>
          <p:nvPicPr>
            <p:cNvPr id="2" name="Picture 1">
              <a:extLst>
                <a:ext uri="{FF2B5EF4-FFF2-40B4-BE49-F238E27FC236}">
                  <a16:creationId xmlns:a16="http://schemas.microsoft.com/office/drawing/2014/main" id="{B23138A7-356C-7233-C0BA-C53ABABF2745}"/>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flipH="1">
              <a:off x="48264" y="519137"/>
              <a:ext cx="6096000" cy="3841422"/>
            </a:xfrm>
            <a:prstGeom prst="rect">
              <a:avLst/>
            </a:prstGeom>
            <a:ln w="28575">
              <a:solidFill>
                <a:schemeClr val="bg1"/>
              </a:solidFill>
            </a:ln>
          </p:spPr>
        </p:pic>
        <p:sp>
          <p:nvSpPr>
            <p:cNvPr id="3" name="Rectangle 20">
              <a:extLst>
                <a:ext uri="{FF2B5EF4-FFF2-40B4-BE49-F238E27FC236}">
                  <a16:creationId xmlns:a16="http://schemas.microsoft.com/office/drawing/2014/main" id="{F5117944-024C-3778-0DD7-BF32BCC8BA87}"/>
                </a:ext>
              </a:extLst>
            </p:cNvPr>
            <p:cNvSpPr/>
            <p:nvPr userDrawn="1"/>
          </p:nvSpPr>
          <p:spPr>
            <a:xfrm rot="3632735" flipH="1">
              <a:off x="2508876" y="1843778"/>
              <a:ext cx="8658722" cy="2655832"/>
            </a:xfrm>
            <a:custGeom>
              <a:avLst/>
              <a:gdLst>
                <a:gd name="connsiteX0" fmla="*/ 0 w 8658722"/>
                <a:gd name="connsiteY0" fmla="*/ 0 h 2653396"/>
                <a:gd name="connsiteX1" fmla="*/ 8658722 w 8658722"/>
                <a:gd name="connsiteY1" fmla="*/ 0 h 2653396"/>
                <a:gd name="connsiteX2" fmla="*/ 8658722 w 8658722"/>
                <a:gd name="connsiteY2" fmla="*/ 2653396 h 2653396"/>
                <a:gd name="connsiteX3" fmla="*/ 0 w 8658722"/>
                <a:gd name="connsiteY3" fmla="*/ 2653396 h 2653396"/>
                <a:gd name="connsiteX4" fmla="*/ 0 w 8658722"/>
                <a:gd name="connsiteY4" fmla="*/ 0 h 2653396"/>
                <a:gd name="connsiteX0" fmla="*/ 0 w 8658722"/>
                <a:gd name="connsiteY0" fmla="*/ 2436 h 2655832"/>
                <a:gd name="connsiteX1" fmla="*/ 6733490 w 8658722"/>
                <a:gd name="connsiteY1" fmla="*/ 0 h 2655832"/>
                <a:gd name="connsiteX2" fmla="*/ 8658722 w 8658722"/>
                <a:gd name="connsiteY2" fmla="*/ 2655832 h 2655832"/>
                <a:gd name="connsiteX3" fmla="*/ 0 w 8658722"/>
                <a:gd name="connsiteY3" fmla="*/ 2655832 h 2655832"/>
                <a:gd name="connsiteX4" fmla="*/ 0 w 8658722"/>
                <a:gd name="connsiteY4" fmla="*/ 2436 h 2655832"/>
                <a:gd name="connsiteX0" fmla="*/ 0 w 8658722"/>
                <a:gd name="connsiteY0" fmla="*/ 2436 h 2655832"/>
                <a:gd name="connsiteX1" fmla="*/ 6733490 w 8658722"/>
                <a:gd name="connsiteY1" fmla="*/ 0 h 2655832"/>
                <a:gd name="connsiteX2" fmla="*/ 8658722 w 8658722"/>
                <a:gd name="connsiteY2" fmla="*/ 2655832 h 2655832"/>
                <a:gd name="connsiteX3" fmla="*/ 924880 w 8658722"/>
                <a:gd name="connsiteY3" fmla="*/ 2036340 h 2655832"/>
                <a:gd name="connsiteX4" fmla="*/ 0 w 8658722"/>
                <a:gd name="connsiteY4" fmla="*/ 2436 h 2655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8722" h="2655832">
                  <a:moveTo>
                    <a:pt x="0" y="2436"/>
                  </a:moveTo>
                  <a:lnTo>
                    <a:pt x="6733490" y="0"/>
                  </a:lnTo>
                  <a:lnTo>
                    <a:pt x="8658722" y="2655832"/>
                  </a:lnTo>
                  <a:lnTo>
                    <a:pt x="924880" y="2036340"/>
                  </a:lnTo>
                  <a:lnTo>
                    <a:pt x="0" y="243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7951F7E-5247-EB27-6C13-3DF9EB4C51FD}"/>
                </a:ext>
              </a:extLst>
            </p:cNvPr>
            <p:cNvSpPr/>
            <p:nvPr userDrawn="1"/>
          </p:nvSpPr>
          <p:spPr>
            <a:xfrm>
              <a:off x="29244" y="87461"/>
              <a:ext cx="7369078" cy="18582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2">
              <a:extLst>
                <a:ext uri="{FF2B5EF4-FFF2-40B4-BE49-F238E27FC236}">
                  <a16:creationId xmlns:a16="http://schemas.microsoft.com/office/drawing/2014/main" id="{663CF42C-A0D9-565C-647D-27021FCF1E87}"/>
                </a:ext>
              </a:extLst>
            </p:cNvPr>
            <p:cNvSpPr/>
            <p:nvPr userDrawn="1"/>
          </p:nvSpPr>
          <p:spPr>
            <a:xfrm flipH="1">
              <a:off x="32100" y="3897769"/>
              <a:ext cx="8493064" cy="1172995"/>
            </a:xfrm>
            <a:custGeom>
              <a:avLst/>
              <a:gdLst>
                <a:gd name="connsiteX0" fmla="*/ 0 w 8033468"/>
                <a:gd name="connsiteY0" fmla="*/ 0 h 1184745"/>
                <a:gd name="connsiteX1" fmla="*/ 8033468 w 8033468"/>
                <a:gd name="connsiteY1" fmla="*/ 0 h 1184745"/>
                <a:gd name="connsiteX2" fmla="*/ 8033468 w 8033468"/>
                <a:gd name="connsiteY2" fmla="*/ 1184745 h 1184745"/>
                <a:gd name="connsiteX3" fmla="*/ 0 w 8033468"/>
                <a:gd name="connsiteY3" fmla="*/ 1184745 h 1184745"/>
                <a:gd name="connsiteX4" fmla="*/ 0 w 8033468"/>
                <a:gd name="connsiteY4" fmla="*/ 0 h 1184745"/>
                <a:gd name="connsiteX0" fmla="*/ 771276 w 8804744"/>
                <a:gd name="connsiteY0" fmla="*/ 0 h 1184745"/>
                <a:gd name="connsiteX1" fmla="*/ 8804744 w 8804744"/>
                <a:gd name="connsiteY1" fmla="*/ 0 h 1184745"/>
                <a:gd name="connsiteX2" fmla="*/ 8804744 w 8804744"/>
                <a:gd name="connsiteY2" fmla="*/ 1184745 h 1184745"/>
                <a:gd name="connsiteX3" fmla="*/ 0 w 8804744"/>
                <a:gd name="connsiteY3" fmla="*/ 1184745 h 1184745"/>
                <a:gd name="connsiteX4" fmla="*/ 771276 w 8804744"/>
                <a:gd name="connsiteY4" fmla="*/ 0 h 1184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4744" h="1184745">
                  <a:moveTo>
                    <a:pt x="771276" y="0"/>
                  </a:moveTo>
                  <a:lnTo>
                    <a:pt x="8804744" y="0"/>
                  </a:lnTo>
                  <a:lnTo>
                    <a:pt x="8804744" y="1184745"/>
                  </a:lnTo>
                  <a:lnTo>
                    <a:pt x="0" y="1184745"/>
                  </a:lnTo>
                  <a:lnTo>
                    <a:pt x="771276" y="0"/>
                  </a:lnTo>
                  <a:close/>
                </a:path>
              </a:pathLst>
            </a:custGeom>
            <a:solidFill>
              <a:srgbClr val="02042E"/>
            </a:solidFill>
            <a:ln w="38100"/>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8" name="Picture 7">
              <a:extLst>
                <a:ext uri="{FF2B5EF4-FFF2-40B4-BE49-F238E27FC236}">
                  <a16:creationId xmlns:a16="http://schemas.microsoft.com/office/drawing/2014/main" id="{78467818-08E7-C5EC-A2BE-85D9D7A7F9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44000" y="6253534"/>
              <a:ext cx="2942306" cy="517005"/>
            </a:xfrm>
            <a:prstGeom prst="rect">
              <a:avLst/>
            </a:prstGeom>
          </p:spPr>
        </p:pic>
      </p:grpSp>
      <p:sp>
        <p:nvSpPr>
          <p:cNvPr id="6" name="TextBox 5">
            <a:extLst>
              <a:ext uri="{FF2B5EF4-FFF2-40B4-BE49-F238E27FC236}">
                <a16:creationId xmlns:a16="http://schemas.microsoft.com/office/drawing/2014/main" id="{127A6148-8856-D0A3-B5FD-2AC785D53131}"/>
              </a:ext>
            </a:extLst>
          </p:cNvPr>
          <p:cNvSpPr txBox="1"/>
          <p:nvPr userDrawn="1"/>
        </p:nvSpPr>
        <p:spPr>
          <a:xfrm>
            <a:off x="228213" y="4112486"/>
            <a:ext cx="7061362" cy="492443"/>
          </a:xfrm>
          <a:prstGeom prst="rect">
            <a:avLst/>
          </a:prstGeom>
          <a:noFill/>
        </p:spPr>
        <p:txBody>
          <a:bodyPr wrap="square" rtlCol="0">
            <a:spAutoFit/>
          </a:bodyPr>
          <a:lstStyle/>
          <a:p>
            <a:r>
              <a:rPr lang="en-US" sz="2600" b="1" i="1">
                <a:solidFill>
                  <a:schemeClr val="bg1"/>
                </a:solidFill>
                <a:latin typeface="Arial" panose="020B0604020202020204" pitchFamily="34" charset="0"/>
                <a:cs typeface="Arial" panose="020B0604020202020204" pitchFamily="34" charset="0"/>
              </a:rPr>
              <a:t>Appendix</a:t>
            </a:r>
            <a:endParaRPr lang="en-US" sz="1600" b="1" i="1">
              <a:solidFill>
                <a:schemeClr val="bg1"/>
              </a:solidFill>
              <a:latin typeface="Arial" panose="020B0604020202020204" pitchFamily="34" charset="0"/>
              <a:cs typeface="Arial" panose="020B0604020202020204" pitchFamily="34" charset="0"/>
            </a:endParaRPr>
          </a:p>
        </p:txBody>
      </p:sp>
      <p:sp>
        <p:nvSpPr>
          <p:cNvPr id="14" name="Text Placeholder 4">
            <a:extLst>
              <a:ext uri="{FF2B5EF4-FFF2-40B4-BE49-F238E27FC236}">
                <a16:creationId xmlns:a16="http://schemas.microsoft.com/office/drawing/2014/main" id="{325F22EE-6988-8920-37F7-4AEFC82FF28A}"/>
              </a:ext>
            </a:extLst>
          </p:cNvPr>
          <p:cNvSpPr>
            <a:spLocks noGrp="1"/>
          </p:cNvSpPr>
          <p:nvPr>
            <p:ph type="body" sz="quarter" idx="12" hasCustomPrompt="1"/>
          </p:nvPr>
        </p:nvSpPr>
        <p:spPr>
          <a:xfrm>
            <a:off x="319108" y="4539913"/>
            <a:ext cx="6408738" cy="435120"/>
          </a:xfrm>
        </p:spPr>
        <p:txBody>
          <a:bodyPr lIns="0" rIns="0">
            <a:normAutofit/>
          </a:bodyPr>
          <a:lstStyle>
            <a:lvl1pPr marL="0" indent="0">
              <a:buNone/>
              <a:defRPr sz="1600" b="1" i="1">
                <a:solidFill>
                  <a:schemeClr val="bg1"/>
                </a:solidFill>
                <a:latin typeface="Arial" panose="020B0604020202020204" pitchFamily="34" charset="0"/>
                <a:cs typeface="Arial" panose="020B0604020202020204" pitchFamily="34" charset="0"/>
              </a:defRPr>
            </a:lvl1pPr>
          </a:lstStyle>
          <a:p>
            <a:pPr lvl="0"/>
            <a:r>
              <a:rPr lang="en-US"/>
              <a:t>Deal Name Prospect</a:t>
            </a:r>
          </a:p>
        </p:txBody>
      </p:sp>
    </p:spTree>
    <p:extLst>
      <p:ext uri="{BB962C8B-B14F-4D97-AF65-F5344CB8AC3E}">
        <p14:creationId xmlns:p14="http://schemas.microsoft.com/office/powerpoint/2010/main" val="716927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54ACC5-FEFF-47F1-9A5C-F771A6C0BB73}"/>
              </a:ext>
            </a:extLst>
          </p:cNvPr>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0A34A8-9056-48C8-AAD4-AAB047B3B9FA}"/>
              </a:ext>
            </a:extLst>
          </p:cNvPr>
          <p:cNvSpPr>
            <a:spLocks noGrp="1"/>
          </p:cNvSpPr>
          <p:nvPr>
            <p:ph type="dt" sz="half" idx="10"/>
          </p:nvPr>
        </p:nvSpPr>
        <p:spPr/>
        <p:txBody>
          <a:bodyPr/>
          <a:lstStyle/>
          <a:p>
            <a:fld id="{8092ACDE-C7C6-4CFA-AF77-ED922F5854A5}" type="datetime1">
              <a:rPr lang="en-US" smtClean="0"/>
              <a:t>6/23/2026</a:t>
            </a:fld>
            <a:endParaRPr lang="en-US"/>
          </a:p>
        </p:txBody>
      </p:sp>
      <p:sp>
        <p:nvSpPr>
          <p:cNvPr id="5" name="Footer Placeholder 4">
            <a:extLst>
              <a:ext uri="{FF2B5EF4-FFF2-40B4-BE49-F238E27FC236}">
                <a16:creationId xmlns:a16="http://schemas.microsoft.com/office/drawing/2014/main" id="{49E800B5-BE38-4C5F-9F05-2E82FDE4F26F}"/>
              </a:ext>
            </a:extLst>
          </p:cNvPr>
          <p:cNvSpPr>
            <a:spLocks noGrp="1"/>
          </p:cNvSpPr>
          <p:nvPr>
            <p:ph type="ftr" sz="quarter" idx="11"/>
          </p:nvPr>
        </p:nvSpPr>
        <p:spPr/>
        <p:txBody>
          <a:bodyPr/>
          <a:lstStyle/>
          <a:p>
            <a:endParaRPr lang="en-US"/>
          </a:p>
        </p:txBody>
      </p:sp>
      <p:sp>
        <p:nvSpPr>
          <p:cNvPr id="10" name="Rectangle 9">
            <a:extLst>
              <a:ext uri="{FF2B5EF4-FFF2-40B4-BE49-F238E27FC236}">
                <a16:creationId xmlns:a16="http://schemas.microsoft.com/office/drawing/2014/main" id="{70EDCF7F-D9AF-4363-BF01-F3F582841D47}"/>
              </a:ext>
            </a:extLst>
          </p:cNvPr>
          <p:cNvSpPr/>
          <p:nvPr userDrawn="1"/>
        </p:nvSpPr>
        <p:spPr>
          <a:xfrm>
            <a:off x="47627" y="136526"/>
            <a:ext cx="12106274" cy="686586"/>
          </a:xfrm>
          <a:prstGeom prst="rect">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4458AC83-71D9-4199-8C05-56947B9B2290}"/>
              </a:ext>
            </a:extLst>
          </p:cNvPr>
          <p:cNvSpPr>
            <a:spLocks noGrp="1"/>
          </p:cNvSpPr>
          <p:nvPr>
            <p:ph type="sldNum" sz="quarter" idx="12"/>
          </p:nvPr>
        </p:nvSpPr>
        <p:spPr/>
        <p:txBody>
          <a:bodyPr/>
          <a:lstStyle/>
          <a:p>
            <a:fld id="{19B19BDD-DD89-4CD9-A1F3-D76BEB018B7B}" type="slidenum">
              <a:rPr lang="en-US" smtClean="0"/>
              <a:t>‹#›</a:t>
            </a:fld>
            <a:endParaRPr lang="en-US"/>
          </a:p>
        </p:txBody>
      </p:sp>
      <p:sp>
        <p:nvSpPr>
          <p:cNvPr id="8" name="Rectangle 7">
            <a:extLst>
              <a:ext uri="{FF2B5EF4-FFF2-40B4-BE49-F238E27FC236}">
                <a16:creationId xmlns:a16="http://schemas.microsoft.com/office/drawing/2014/main" id="{E5CA9E0E-4C92-465B-A58A-D336DB61E32C}"/>
              </a:ext>
            </a:extLst>
          </p:cNvPr>
          <p:cNvSpPr/>
          <p:nvPr userDrawn="1"/>
        </p:nvSpPr>
        <p:spPr>
          <a:xfrm>
            <a:off x="45275" y="839786"/>
            <a:ext cx="10629900" cy="365125"/>
          </a:xfrm>
          <a:custGeom>
            <a:avLst/>
            <a:gdLst>
              <a:gd name="connsiteX0" fmla="*/ 0 w 10629900"/>
              <a:gd name="connsiteY0" fmla="*/ 0 h 365125"/>
              <a:gd name="connsiteX1" fmla="*/ 10629900 w 10629900"/>
              <a:gd name="connsiteY1" fmla="*/ 0 h 365125"/>
              <a:gd name="connsiteX2" fmla="*/ 10629900 w 10629900"/>
              <a:gd name="connsiteY2" fmla="*/ 365125 h 365125"/>
              <a:gd name="connsiteX3" fmla="*/ 0 w 10629900"/>
              <a:gd name="connsiteY3" fmla="*/ 365125 h 365125"/>
              <a:gd name="connsiteX4" fmla="*/ 0 w 10629900"/>
              <a:gd name="connsiteY4" fmla="*/ 0 h 365125"/>
              <a:gd name="connsiteX0" fmla="*/ 0 w 10629900"/>
              <a:gd name="connsiteY0" fmla="*/ 0 h 365125"/>
              <a:gd name="connsiteX1" fmla="*/ 10629900 w 10629900"/>
              <a:gd name="connsiteY1" fmla="*/ 0 h 365125"/>
              <a:gd name="connsiteX2" fmla="*/ 10077450 w 10629900"/>
              <a:gd name="connsiteY2" fmla="*/ 355600 h 365125"/>
              <a:gd name="connsiteX3" fmla="*/ 0 w 10629900"/>
              <a:gd name="connsiteY3" fmla="*/ 365125 h 365125"/>
              <a:gd name="connsiteX4" fmla="*/ 0 w 10629900"/>
              <a:gd name="connsiteY4" fmla="*/ 0 h 36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29900" h="365125">
                <a:moveTo>
                  <a:pt x="0" y="0"/>
                </a:moveTo>
                <a:lnTo>
                  <a:pt x="10629900" y="0"/>
                </a:lnTo>
                <a:lnTo>
                  <a:pt x="10077450" y="355600"/>
                </a:lnTo>
                <a:lnTo>
                  <a:pt x="0" y="365125"/>
                </a:lnTo>
                <a:lnTo>
                  <a:pt x="0" y="0"/>
                </a:lnTo>
                <a:close/>
              </a:path>
            </a:pathLst>
          </a:cu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D95C57-D0F9-4D39-81D4-8BE1F77E0553}"/>
              </a:ext>
            </a:extLst>
          </p:cNvPr>
          <p:cNvSpPr>
            <a:spLocks noGrp="1"/>
          </p:cNvSpPr>
          <p:nvPr>
            <p:ph type="title" hasCustomPrompt="1"/>
          </p:nvPr>
        </p:nvSpPr>
        <p:spPr>
          <a:xfrm>
            <a:off x="333375" y="221843"/>
            <a:ext cx="11125200" cy="496493"/>
          </a:xfrm>
          <a:prstGeom prst="rect">
            <a:avLst/>
          </a:prstGeom>
        </p:spPr>
        <p:txBody>
          <a:bodyPr anchor="ctr"/>
          <a:lstStyle>
            <a:lvl1pPr algn="l">
              <a:defRPr sz="2800" b="1">
                <a:solidFill>
                  <a:schemeClr val="bg1"/>
                </a:solidFill>
                <a:latin typeface="Arial" panose="020B0604020202020204" pitchFamily="34" charset="0"/>
                <a:cs typeface="Arial" panose="020B0604020202020204" pitchFamily="34" charset="0"/>
              </a:defRPr>
            </a:lvl1pPr>
          </a:lstStyle>
          <a:p>
            <a:r>
              <a:rPr lang="en-US"/>
              <a:t>Click to Edit</a:t>
            </a:r>
          </a:p>
        </p:txBody>
      </p:sp>
      <p:sp>
        <p:nvSpPr>
          <p:cNvPr id="13" name="Text Placeholder 12">
            <a:extLst>
              <a:ext uri="{FF2B5EF4-FFF2-40B4-BE49-F238E27FC236}">
                <a16:creationId xmlns:a16="http://schemas.microsoft.com/office/drawing/2014/main" id="{A0A3237C-43C4-48F4-A70B-CB3BDFBA9E0E}"/>
              </a:ext>
            </a:extLst>
          </p:cNvPr>
          <p:cNvSpPr>
            <a:spLocks noGrp="1"/>
          </p:cNvSpPr>
          <p:nvPr>
            <p:ph type="body" sz="quarter" idx="13" hasCustomPrompt="1"/>
          </p:nvPr>
        </p:nvSpPr>
        <p:spPr>
          <a:xfrm>
            <a:off x="419100" y="868363"/>
            <a:ext cx="9201150" cy="365125"/>
          </a:xfrm>
        </p:spPr>
        <p:txBody>
          <a:bodyPr anchor="ctr">
            <a:noAutofit/>
          </a:bodyPr>
          <a:lstStyle>
            <a:lvl1pPr>
              <a:defRPr lang="en-US" sz="1800" b="1" dirty="0">
                <a:solidFill>
                  <a:schemeClr val="bg1"/>
                </a:solidFill>
                <a:latin typeface="Arial" panose="020B0604020202020204" pitchFamily="34" charset="0"/>
                <a:ea typeface="+mj-ea"/>
                <a:cs typeface="Arial" panose="020B0604020202020204" pitchFamily="34" charset="0"/>
              </a:defRPr>
            </a:lvl1pPr>
          </a:lstStyle>
          <a:p>
            <a:pPr lvl="0">
              <a:spcBef>
                <a:spcPct val="0"/>
              </a:spcBef>
              <a:buNone/>
            </a:pPr>
            <a:r>
              <a:rPr lang="en-US"/>
              <a:t>Edit Main Point</a:t>
            </a:r>
          </a:p>
        </p:txBody>
      </p:sp>
    </p:spTree>
    <p:extLst>
      <p:ext uri="{BB962C8B-B14F-4D97-AF65-F5344CB8AC3E}">
        <p14:creationId xmlns:p14="http://schemas.microsoft.com/office/powerpoint/2010/main" val="3546942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E1D64-6816-46DF-BFA9-076A2404C5DE}"/>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B108BA2E-B854-4E37-AE1E-3B7B4464588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D1F2610-2C07-443C-847A-89DBAC6734E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945CD6A-98F8-4470-B87E-5E1D40ED0851}"/>
              </a:ext>
            </a:extLst>
          </p:cNvPr>
          <p:cNvSpPr>
            <a:spLocks noGrp="1"/>
          </p:cNvSpPr>
          <p:nvPr>
            <p:ph type="dt" sz="half" idx="10"/>
          </p:nvPr>
        </p:nvSpPr>
        <p:spPr/>
        <p:txBody>
          <a:bodyPr/>
          <a:lstStyle/>
          <a:p>
            <a:fld id="{38A0F43C-C2DE-4D34-9A4E-CE0E7A68DA0B}" type="datetime1">
              <a:rPr lang="en-US" smtClean="0"/>
              <a:t>6/23/2026</a:t>
            </a:fld>
            <a:endParaRPr lang="en-US"/>
          </a:p>
        </p:txBody>
      </p:sp>
      <p:sp>
        <p:nvSpPr>
          <p:cNvPr id="6" name="Footer Placeholder 5">
            <a:extLst>
              <a:ext uri="{FF2B5EF4-FFF2-40B4-BE49-F238E27FC236}">
                <a16:creationId xmlns:a16="http://schemas.microsoft.com/office/drawing/2014/main" id="{CFD56CF6-5B1D-4ED0-86B6-2DBC8A8457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22142-D681-4814-9FBE-B35E7E9FD527}"/>
              </a:ext>
            </a:extLst>
          </p:cNvPr>
          <p:cNvSpPr>
            <a:spLocks noGrp="1"/>
          </p:cNvSpPr>
          <p:nvPr>
            <p:ph type="sldNum" sz="quarter" idx="12"/>
          </p:nvPr>
        </p:nvSpPr>
        <p:spPr/>
        <p:txBody>
          <a:bodyPr/>
          <a:lstStyle/>
          <a:p>
            <a:fld id="{19B19BDD-DD89-4CD9-A1F3-D76BEB018B7B}" type="slidenum">
              <a:rPr lang="en-US" smtClean="0"/>
              <a:t>‹#›</a:t>
            </a:fld>
            <a:endParaRPr lang="en-US"/>
          </a:p>
        </p:txBody>
      </p:sp>
    </p:spTree>
    <p:extLst>
      <p:ext uri="{BB962C8B-B14F-4D97-AF65-F5344CB8AC3E}">
        <p14:creationId xmlns:p14="http://schemas.microsoft.com/office/powerpoint/2010/main" val="5201837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85958-38C5-4009-8D06-15D90C6603D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2EA6E8CB-B275-411E-AE9A-ABC99CA389DE}"/>
              </a:ext>
            </a:extLst>
          </p:cNvPr>
          <p:cNvSpPr>
            <a:spLocks noGrp="1"/>
          </p:cNvSpPr>
          <p:nvPr>
            <p:ph type="dt" sz="half" idx="10"/>
          </p:nvPr>
        </p:nvSpPr>
        <p:spPr/>
        <p:txBody>
          <a:bodyPr/>
          <a:lstStyle/>
          <a:p>
            <a:fld id="{288073FD-B8C4-4FFD-B151-2217B68BCEB6}" type="datetime1">
              <a:rPr lang="en-US" smtClean="0"/>
              <a:t>6/23/2026</a:t>
            </a:fld>
            <a:endParaRPr lang="en-US"/>
          </a:p>
        </p:txBody>
      </p:sp>
      <p:sp>
        <p:nvSpPr>
          <p:cNvPr id="4" name="Footer Placeholder 3">
            <a:extLst>
              <a:ext uri="{FF2B5EF4-FFF2-40B4-BE49-F238E27FC236}">
                <a16:creationId xmlns:a16="http://schemas.microsoft.com/office/drawing/2014/main" id="{B1A31CA6-A94E-47A9-AF09-2066313D9C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3ED772-5741-4F76-A57A-C4D41FD80BB0}"/>
              </a:ext>
            </a:extLst>
          </p:cNvPr>
          <p:cNvSpPr>
            <a:spLocks noGrp="1"/>
          </p:cNvSpPr>
          <p:nvPr>
            <p:ph type="sldNum" sz="quarter" idx="12"/>
          </p:nvPr>
        </p:nvSpPr>
        <p:spPr/>
        <p:txBody>
          <a:bodyPr/>
          <a:lstStyle/>
          <a:p>
            <a:fld id="{19B19BDD-DD89-4CD9-A1F3-D76BEB018B7B}" type="slidenum">
              <a:rPr lang="en-US" smtClean="0"/>
              <a:t>‹#›</a:t>
            </a:fld>
            <a:endParaRPr lang="en-US"/>
          </a:p>
        </p:txBody>
      </p:sp>
    </p:spTree>
    <p:extLst>
      <p:ext uri="{BB962C8B-B14F-4D97-AF65-F5344CB8AC3E}">
        <p14:creationId xmlns:p14="http://schemas.microsoft.com/office/powerpoint/2010/main" val="536642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C08DD1-3FD4-47A5-8F58-A901A2427C0E}"/>
              </a:ext>
            </a:extLst>
          </p:cNvPr>
          <p:cNvSpPr>
            <a:spLocks noGrp="1"/>
          </p:cNvSpPr>
          <p:nvPr>
            <p:ph type="dt" sz="half" idx="10"/>
          </p:nvPr>
        </p:nvSpPr>
        <p:spPr/>
        <p:txBody>
          <a:bodyPr/>
          <a:lstStyle/>
          <a:p>
            <a:fld id="{6F366223-E6F6-490D-91FF-001304B3F757}" type="datetime1">
              <a:rPr lang="en-US" smtClean="0"/>
              <a:t>6/23/2026</a:t>
            </a:fld>
            <a:endParaRPr lang="en-US"/>
          </a:p>
        </p:txBody>
      </p:sp>
      <p:sp>
        <p:nvSpPr>
          <p:cNvPr id="3" name="Footer Placeholder 2">
            <a:extLst>
              <a:ext uri="{FF2B5EF4-FFF2-40B4-BE49-F238E27FC236}">
                <a16:creationId xmlns:a16="http://schemas.microsoft.com/office/drawing/2014/main" id="{A97CD59A-C81A-43E7-B842-83AE371040B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F08D556-6F58-4BBB-B7D3-75B90E70E4CA}"/>
              </a:ext>
            </a:extLst>
          </p:cNvPr>
          <p:cNvSpPr>
            <a:spLocks noGrp="1"/>
          </p:cNvSpPr>
          <p:nvPr>
            <p:ph type="sldNum" sz="quarter" idx="12"/>
          </p:nvPr>
        </p:nvSpPr>
        <p:spPr/>
        <p:txBody>
          <a:bodyPr/>
          <a:lstStyle/>
          <a:p>
            <a:fld id="{19B19BDD-DD89-4CD9-A1F3-D76BEB018B7B}" type="slidenum">
              <a:rPr lang="en-US" smtClean="0"/>
              <a:t>‹#›</a:t>
            </a:fld>
            <a:endParaRPr lang="en-US"/>
          </a:p>
        </p:txBody>
      </p:sp>
    </p:spTree>
    <p:extLst>
      <p:ext uri="{BB962C8B-B14F-4D97-AF65-F5344CB8AC3E}">
        <p14:creationId xmlns:p14="http://schemas.microsoft.com/office/powerpoint/2010/main" val="21113902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49432-C976-86DD-7BC6-032E0D2C8E7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2AD5AB4-92DE-2186-7AD3-6E10267EE275}"/>
              </a:ext>
            </a:extLst>
          </p:cNvPr>
          <p:cNvSpPr>
            <a:spLocks noGrp="1"/>
          </p:cNvSpPr>
          <p:nvPr>
            <p:ph type="dt" sz="half" idx="10"/>
          </p:nvPr>
        </p:nvSpPr>
        <p:spPr/>
        <p:txBody>
          <a:bodyPr/>
          <a:lstStyle/>
          <a:p>
            <a:fld id="{ABDD3A6C-2616-421F-8F95-034E9E7C50D1}" type="datetime1">
              <a:rPr lang="en-US" smtClean="0"/>
              <a:t>6/23/2026</a:t>
            </a:fld>
            <a:endParaRPr lang="en-US"/>
          </a:p>
        </p:txBody>
      </p:sp>
      <p:sp>
        <p:nvSpPr>
          <p:cNvPr id="4" name="Footer Placeholder 3">
            <a:extLst>
              <a:ext uri="{FF2B5EF4-FFF2-40B4-BE49-F238E27FC236}">
                <a16:creationId xmlns:a16="http://schemas.microsoft.com/office/drawing/2014/main" id="{837C1956-CA90-8273-95F9-2994450DED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3A3D4A-1E93-26E7-E76B-CC77EE0A8A02}"/>
              </a:ext>
            </a:extLst>
          </p:cNvPr>
          <p:cNvSpPr>
            <a:spLocks noGrp="1"/>
          </p:cNvSpPr>
          <p:nvPr>
            <p:ph type="sldNum" sz="quarter" idx="12"/>
          </p:nvPr>
        </p:nvSpPr>
        <p:spPr/>
        <p:txBody>
          <a:bodyPr/>
          <a:lstStyle/>
          <a:p>
            <a:fld id="{19B19BDD-DD89-4CD9-A1F3-D76BEB018B7B}" type="slidenum">
              <a:rPr lang="en-US" smtClean="0"/>
              <a:t>‹#›</a:t>
            </a:fld>
            <a:endParaRPr lang="en-US"/>
          </a:p>
        </p:txBody>
      </p:sp>
    </p:spTree>
    <p:extLst>
      <p:ext uri="{BB962C8B-B14F-4D97-AF65-F5344CB8AC3E}">
        <p14:creationId xmlns:p14="http://schemas.microsoft.com/office/powerpoint/2010/main" val="40739479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E79E96C-7E45-4C33-AE92-C8776A8DEE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6494E2-1882-4AAC-B5C9-257CBBB604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DD3A6C-2616-421F-8F95-034E9E7C50D1}" type="datetime1">
              <a:rPr lang="en-US" smtClean="0"/>
              <a:t>6/23/2026</a:t>
            </a:fld>
            <a:endParaRPr lang="en-US"/>
          </a:p>
        </p:txBody>
      </p:sp>
      <p:sp>
        <p:nvSpPr>
          <p:cNvPr id="5" name="Footer Placeholder 4">
            <a:extLst>
              <a:ext uri="{FF2B5EF4-FFF2-40B4-BE49-F238E27FC236}">
                <a16:creationId xmlns:a16="http://schemas.microsoft.com/office/drawing/2014/main" id="{ADB7D691-6932-4B15-958B-3054191434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B860E8F-C1C3-429D-BCE3-B253F95F9F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B19BDD-DD89-4CD9-A1F3-D76BEB018B7B}" type="slidenum">
              <a:rPr lang="en-US" smtClean="0"/>
              <a:t>‹#›</a:t>
            </a:fld>
            <a:endParaRPr lang="en-US"/>
          </a:p>
        </p:txBody>
      </p:sp>
      <p:sp>
        <p:nvSpPr>
          <p:cNvPr id="7" name="Text Placeholder 12">
            <a:extLst>
              <a:ext uri="{FF2B5EF4-FFF2-40B4-BE49-F238E27FC236}">
                <a16:creationId xmlns:a16="http://schemas.microsoft.com/office/drawing/2014/main" id="{89D54E95-889C-485A-AA83-30C404C1B2EB}"/>
              </a:ext>
            </a:extLst>
          </p:cNvPr>
          <p:cNvSpPr txBox="1">
            <a:spLocks/>
          </p:cNvSpPr>
          <p:nvPr userDrawn="1"/>
        </p:nvSpPr>
        <p:spPr>
          <a:xfrm>
            <a:off x="339313" y="682710"/>
            <a:ext cx="9201150" cy="225744"/>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US" sz="1400" b="0" kern="1200" dirty="0">
                <a:solidFill>
                  <a:schemeClr val="bg1"/>
                </a:solidFill>
                <a:latin typeface="Arial" panose="020B0604020202020204" pitchFamily="34" charset="0"/>
                <a:ea typeface="+mj-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0"/>
              </a:spcBef>
              <a:buFont typeface="Arial" panose="020B0604020202020204" pitchFamily="34" charset="0"/>
              <a:buNone/>
            </a:pPr>
            <a:r>
              <a:rPr lang="en-US"/>
              <a:t>Laguna Grande Section 29-23S-23E – Eddy County</a:t>
            </a:r>
          </a:p>
        </p:txBody>
      </p:sp>
    </p:spTree>
    <p:extLst>
      <p:ext uri="{BB962C8B-B14F-4D97-AF65-F5344CB8AC3E}">
        <p14:creationId xmlns:p14="http://schemas.microsoft.com/office/powerpoint/2010/main" val="4225887755"/>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9" r:id="rId3"/>
    <p:sldLayoutId id="2147483661" r:id="rId4"/>
    <p:sldLayoutId id="2147483672" r:id="rId5"/>
    <p:sldLayoutId id="2147483668" r:id="rId6"/>
    <p:sldLayoutId id="2147483667" r:id="rId7"/>
    <p:sldLayoutId id="2147483670" r:id="rId8"/>
    <p:sldLayoutId id="2147483671" r:id="rId9"/>
    <p:sldLayoutId id="2147483673" r:id="rId10"/>
    <p:sldLayoutId id="2147483666" r:id="rId11"/>
    <p:sldLayoutId id="2147483660" r:id="rId12"/>
    <p:sldLayoutId id="2147483652" r:id="rId13"/>
    <p:sldLayoutId id="2147483654" r:id="rId14"/>
    <p:sldLayoutId id="2147483655" r:id="rId15"/>
    <p:sldLayoutId id="2147483665"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wrap="square"/>
          <a:lstStyle/>
          <a:p>
            <a:r>
              <a:t>June 29, 2026</a:t>
            </a:r>
          </a:p>
        </p:txBody>
      </p:sp>
      <p:sp>
        <p:nvSpPr>
          <p:cNvPr id="3" name="Text Placeholder 2"/>
          <p:cNvSpPr>
            <a:spLocks noGrp="1"/>
          </p:cNvSpPr>
          <p:nvPr>
            <p:ph type="body" idx="11" sz="quarter"/>
          </p:nvPr>
        </p:nvSpPr>
        <p:spPr/>
        <p:txBody>
          <a:bodyPr wrap="square"/>
          <a:lstStyle/>
          <a:p>
            <a:r>
              <a:t>Central Utility Plant (CUP) — Co-Generation Project</a:t>
            </a:r>
          </a:p>
        </p:txBody>
      </p:sp>
      <p:sp>
        <p:nvSpPr>
          <p:cNvPr id="4" name="Text Placeholder 3"/>
          <p:cNvSpPr>
            <a:spLocks noGrp="1"/>
          </p:cNvSpPr>
          <p:nvPr>
            <p:ph type="body" idx="12" sz="quarter"/>
          </p:nvPr>
        </p:nvSpPr>
        <p:spPr/>
        <p:txBody>
          <a:bodyPr wrap="square"/>
          <a:lstStyle/>
          <a:p>
            <a:r>
              <a:t>Mammoth Hill  ·  Central City, Colorado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0" y="1554480"/>
            <a:ext cx="0" cy="4206240"/>
          </a:xfrm>
        </p:spPr>
        <p:txBody>
          <a:bodyPr wrap="square" anchor="t"/>
          <a:lstStyle/>
          <a:p>
            <a:pPr>
              <a:lnSpc>
                <a:spcPct val="115000"/>
              </a:lnSpc>
              <a:spcAft>
                <a:spcPts val="1000"/>
              </a:spcAft>
              <a:buNone/>
            </a:pPr>
            <a:r>
              <a:rPr sz="2000">
                <a:solidFill>
                  <a:srgbClr val="292934"/>
                </a:solidFill>
              </a:rPr>
              <a:t>The Co-Gen Special Project Group as well as PDG have considered the recent delivery options as well as progress completed to date. Development of construction documents for the CUP is critical to completing the application and approval for the Xcel gas use application. We provide the following points for consideration by ownership to continue on our current path to include the CUP as part of the overall delivery of the Casino project.</a:t>
            </a:r>
          </a:p>
        </p:txBody>
      </p:sp>
      <p:sp>
        <p:nvSpPr>
          <p:cNvPr id="3" name="Title 2"/>
          <p:cNvSpPr>
            <a:spLocks noGrp="1"/>
          </p:cNvSpPr>
          <p:nvPr>
            <p:ph type="title"/>
          </p:nvPr>
        </p:nvSpPr>
        <p:spPr/>
        <p:txBody>
          <a:bodyPr wrap="square"/>
          <a:lstStyle/>
          <a:p>
            <a:r>
              <a:t>Project Overview</a:t>
            </a:r>
          </a:p>
        </p:txBody>
      </p:sp>
      <p:sp>
        <p:nvSpPr>
          <p:cNvPr id="4" name="Text Placeholder 3"/>
          <p:cNvSpPr>
            <a:spLocks noGrp="1"/>
          </p:cNvSpPr>
          <p:nvPr>
            <p:ph type="body" idx="13" sz="quarter"/>
          </p:nvPr>
        </p:nvSpPr>
        <p:spPr/>
        <p:txBody>
          <a:bodyPr wrap="square"/>
          <a:lstStyle/>
          <a:p>
            <a:r>
              <a:rPr>
                <a:solidFill>
                  <a:srgbClr val="AA2226"/>
                </a:solidFill>
              </a:rPr>
              <a:t>USGPD as Developer &amp; Operator of the Central Utility Plant (CUP)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lstStyle/>
          <a:p>
            <a:pPr>
              <a:spcAft>
                <a:spcPts val="1000"/>
              </a:spcAft>
            </a:pPr>
            <a:r>
              <a:rPr sz="1800">
                <a:solidFill>
                  <a:srgbClr val="292934"/>
                </a:solidFill>
              </a:rPr>
              <a:t>Primary Focus</a:t>
            </a:r>
          </a:p>
          <a:p>
            <a:pPr>
              <a:spcAft>
                <a:spcPts val="1000"/>
              </a:spcAft>
            </a:pPr>
            <a:r>
              <a:rPr sz="1800">
                <a:solidFill>
                  <a:srgbClr val="292934"/>
                </a:solidFill>
              </a:rPr>
              <a:t>Application Timeline</a:t>
            </a:r>
          </a:p>
          <a:p>
            <a:pPr>
              <a:spcAft>
                <a:spcPts val="1000"/>
              </a:spcAft>
            </a:pPr>
            <a:r>
              <a:rPr sz="1800">
                <a:solidFill>
                  <a:srgbClr val="292934"/>
                </a:solidFill>
              </a:rPr>
              <a:t>CUP Location</a:t>
            </a:r>
          </a:p>
          <a:p>
            <a:pPr>
              <a:spcAft>
                <a:spcPts val="1000"/>
              </a:spcAft>
            </a:pPr>
            <a:r>
              <a:rPr sz="1800">
                <a:solidFill>
                  <a:srgbClr val="292934"/>
                </a:solidFill>
              </a:rPr>
              <a:t>Alternate Delivery Sources</a:t>
            </a:r>
          </a:p>
          <a:p>
            <a:pPr>
              <a:spcAft>
                <a:spcPts val="1000"/>
              </a:spcAft>
            </a:pPr>
            <a:r>
              <a:rPr sz="1800">
                <a:solidFill>
                  <a:srgbClr val="292934"/>
                </a:solidFill>
              </a:rPr>
              <a:t>Utility Cost Control</a:t>
            </a:r>
          </a:p>
          <a:p>
            <a:pPr>
              <a:spcAft>
                <a:spcPts val="1000"/>
              </a:spcAft>
            </a:pPr>
            <a:r>
              <a:rPr sz="1800">
                <a:solidFill>
                  <a:srgbClr val="292934"/>
                </a:solidFill>
              </a:rPr>
              <a:t>Long-Term Economic Payback</a:t>
            </a:r>
          </a:p>
          <a:p>
            <a:pPr>
              <a:spcAft>
                <a:spcPts val="1000"/>
              </a:spcAft>
            </a:pPr>
            <a:r>
              <a:rPr sz="1800">
                <a:solidFill>
                  <a:srgbClr val="292934"/>
                </a:solidFill>
              </a:rPr>
              <a:t>Central City Mini-District Constraints</a:t>
            </a:r>
          </a:p>
        </p:txBody>
      </p:sp>
      <p:sp>
        <p:nvSpPr>
          <p:cNvPr id="3" name="Title 2"/>
          <p:cNvSpPr>
            <a:spLocks noGrp="1"/>
          </p:cNvSpPr>
          <p:nvPr>
            <p:ph type="title"/>
          </p:nvPr>
        </p:nvSpPr>
        <p:spPr/>
        <p:txBody>
          <a:bodyPr wrap="square"/>
          <a:lstStyle/>
          <a:p>
            <a:r>
              <a:t>Advantages of Developing, Owning &amp; Operating the CUP</a:t>
            </a:r>
          </a:p>
        </p:txBody>
      </p:sp>
      <p:sp>
        <p:nvSpPr>
          <p:cNvPr id="4" name="Text Placeholder 3"/>
          <p:cNvSpPr>
            <a:spLocks noGrp="1"/>
          </p:cNvSpPr>
          <p:nvPr>
            <p:ph type="body" idx="13" sz="quarter"/>
          </p:nvPr>
        </p:nvSpPr>
        <p:spPr/>
        <p:txBody>
          <a:bodyPr wrap="square"/>
          <a:lstStyle/>
          <a:p>
            <a:r>
              <a:rPr>
                <a:solidFill>
                  <a:srgbClr val="AA2226"/>
                </a:solidFill>
              </a:rPr>
              <a:t>Seven reasons to keep the CUP inside the Casino project delivery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lstStyle/>
          <a:p>
            <a:pPr>
              <a:spcAft>
                <a:spcPts val="800"/>
              </a:spcAft>
            </a:pPr>
            <a:r>
              <a:rPr sz="1600">
                <a:solidFill>
                  <a:srgbClr val="292934"/>
                </a:solidFill>
              </a:rPr>
              <a:t>Our primary focus is the construction and operation of the Casino.</a:t>
            </a:r>
          </a:p>
          <a:p>
            <a:pPr>
              <a:spcAft>
                <a:spcPts val="800"/>
              </a:spcAft>
            </a:pPr>
            <a:r>
              <a:rPr sz="1600">
                <a:solidFill>
                  <a:srgbClr val="292934"/>
                </a:solidFill>
              </a:rPr>
              <a:t>The CUP is an essential part of the overall project delivery and long-term operation.</a:t>
            </a:r>
          </a:p>
          <a:p>
            <a:pPr>
              <a:spcAft>
                <a:spcPts val="800"/>
              </a:spcAft>
            </a:pPr>
            <a:r>
              <a:rPr sz="1600">
                <a:solidFill>
                  <a:srgbClr val="292934"/>
                </a:solidFill>
              </a:rPr>
              <a:t>Being one user in a larger district would transfer timely delivery and key decision-making to a separate entity.</a:t>
            </a:r>
          </a:p>
        </p:txBody>
      </p:sp>
      <p:sp>
        <p:nvSpPr>
          <p:cNvPr id="3" name="Title 2"/>
          <p:cNvSpPr>
            <a:spLocks noGrp="1"/>
          </p:cNvSpPr>
          <p:nvPr>
            <p:ph type="title"/>
          </p:nvPr>
        </p:nvSpPr>
        <p:spPr/>
        <p:txBody>
          <a:bodyPr wrap="square"/>
          <a:lstStyle/>
          <a:p>
            <a:r>
              <a:t>Primary Focus</a:t>
            </a:r>
          </a:p>
        </p:txBody>
      </p:sp>
      <p:sp>
        <p:nvSpPr>
          <p:cNvPr id="4" name="Text Placeholder 3"/>
          <p:cNvSpPr>
            <a:spLocks noGrp="1"/>
          </p:cNvSpPr>
          <p:nvPr>
            <p:ph type="body" idx="13" sz="quarter"/>
          </p:nvPr>
        </p:nvSpPr>
        <p:spPr/>
        <p:txBody>
          <a:bodyPr wrap="square"/>
          <a:lstStyle/>
          <a:p>
            <a:r>
              <a:rPr>
                <a:solidFill>
                  <a:srgbClr val="AA2226"/>
                </a:solidFill>
              </a:rPr>
              <a:t>The CUP is essential to the overall project delivery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lstStyle/>
          <a:p>
            <a:pPr>
              <a:spcAft>
                <a:spcPts val="800"/>
              </a:spcAft>
            </a:pPr>
            <a:r>
              <a:rPr sz="1500">
                <a:solidFill>
                  <a:srgbClr val="292934"/>
                </a:solidFill>
              </a:rPr>
              <a:t>A Co-Gen consultant was identified in early April for a Feasibility Study; the bid process completed in May and IMEG was selected.</a:t>
            </a:r>
          </a:p>
          <a:p>
            <a:pPr lvl="1">
              <a:spcAft>
                <a:spcPts val="800"/>
              </a:spcAft>
            </a:pPr>
            <a:r>
              <a:rPr sz="1400">
                <a:solidFill>
                  <a:srgbClr val="292934"/>
                </a:solidFill>
              </a:rPr>
              <a:t>IMEG Phase I — ROM &amp; Schedule:  6/5/26 → 6/19/26</a:t>
            </a:r>
          </a:p>
          <a:p>
            <a:pPr lvl="1">
              <a:spcAft>
                <a:spcPts val="800"/>
              </a:spcAft>
            </a:pPr>
            <a:r>
              <a:rPr sz="1400">
                <a:solidFill>
                  <a:srgbClr val="292934"/>
                </a:solidFill>
              </a:rPr>
              <a:t>IMEG Phase II — Equipment Selection, P&amp;ID, Floor Plan, Economic Payback Analysis:  6/19/26 → 8/3/26</a:t>
            </a:r>
          </a:p>
          <a:p>
            <a:pPr lvl="1">
              <a:spcAft>
                <a:spcPts val="800"/>
              </a:spcAft>
            </a:pPr>
            <a:r>
              <a:rPr sz="1400">
                <a:solidFill>
                  <a:srgbClr val="292934"/>
                </a:solidFill>
              </a:rPr>
              <a:t>Energy Modeling (IMEG or Group 14):  7/15/26 → 9/15/26</a:t>
            </a:r>
          </a:p>
          <a:p>
            <a:pPr lvl="1">
              <a:spcAft>
                <a:spcPts val="800"/>
              </a:spcAft>
            </a:pPr>
            <a:r>
              <a:rPr sz="1400">
                <a:solidFill>
                  <a:srgbClr val="292934"/>
                </a:solidFill>
              </a:rPr>
              <a:t>Prepare Construction Documents for the CUP:  8/3/26 → 10/30/26</a:t>
            </a:r>
          </a:p>
          <a:p>
            <a:pPr lvl="1">
              <a:spcAft>
                <a:spcPts val="800"/>
              </a:spcAft>
            </a:pPr>
            <a:r>
              <a:rPr sz="1400">
                <a:solidFill>
                  <a:srgbClr val="292934"/>
                </a:solidFill>
              </a:rPr>
              <a:t>Submit CDs &amp; Application to Xcel for approval:  11/2/26</a:t>
            </a:r>
          </a:p>
        </p:txBody>
      </p:sp>
      <p:sp>
        <p:nvSpPr>
          <p:cNvPr id="3" name="Title 2"/>
          <p:cNvSpPr>
            <a:spLocks noGrp="1"/>
          </p:cNvSpPr>
          <p:nvPr>
            <p:ph type="title"/>
          </p:nvPr>
        </p:nvSpPr>
        <p:spPr/>
        <p:txBody>
          <a:bodyPr wrap="square"/>
          <a:lstStyle/>
          <a:p>
            <a:r>
              <a:t>Application Timeline</a:t>
            </a:r>
          </a:p>
        </p:txBody>
      </p:sp>
      <p:sp>
        <p:nvSpPr>
          <p:cNvPr id="4" name="Text Placeholder 3"/>
          <p:cNvSpPr>
            <a:spLocks noGrp="1"/>
          </p:cNvSpPr>
          <p:nvPr>
            <p:ph type="body" idx="13" sz="quarter"/>
          </p:nvPr>
        </p:nvSpPr>
        <p:spPr/>
        <p:txBody>
          <a:bodyPr wrap="square"/>
          <a:lstStyle/>
          <a:p>
            <a:r>
              <a:rPr>
                <a:solidFill>
                  <a:srgbClr val="AA2226"/>
                </a:solidFill>
              </a:rPr>
              <a:t>IMEG selected (May) to deliver the Feasibility Study; Xcel approval path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548640" y="1554480"/>
            <a:ext cx="5486400" cy="4480560"/>
          </a:xfrm>
        </p:spPr>
        <p:txBody>
          <a:bodyPr wrap="square"/>
          <a:lstStyle/>
          <a:p>
            <a:pPr>
              <a:spcAft>
                <a:spcPts val="800"/>
              </a:spcAft>
            </a:pPr>
            <a:r>
              <a:rPr sz="1500">
                <a:solidFill>
                  <a:srgbClr val="292934"/>
                </a:solidFill>
              </a:rPr>
              <a:t>Proximity of the CUP to the Casino site maximizes reliability and minimizes risk.</a:t>
            </a:r>
          </a:p>
          <a:p>
            <a:pPr>
              <a:spcAft>
                <a:spcPts val="800"/>
              </a:spcAft>
            </a:pPr>
            <a:r>
              <a:rPr sz="1500">
                <a:solidFill>
                  <a:srgbClr val="292934"/>
                </a:solidFill>
              </a:rPr>
              <a:t>A steam / condensate pipe bridge delivers superheated steam to the Casino Mechanical Room and returns condensate to the CUP.</a:t>
            </a:r>
          </a:p>
          <a:p>
            <a:pPr>
              <a:spcAft>
                <a:spcPts val="800"/>
              </a:spcAft>
            </a:pPr>
            <a:r>
              <a:rPr sz="1500">
                <a:solidFill>
                  <a:srgbClr val="292934"/>
                </a:solidFill>
              </a:rPr>
              <a:t>Minimizing pipe-bridge length (pump transfer stations, traps, etc.) reduces maintenance, shutdown risk, service interruption and cost.</a:t>
            </a:r>
          </a:p>
          <a:p>
            <a:pPr>
              <a:spcAft>
                <a:spcPts val="800"/>
              </a:spcAft>
            </a:pPr>
            <a:r>
              <a:rPr sz="1500">
                <a:solidFill>
                  <a:srgbClr val="292934"/>
                </a:solidFill>
              </a:rPr>
              <a:t>Mammoth Hill is the primary location for the CUP site selection process.</a:t>
            </a:r>
          </a:p>
        </p:txBody>
      </p:sp>
      <p:sp>
        <p:nvSpPr>
          <p:cNvPr id="3" name="Title 2"/>
          <p:cNvSpPr>
            <a:spLocks noGrp="1"/>
          </p:cNvSpPr>
          <p:nvPr>
            <p:ph type="title"/>
          </p:nvPr>
        </p:nvSpPr>
        <p:spPr/>
        <p:txBody>
          <a:bodyPr wrap="square"/>
          <a:lstStyle/>
          <a:p>
            <a:r>
              <a:t>CUP Location</a:t>
            </a:r>
          </a:p>
        </p:txBody>
      </p:sp>
      <p:sp>
        <p:nvSpPr>
          <p:cNvPr id="4" name="Text Placeholder 3"/>
          <p:cNvSpPr>
            <a:spLocks noGrp="1"/>
          </p:cNvSpPr>
          <p:nvPr>
            <p:ph type="body" idx="13" sz="quarter"/>
          </p:nvPr>
        </p:nvSpPr>
        <p:spPr/>
        <p:txBody>
          <a:bodyPr wrap="square"/>
          <a:lstStyle/>
          <a:p>
            <a:r>
              <a:rPr>
                <a:solidFill>
                  <a:srgbClr val="AA2226"/>
                </a:solidFill>
              </a:rPr>
              <a:t>Mammoth Hill — proximity is key to reliability and cost</a:t>
            </a:r>
          </a:p>
        </p:txBody>
      </p:sp>
      <p:pic>
        <p:nvPicPr>
          <p:cNvPr id="5" name="Picture 4" descr="site_map.png"/>
          <p:cNvPicPr>
            <a:picLocks noChangeAspect="1"/>
          </p:cNvPicPr>
          <p:nvPr/>
        </p:nvPicPr>
        <p:blipFill>
          <a:blip r:embed="rId2"/>
          <a:stretch>
            <a:fillRect/>
          </a:stretch>
        </p:blipFill>
        <p:spPr>
          <a:xfrm>
            <a:off x="6309360" y="2076389"/>
            <a:ext cx="5486400" cy="3162422"/>
          </a:xfrm>
          <a:prstGeom prst="rect">
            <a:avLst/>
          </a:prstGeom>
          <a:ln w="9525">
            <a:solidFill>
              <a:srgbClr val="808DA0"/>
            </a:solidFill>
          </a:ln>
        </p:spPr>
      </p:pic>
      <p:sp>
        <p:nvSpPr>
          <p:cNvPr id="6" name="TextBox 5"/>
          <p:cNvSpPr txBox="1"/>
          <p:nvPr/>
        </p:nvSpPr>
        <p:spPr>
          <a:xfrm>
            <a:off x="6309360" y="5806440"/>
            <a:ext cx="5486400" cy="365760"/>
          </a:xfrm>
          <a:prstGeom prst="rect">
            <a:avLst/>
          </a:prstGeom>
          <a:noFill/>
        </p:spPr>
        <p:txBody>
          <a:bodyPr wrap="square">
            <a:spAutoFit/>
          </a:bodyPr>
          <a:lstStyle/>
          <a:p>
            <a:pPr algn="ctr"/>
            <a:r>
              <a:rPr sz="900">
                <a:solidFill>
                  <a:srgbClr val="808DA0"/>
                </a:solidFill>
              </a:rPr>
              <a:t>Schematic site context — Mammoth Hill CUP relative to the Casino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lstStyle/>
          <a:p>
            <a:pPr>
              <a:spcAft>
                <a:spcPts val="800"/>
              </a:spcAft>
            </a:pPr>
            <a:r>
              <a:rPr sz="1500">
                <a:solidFill>
                  <a:srgbClr val="292934"/>
                </a:solidFill>
              </a:rPr>
              <a:t>Special Projects met with Xcel on options for delivering electricity to the Casino project.</a:t>
            </a:r>
          </a:p>
          <a:p>
            <a:pPr>
              <a:spcAft>
                <a:spcPts val="800"/>
              </a:spcAft>
            </a:pPr>
            <a:r>
              <a:rPr sz="1500">
                <a:solidFill>
                  <a:srgbClr val="292934"/>
                </a:solidFill>
              </a:rPr>
              <a:t>Current connected load ≈ 8.5 MW;  regular operating load ≈ 5–6.5 MW.</a:t>
            </a:r>
          </a:p>
          <a:p>
            <a:pPr>
              <a:spcAft>
                <a:spcPts val="800"/>
              </a:spcAft>
            </a:pPr>
            <a:r>
              <a:rPr sz="1500">
                <a:solidFill>
                  <a:srgbClr val="292934"/>
                </a:solidFill>
              </a:rPr>
              <a:t>Xcel can provide 2.5 MW without improvements to the current grid infrastructure.</a:t>
            </a:r>
          </a:p>
          <a:p>
            <a:pPr>
              <a:spcAft>
                <a:spcPts val="800"/>
              </a:spcAft>
            </a:pPr>
            <a:r>
              <a:rPr sz="1500">
                <a:solidFill>
                  <a:srgbClr val="292934"/>
                </a:solidFill>
              </a:rPr>
              <a:t>Additional power could be run from Idaho Springs (underground or overhead) — adding maintenance, reliability concerns and outage risk.</a:t>
            </a:r>
          </a:p>
          <a:p>
            <a:pPr>
              <a:spcAft>
                <a:spcPts val="800"/>
              </a:spcAft>
            </a:pPr>
            <a:r>
              <a:rPr sz="1500">
                <a:solidFill>
                  <a:srgbClr val="292934"/>
                </a:solidFill>
              </a:rPr>
              <a:t>Xcel reported installation would require 5 years from application.</a:t>
            </a:r>
          </a:p>
        </p:txBody>
      </p:sp>
      <p:sp>
        <p:nvSpPr>
          <p:cNvPr id="3" name="Title 2"/>
          <p:cNvSpPr>
            <a:spLocks noGrp="1"/>
          </p:cNvSpPr>
          <p:nvPr>
            <p:ph type="title"/>
          </p:nvPr>
        </p:nvSpPr>
        <p:spPr/>
        <p:txBody>
          <a:bodyPr wrap="square"/>
          <a:lstStyle/>
          <a:p>
            <a:r>
              <a:t>Alternate Delivery Sources</a:t>
            </a:r>
          </a:p>
        </p:txBody>
      </p:sp>
      <p:sp>
        <p:nvSpPr>
          <p:cNvPr id="4" name="Text Placeholder 3"/>
          <p:cNvSpPr>
            <a:spLocks noGrp="1"/>
          </p:cNvSpPr>
          <p:nvPr>
            <p:ph type="body" idx="13" sz="quarter"/>
          </p:nvPr>
        </p:nvSpPr>
        <p:spPr/>
        <p:txBody>
          <a:bodyPr wrap="square"/>
          <a:lstStyle/>
          <a:p>
            <a:r>
              <a:rPr>
                <a:solidFill>
                  <a:srgbClr val="AA2226"/>
                </a:solidFill>
              </a:rPr>
              <a:t>Grid-only delivery adds maintenance, risk and a ~5-year Xcel timeline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lstStyle/>
          <a:p>
            <a:pPr>
              <a:spcAft>
                <a:spcPts val="800"/>
              </a:spcAft>
            </a:pPr>
            <a:r>
              <a:rPr sz="1600">
                <a:solidFill>
                  <a:srgbClr val="292934"/>
                </a:solidFill>
              </a:rPr>
              <a:t>Cost control of the generated electricity will be managed by USGPD.</a:t>
            </a:r>
          </a:p>
          <a:p>
            <a:pPr>
              <a:spcAft>
                <a:spcPts val="800"/>
              </a:spcAft>
            </a:pPr>
            <a:r>
              <a:rPr sz="1600">
                <a:solidFill>
                  <a:srgbClr val="292934"/>
                </a:solidFill>
              </a:rPr>
              <a:t>Market rate for electricity ≈ $0.07/kWh (region-dependent, excludes transmission);  natural gas ≈ $4.50/DTH.</a:t>
            </a:r>
          </a:p>
          <a:p>
            <a:pPr>
              <a:spcAft>
                <a:spcPts val="800"/>
              </a:spcAft>
            </a:pPr>
            <a:r>
              <a:rPr sz="1600">
                <a:solidFill>
                  <a:srgbClr val="292934"/>
                </a:solidFill>
              </a:rPr>
              <a:t>The CUP cost per kWh will be a cost-of-operation figure set by the economic payback analysis.</a:t>
            </a:r>
          </a:p>
          <a:p>
            <a:pPr>
              <a:spcAft>
                <a:spcPts val="800"/>
              </a:spcAft>
            </a:pPr>
            <a:r>
              <a:rPr sz="1600">
                <a:solidFill>
                  <a:srgbClr val="292934"/>
                </a:solidFill>
              </a:rPr>
              <a:t>Internal management of this cost — versus payments to a District in perpetuity — is an important factor in the decision.</a:t>
            </a:r>
          </a:p>
        </p:txBody>
      </p:sp>
      <p:sp>
        <p:nvSpPr>
          <p:cNvPr id="3" name="Title 2"/>
          <p:cNvSpPr>
            <a:spLocks noGrp="1"/>
          </p:cNvSpPr>
          <p:nvPr>
            <p:ph type="title"/>
          </p:nvPr>
        </p:nvSpPr>
        <p:spPr/>
        <p:txBody>
          <a:bodyPr wrap="square"/>
          <a:lstStyle/>
          <a:p>
            <a:r>
              <a:t>Utility Cost Control</a:t>
            </a:r>
          </a:p>
        </p:txBody>
      </p:sp>
      <p:sp>
        <p:nvSpPr>
          <p:cNvPr id="4" name="Text Placeholder 3"/>
          <p:cNvSpPr>
            <a:spLocks noGrp="1"/>
          </p:cNvSpPr>
          <p:nvPr>
            <p:ph type="body" idx="13" sz="quarter"/>
          </p:nvPr>
        </p:nvSpPr>
        <p:spPr/>
        <p:txBody>
          <a:bodyPr wrap="square"/>
          <a:lstStyle/>
          <a:p>
            <a:r>
              <a:rPr>
                <a:solidFill>
                  <a:srgbClr val="AA2226"/>
                </a:solidFill>
              </a:rPr>
              <a:t>Internal cost management vs. payments to a District in perpetuity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548640" y="1554480"/>
            <a:ext cx="5486400" cy="4480560"/>
          </a:xfrm>
        </p:spPr>
        <p:txBody>
          <a:bodyPr wrap="square"/>
          <a:lstStyle/>
          <a:p>
            <a:pPr>
              <a:spcAft>
                <a:spcPts val="800"/>
              </a:spcAft>
            </a:pPr>
            <a:r>
              <a:rPr sz="1500">
                <a:solidFill>
                  <a:srgbClr val="292934"/>
                </a:solidFill>
              </a:rPr>
              <a:t>The Casino will be the primary, if not sole, user of the thermal energy (superheated steam) generated by the CUP.</a:t>
            </a:r>
          </a:p>
          <a:p>
            <a:pPr>
              <a:spcAft>
                <a:spcPts val="800"/>
              </a:spcAft>
            </a:pPr>
            <a:r>
              <a:rPr sz="1500">
                <a:solidFill>
                  <a:srgbClr val="292934"/>
                </a:solidFill>
              </a:rPr>
              <a:t>This provides 'free heating and cooling' for the Resort by optimizing the turbine generators' high-temperature stack discharge.</a:t>
            </a:r>
          </a:p>
          <a:p>
            <a:pPr>
              <a:spcAft>
                <a:spcPts val="800"/>
              </a:spcAft>
            </a:pPr>
            <a:r>
              <a:rPr sz="1500">
                <a:solidFill>
                  <a:srgbClr val="292934"/>
                </a:solidFill>
              </a:rPr>
              <a:t>Overall cost of energy to operate the Casino will be determined in the IMEG Feasibility Study and Economic Payback Analysis.</a:t>
            </a:r>
          </a:p>
        </p:txBody>
      </p:sp>
      <p:sp>
        <p:nvSpPr>
          <p:cNvPr id="3" name="Title 2"/>
          <p:cNvSpPr>
            <a:spLocks noGrp="1"/>
          </p:cNvSpPr>
          <p:nvPr>
            <p:ph type="title"/>
          </p:nvPr>
        </p:nvSpPr>
        <p:spPr/>
        <p:txBody>
          <a:bodyPr wrap="square"/>
          <a:lstStyle/>
          <a:p>
            <a:r>
              <a:t>Long-Term Economic Payback</a:t>
            </a:r>
          </a:p>
        </p:txBody>
      </p:sp>
      <p:sp>
        <p:nvSpPr>
          <p:cNvPr id="4" name="Text Placeholder 3"/>
          <p:cNvSpPr>
            <a:spLocks noGrp="1"/>
          </p:cNvSpPr>
          <p:nvPr>
            <p:ph type="body" idx="13" sz="quarter"/>
          </p:nvPr>
        </p:nvSpPr>
        <p:spPr/>
        <p:txBody>
          <a:bodyPr wrap="square"/>
          <a:lstStyle/>
          <a:p>
            <a:r>
              <a:rPr>
                <a:solidFill>
                  <a:srgbClr val="AA2226"/>
                </a:solidFill>
              </a:rPr>
              <a:t>‘Free heating &amp; cooling’ from turbine stack discharge</a:t>
            </a:r>
          </a:p>
        </p:txBody>
      </p:sp>
      <p:pic>
        <p:nvPicPr>
          <p:cNvPr id="5" name="Picture 4" descr="combined_cycle.png"/>
          <p:cNvPicPr>
            <a:picLocks noChangeAspect="1"/>
          </p:cNvPicPr>
          <p:nvPr/>
        </p:nvPicPr>
        <p:blipFill>
          <a:blip r:embed="rId2"/>
          <a:stretch>
            <a:fillRect/>
          </a:stretch>
        </p:blipFill>
        <p:spPr>
          <a:xfrm>
            <a:off x="6309360" y="2157492"/>
            <a:ext cx="5486400" cy="3000215"/>
          </a:xfrm>
          <a:prstGeom prst="rect">
            <a:avLst/>
          </a:prstGeom>
          <a:ln w="9525">
            <a:solidFill>
              <a:srgbClr val="808DA0"/>
            </a:solidFill>
          </a:ln>
        </p:spPr>
      </p:pic>
      <p:sp>
        <p:nvSpPr>
          <p:cNvPr id="6" name="TextBox 5"/>
          <p:cNvSpPr txBox="1"/>
          <p:nvPr/>
        </p:nvSpPr>
        <p:spPr>
          <a:xfrm>
            <a:off x="6309360" y="5806440"/>
            <a:ext cx="5486400" cy="365760"/>
          </a:xfrm>
          <a:prstGeom prst="rect">
            <a:avLst/>
          </a:prstGeom>
          <a:noFill/>
        </p:spPr>
        <p:txBody>
          <a:bodyPr wrap="square">
            <a:spAutoFit/>
          </a:bodyPr>
          <a:lstStyle/>
          <a:p>
            <a:pPr algn="ctr"/>
            <a:r>
              <a:rPr sz="900">
                <a:solidFill>
                  <a:srgbClr val="808DA0"/>
                </a:solidFill>
              </a:rPr>
              <a:t>Combined-cycle co-generation: one fuel, electricity + thermal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lstStyle/>
          <a:p>
            <a:pPr>
              <a:spcAft>
                <a:spcPts val="800"/>
              </a:spcAft>
            </a:pPr>
            <a:r>
              <a:rPr sz="1600">
                <a:solidFill>
                  <a:srgbClr val="292934"/>
                </a:solidFill>
              </a:rPr>
              <a:t>Central City would most likely hire a third-party Developer/Operator.</a:t>
            </a:r>
          </a:p>
          <a:p>
            <a:pPr>
              <a:spcAft>
                <a:spcPts val="800"/>
              </a:spcAft>
            </a:pPr>
            <a:r>
              <a:rPr sz="1600">
                <a:solidFill>
                  <a:srgbClr val="292934"/>
                </a:solidFill>
              </a:rPr>
              <a:t>This would delay the construction-document and gas-application process.</a:t>
            </a:r>
          </a:p>
          <a:p>
            <a:pPr>
              <a:spcAft>
                <a:spcPts val="800"/>
              </a:spcAft>
            </a:pPr>
            <a:r>
              <a:rPr sz="1600">
                <a:solidFill>
                  <a:srgbClr val="292934"/>
                </a:solidFill>
              </a:rPr>
              <a:t>It would lead to negotiation of utility costs in perpetuity.</a:t>
            </a:r>
          </a:p>
          <a:p>
            <a:pPr>
              <a:spcAft>
                <a:spcPts val="800"/>
              </a:spcAft>
            </a:pPr>
            <a:r>
              <a:rPr sz="1600">
                <a:solidFill>
                  <a:srgbClr val="292934"/>
                </a:solidFill>
              </a:rPr>
              <a:t>A district plant farther from the Casino adds substantial cost (pipe-bridge length) and raises reliability and disruption risk.</a:t>
            </a:r>
          </a:p>
        </p:txBody>
      </p:sp>
      <p:sp>
        <p:nvSpPr>
          <p:cNvPr id="3" name="Title 2"/>
          <p:cNvSpPr>
            <a:spLocks noGrp="1"/>
          </p:cNvSpPr>
          <p:nvPr>
            <p:ph type="title"/>
          </p:nvPr>
        </p:nvSpPr>
        <p:spPr/>
        <p:txBody>
          <a:bodyPr wrap="square"/>
          <a:lstStyle/>
          <a:p>
            <a:r>
              <a:t>Central City Mini-District Constraints</a:t>
            </a:r>
          </a:p>
        </p:txBody>
      </p:sp>
      <p:sp>
        <p:nvSpPr>
          <p:cNvPr id="4" name="Text Placeholder 3"/>
          <p:cNvSpPr>
            <a:spLocks noGrp="1"/>
          </p:cNvSpPr>
          <p:nvPr>
            <p:ph type="body" idx="13" sz="quarter"/>
          </p:nvPr>
        </p:nvSpPr>
        <p:spPr/>
        <p:txBody>
          <a:bodyPr wrap="square"/>
          <a:lstStyle/>
          <a:p>
            <a:r>
              <a:rPr>
                <a:solidFill>
                  <a:srgbClr val="AA2226"/>
                </a:solidFill>
              </a:rPr>
              <a:t>A third-party district adds delay, perpetual cost and distance risk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lstStyle/>
          <a:p>
            <a:pPr>
              <a:spcAft>
                <a:spcPts val="1000"/>
              </a:spcAft>
            </a:pPr>
            <a:r>
              <a:rPr sz="1800">
                <a:solidFill>
                  <a:srgbClr val="292934"/>
                </a:solidFill>
              </a:rPr>
              <a:t>Time Value of Money</a:t>
            </a:r>
          </a:p>
        </p:txBody>
      </p:sp>
      <p:sp>
        <p:nvSpPr>
          <p:cNvPr id="3" name="Title 2"/>
          <p:cNvSpPr>
            <a:spLocks noGrp="1"/>
          </p:cNvSpPr>
          <p:nvPr>
            <p:ph type="title"/>
          </p:nvPr>
        </p:nvSpPr>
        <p:spPr/>
        <p:txBody>
          <a:bodyPr wrap="square"/>
          <a:lstStyle/>
          <a:p>
            <a:r>
              <a:t>Disadvantage to Consider</a:t>
            </a:r>
          </a:p>
        </p:txBody>
      </p:sp>
      <p:sp>
        <p:nvSpPr>
          <p:cNvPr id="4" name="Text Placeholder 3"/>
          <p:cNvSpPr>
            <a:spLocks noGrp="1"/>
          </p:cNvSpPr>
          <p:nvPr>
            <p:ph type="body" idx="13" sz="quarter"/>
          </p:nvPr>
        </p:nvSpPr>
        <p:spPr/>
        <p:txBody>
          <a:bodyPr wrap="square"/>
          <a:lstStyle/>
          <a:p>
            <a:r>
              <a:rPr>
                <a:solidFill>
                  <a:srgbClr val="AA2226"/>
                </a:solidFill>
              </a:rPr>
              <a:t>The principal trade-off of owning and operating the CUP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lstStyle/>
          <a:p>
            <a:pPr>
              <a:spcAft>
                <a:spcPts val="800"/>
              </a:spcAft>
            </a:pPr>
            <a:r>
              <a:rPr sz="1600">
                <a:solidFill>
                  <a:srgbClr val="292934"/>
                </a:solidFill>
              </a:rPr>
              <a:t>The CUP is estimated to cost between $24M and $30M.</a:t>
            </a:r>
          </a:p>
          <a:p>
            <a:pPr>
              <a:spcAft>
                <a:spcPts val="800"/>
              </a:spcAft>
            </a:pPr>
            <a:r>
              <a:rPr sz="1600">
                <a:solidFill>
                  <a:srgbClr val="292934"/>
                </a:solidFill>
              </a:rPr>
              <a:t>An independent owner/operator could reduce the total funds USGPD raises through syndication and the interest due on funds prior to full operation and economic return of the CUP.</a:t>
            </a:r>
          </a:p>
          <a:p>
            <a:pPr>
              <a:spcAft>
                <a:spcPts val="800"/>
              </a:spcAft>
            </a:pPr>
            <a:r>
              <a:rPr sz="1600">
                <a:solidFill>
                  <a:srgbClr val="292934"/>
                </a:solidFill>
              </a:rPr>
              <a:t>The economic payback analysis (IMEG) is part of the overall feasibility analysis.</a:t>
            </a:r>
          </a:p>
        </p:txBody>
      </p:sp>
      <p:sp>
        <p:nvSpPr>
          <p:cNvPr id="3" name="Title 2"/>
          <p:cNvSpPr>
            <a:spLocks noGrp="1"/>
          </p:cNvSpPr>
          <p:nvPr>
            <p:ph type="title"/>
          </p:nvPr>
        </p:nvSpPr>
        <p:spPr/>
        <p:txBody>
          <a:bodyPr wrap="square"/>
          <a:lstStyle/>
          <a:p>
            <a:r>
              <a:t>Time Value of Money</a:t>
            </a:r>
          </a:p>
        </p:txBody>
      </p:sp>
      <p:sp>
        <p:nvSpPr>
          <p:cNvPr id="4" name="Text Placeholder 3"/>
          <p:cNvSpPr>
            <a:spLocks noGrp="1"/>
          </p:cNvSpPr>
          <p:nvPr>
            <p:ph type="body" idx="13" sz="quarter"/>
          </p:nvPr>
        </p:nvSpPr>
        <p:spPr/>
        <p:txBody>
          <a:bodyPr wrap="square"/>
          <a:lstStyle/>
          <a:p>
            <a:r>
              <a:rPr>
                <a:solidFill>
                  <a:srgbClr val="AA2226"/>
                </a:solidFill>
              </a:rPr>
              <a:t>A $24M–$30M CUP carries capital and interest before full operation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548640" y="1554480"/>
            <a:ext cx="5486400" cy="4480560"/>
          </a:xfrm>
        </p:spPr>
        <p:txBody>
          <a:bodyPr wrap="square"/>
          <a:lstStyle/>
          <a:p>
            <a:pPr>
              <a:spcAft>
                <a:spcPts val="800"/>
              </a:spcAft>
            </a:pPr>
            <a:r>
              <a:rPr sz="1400">
                <a:solidFill>
                  <a:srgbClr val="292934"/>
                </a:solidFill>
              </a:rPr>
              <a:t>Unused Caterpillar Cogeneration Natural Gas Generator System, 1.5 MW.</a:t>
            </a:r>
          </a:p>
          <a:p>
            <a:pPr>
              <a:spcAft>
                <a:spcPts val="800"/>
              </a:spcAft>
            </a:pPr>
            <a:r>
              <a:rPr sz="1400">
                <a:solidFill>
                  <a:srgbClr val="292934"/>
                </a:solidFill>
              </a:rPr>
              <a:t>CG170-16 engine rated 1,556 kW, 4160 V, 3-phase, 60 Hz at 0.8 PF.</a:t>
            </a:r>
          </a:p>
          <a:p>
            <a:pPr>
              <a:spcAft>
                <a:spcPts val="800"/>
              </a:spcAft>
            </a:pPr>
            <a:r>
              <a:rPr sz="1400">
                <a:solidFill>
                  <a:srgbClr val="292934"/>
                </a:solidFill>
              </a:rPr>
              <a:t>Pritchard Brown enclosure, Cannon boiler, Boulden radiator, WHR system, Stueler SCR system (outside enclosure), Caterpillar ISO aux cabinet.</a:t>
            </a:r>
          </a:p>
          <a:p>
            <a:pPr>
              <a:spcAft>
                <a:spcPts val="800"/>
              </a:spcAft>
            </a:pPr>
            <a:r>
              <a:rPr sz="1400">
                <a:solidFill>
                  <a:srgbClr val="292934"/>
                </a:solidFill>
              </a:rPr>
              <a:t>Built 2017;  80 hours of engineering support to site.  U.S.A. only.</a:t>
            </a:r>
          </a:p>
          <a:p>
            <a:pPr>
              <a:spcAft>
                <a:spcPts val="800"/>
              </a:spcAft>
            </a:pPr>
            <a:r>
              <a:rPr sz="1400">
                <a:solidFill>
                  <a:srgbClr val="292934"/>
                </a:solidFill>
              </a:rPr>
              <a:t>Item price:  $599,000.00 USD</a:t>
            </a:r>
          </a:p>
        </p:txBody>
      </p:sp>
      <p:sp>
        <p:nvSpPr>
          <p:cNvPr id="3" name="Title 2"/>
          <p:cNvSpPr>
            <a:spLocks noGrp="1"/>
          </p:cNvSpPr>
          <p:nvPr>
            <p:ph type="title"/>
          </p:nvPr>
        </p:nvSpPr>
        <p:spPr/>
        <p:txBody>
          <a:bodyPr wrap="square"/>
          <a:lstStyle/>
          <a:p>
            <a:r>
              <a:t>Proposed Equipment — Caterpillar CG170-16</a:t>
            </a:r>
          </a:p>
        </p:txBody>
      </p:sp>
      <p:sp>
        <p:nvSpPr>
          <p:cNvPr id="4" name="Text Placeholder 3"/>
          <p:cNvSpPr>
            <a:spLocks noGrp="1"/>
          </p:cNvSpPr>
          <p:nvPr>
            <p:ph type="body" idx="13" sz="quarter"/>
          </p:nvPr>
        </p:nvSpPr>
        <p:spPr/>
        <p:txBody>
          <a:bodyPr wrap="square"/>
          <a:lstStyle/>
          <a:p>
            <a:r>
              <a:rPr>
                <a:solidFill>
                  <a:srgbClr val="AA2226"/>
                </a:solidFill>
              </a:rPr>
              <a:t>Unused 1.5 MW natural-gas cogeneration generator set — $599,000</a:t>
            </a:r>
          </a:p>
        </p:txBody>
      </p:sp>
      <p:pic>
        <p:nvPicPr>
          <p:cNvPr id="5" name="Picture 4" descr="49ded102_image1.jpeg"/>
          <p:cNvPicPr>
            <a:picLocks noChangeAspect="1"/>
          </p:cNvPicPr>
          <p:nvPr/>
        </p:nvPicPr>
        <p:blipFill>
          <a:blip r:embed="rId2"/>
          <a:stretch>
            <a:fillRect/>
          </a:stretch>
        </p:blipFill>
        <p:spPr>
          <a:xfrm>
            <a:off x="6309360" y="1583741"/>
            <a:ext cx="5486400" cy="4147718"/>
          </a:xfrm>
          <a:prstGeom prst="rect">
            <a:avLst/>
          </a:prstGeom>
          <a:ln w="9525">
            <a:solidFill>
              <a:srgbClr val="808DA0"/>
            </a:solidFill>
          </a:ln>
        </p:spPr>
      </p:pic>
      <p:sp>
        <p:nvSpPr>
          <p:cNvPr id="6" name="TextBox 5"/>
          <p:cNvSpPr txBox="1"/>
          <p:nvPr/>
        </p:nvSpPr>
        <p:spPr>
          <a:xfrm>
            <a:off x="6309360" y="5806440"/>
            <a:ext cx="5486400" cy="365760"/>
          </a:xfrm>
          <a:prstGeom prst="rect">
            <a:avLst/>
          </a:prstGeom>
          <a:noFill/>
        </p:spPr>
        <p:txBody>
          <a:bodyPr wrap="square">
            <a:spAutoFit/>
          </a:bodyPr>
          <a:lstStyle/>
          <a:p>
            <a:pPr algn="ctr"/>
            <a:r>
              <a:rPr sz="900">
                <a:solidFill>
                  <a:srgbClr val="808DA0"/>
                </a:solidFill>
              </a:rPr>
              <a:t>Aaron Equipment — Stock #50477001 (Caterpillar CG170-16)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548640" y="1554480"/>
            <a:ext cx="5486400" cy="4480560"/>
          </a:xfrm>
        </p:spPr>
        <p:txBody>
          <a:bodyPr wrap="square"/>
          <a:lstStyle/>
          <a:p>
            <a:pPr>
              <a:spcAft>
                <a:spcPts val="800"/>
              </a:spcAft>
            </a:pPr>
            <a:r>
              <a:rPr sz="1400">
                <a:solidFill>
                  <a:srgbClr val="292934"/>
                </a:solidFill>
              </a:rPr>
              <a:t>The Stueler SCR system controls exhaust emissions from the gas engine.</a:t>
            </a:r>
          </a:p>
          <a:p>
            <a:pPr>
              <a:spcAft>
                <a:spcPts val="800"/>
              </a:spcAft>
            </a:pPr>
            <a:r>
              <a:rPr sz="1400">
                <a:solidFill>
                  <a:srgbClr val="292934"/>
                </a:solidFill>
              </a:rPr>
              <a:t>Stack discharge is the high-temperature heat source captured for the Casino's thermal load.</a:t>
            </a:r>
          </a:p>
          <a:p>
            <a:pPr>
              <a:spcAft>
                <a:spcPts val="800"/>
              </a:spcAft>
            </a:pPr>
            <a:r>
              <a:rPr sz="1400">
                <a:solidFill>
                  <a:srgbClr val="292934"/>
                </a:solidFill>
              </a:rPr>
              <a:t>Plume-concentration modeling (e.g., Greenheck CAPS-style analysis) confirms concentrations fall rapidly with downwind distance and height.</a:t>
            </a:r>
          </a:p>
          <a:p>
            <a:pPr>
              <a:spcAft>
                <a:spcPts val="800"/>
              </a:spcAft>
            </a:pPr>
            <a:r>
              <a:rPr sz="1400">
                <a:solidFill>
                  <a:srgbClr val="292934"/>
                </a:solidFill>
              </a:rPr>
              <a:t>Point of interest at 120 ft downwind / 10 ft high ≈ 1,392 PPM — used to site the stack and intakes.</a:t>
            </a:r>
          </a:p>
        </p:txBody>
      </p:sp>
      <p:sp>
        <p:nvSpPr>
          <p:cNvPr id="3" name="Title 2"/>
          <p:cNvSpPr>
            <a:spLocks noGrp="1"/>
          </p:cNvSpPr>
          <p:nvPr>
            <p:ph type="title"/>
          </p:nvPr>
        </p:nvSpPr>
        <p:spPr/>
        <p:txBody>
          <a:bodyPr wrap="square"/>
          <a:lstStyle/>
          <a:p>
            <a:r>
              <a:t>Emissions Control &amp; Exhaust Dilution</a:t>
            </a:r>
          </a:p>
        </p:txBody>
      </p:sp>
      <p:sp>
        <p:nvSpPr>
          <p:cNvPr id="4" name="Text Placeholder 3"/>
          <p:cNvSpPr>
            <a:spLocks noGrp="1"/>
          </p:cNvSpPr>
          <p:nvPr>
            <p:ph type="body" idx="13" sz="quarter"/>
          </p:nvPr>
        </p:nvSpPr>
        <p:spPr/>
        <p:txBody>
          <a:bodyPr wrap="square"/>
          <a:lstStyle/>
          <a:p>
            <a:r>
              <a:rPr>
                <a:solidFill>
                  <a:srgbClr val="AA2226"/>
                </a:solidFill>
              </a:rPr>
              <a:t>SCR-controlled stack discharge — plume dilution with downwind distance</a:t>
            </a:r>
          </a:p>
        </p:txBody>
      </p:sp>
      <p:pic>
        <p:nvPicPr>
          <p:cNvPr id="5" name="Picture 4" descr="plume.png"/>
          <p:cNvPicPr>
            <a:picLocks noChangeAspect="1"/>
          </p:cNvPicPr>
          <p:nvPr/>
        </p:nvPicPr>
        <p:blipFill>
          <a:blip r:embed="rId2"/>
          <a:stretch>
            <a:fillRect/>
          </a:stretch>
        </p:blipFill>
        <p:spPr>
          <a:xfrm>
            <a:off x="6309360" y="2274675"/>
            <a:ext cx="5486400" cy="2765850"/>
          </a:xfrm>
          <a:prstGeom prst="rect">
            <a:avLst/>
          </a:prstGeom>
          <a:ln w="9525">
            <a:solidFill>
              <a:srgbClr val="808DA0"/>
            </a:solidFill>
          </a:ln>
        </p:spPr>
      </p:pic>
      <p:sp>
        <p:nvSpPr>
          <p:cNvPr id="6" name="TextBox 5"/>
          <p:cNvSpPr txBox="1"/>
          <p:nvPr/>
        </p:nvSpPr>
        <p:spPr>
          <a:xfrm>
            <a:off x="6309360" y="5806440"/>
            <a:ext cx="5486400" cy="365760"/>
          </a:xfrm>
          <a:prstGeom prst="rect">
            <a:avLst/>
          </a:prstGeom>
          <a:noFill/>
        </p:spPr>
        <p:txBody>
          <a:bodyPr wrap="square">
            <a:spAutoFit/>
          </a:bodyPr>
          <a:lstStyle/>
          <a:p>
            <a:pPr algn="ctr"/>
            <a:r>
              <a:rPr sz="900">
                <a:solidFill>
                  <a:srgbClr val="808DA0"/>
                </a:solidFill>
              </a:rPr>
              <a:t>Illustrative exhaust-plume dilution (concentration bands)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lstStyle/>
          <a:p>
            <a:pPr>
              <a:spcAft>
                <a:spcPts val="800"/>
              </a:spcAft>
            </a:pPr>
            <a:r>
              <a:rPr sz="1600">
                <a:solidFill>
                  <a:srgbClr val="292934"/>
                </a:solidFill>
              </a:rPr>
              <a:t>USGPD and the design team (Martin &amp; Martin, OS, RTM) have been in discussions with Xcel to apply for gas and electric service.</a:t>
            </a:r>
          </a:p>
          <a:p>
            <a:pPr>
              <a:spcAft>
                <a:spcPts val="800"/>
              </a:spcAft>
            </a:pPr>
            <a:r>
              <a:rPr sz="1600">
                <a:solidFill>
                  <a:srgbClr val="292934"/>
                </a:solidFill>
              </a:rPr>
              <a:t>Xcel has communicated that 9 million cubic feet of gas and 2.5 MW of electricity are available for the Casino project (see Meeting Minutes).</a:t>
            </a:r>
          </a:p>
          <a:p>
            <a:pPr>
              <a:spcAft>
                <a:spcPts val="800"/>
              </a:spcAft>
            </a:pPr>
            <a:r>
              <a:rPr sz="1600">
                <a:solidFill>
                  <a:srgbClr val="292934"/>
                </a:solidFill>
              </a:rPr>
              <a:t>These quantities may be provided without improvements to area utility infrastructure.</a:t>
            </a:r>
          </a:p>
        </p:txBody>
      </p:sp>
      <p:sp>
        <p:nvSpPr>
          <p:cNvPr id="3" name="Title 2"/>
          <p:cNvSpPr>
            <a:spLocks noGrp="1"/>
          </p:cNvSpPr>
          <p:nvPr>
            <p:ph type="title"/>
          </p:nvPr>
        </p:nvSpPr>
        <p:spPr/>
        <p:txBody>
          <a:bodyPr wrap="square"/>
          <a:lstStyle/>
          <a:p>
            <a:r>
              <a:t>Project Update &amp; Status to Date</a:t>
            </a:r>
          </a:p>
        </p:txBody>
      </p:sp>
      <p:sp>
        <p:nvSpPr>
          <p:cNvPr id="4" name="Text Placeholder 3"/>
          <p:cNvSpPr>
            <a:spLocks noGrp="1"/>
          </p:cNvSpPr>
          <p:nvPr>
            <p:ph type="body" idx="13" sz="quarter"/>
          </p:nvPr>
        </p:nvSpPr>
        <p:spPr/>
        <p:txBody>
          <a:bodyPr wrap="square"/>
          <a:lstStyle/>
          <a:p>
            <a:r>
              <a:rPr>
                <a:solidFill>
                  <a:srgbClr val="AA2226"/>
                </a:solidFill>
              </a:rPr>
              <a:t>Xcel confirms gas and 2.5 MW available without infrastructure upgrades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lstStyle/>
          <a:p>
            <a:pPr>
              <a:spcAft>
                <a:spcPts val="800"/>
              </a:spcAft>
            </a:pPr>
            <a:r>
              <a:rPr sz="1600">
                <a:solidFill>
                  <a:srgbClr val="292934"/>
                </a:solidFill>
              </a:rPr>
              <a:t>On April 7th, USGPD issued an RFP to four Co-Gen specialist consultants for a Feasibility Study and Economic Payback Analysis.</a:t>
            </a:r>
          </a:p>
          <a:p>
            <a:pPr>
              <a:spcAft>
                <a:spcPts val="800"/>
              </a:spcAft>
            </a:pPr>
            <a:r>
              <a:rPr sz="1600">
                <a:solidFill>
                  <a:srgbClr val="292934"/>
                </a:solidFill>
              </a:rPr>
              <a:t>Proposals were received April 22nd.</a:t>
            </a:r>
          </a:p>
          <a:p>
            <a:pPr>
              <a:spcAft>
                <a:spcPts val="800"/>
              </a:spcAft>
            </a:pPr>
            <a:r>
              <a:rPr sz="1600">
                <a:solidFill>
                  <a:srgbClr val="292934"/>
                </a:solidFill>
              </a:rPr>
              <a:t>NOTE — Applications for electric and gas service have been submitted to Xcel. Xcel requires a complete set of Construction Documents before approving service and quantities — driving a 'fast-track' strategy.</a:t>
            </a:r>
          </a:p>
        </p:txBody>
      </p:sp>
      <p:sp>
        <p:nvSpPr>
          <p:cNvPr id="3" name="Title 2"/>
          <p:cNvSpPr>
            <a:spLocks noGrp="1"/>
          </p:cNvSpPr>
          <p:nvPr>
            <p:ph type="title"/>
          </p:nvPr>
        </p:nvSpPr>
        <p:spPr/>
        <p:txBody>
          <a:bodyPr wrap="square"/>
          <a:lstStyle/>
          <a:p>
            <a:r>
              <a:t>RFP &amp; Consultant Selection</a:t>
            </a:r>
          </a:p>
        </p:txBody>
      </p:sp>
      <p:sp>
        <p:nvSpPr>
          <p:cNvPr id="4" name="Text Placeholder 3"/>
          <p:cNvSpPr>
            <a:spLocks noGrp="1"/>
          </p:cNvSpPr>
          <p:nvPr>
            <p:ph type="body" idx="13" sz="quarter"/>
          </p:nvPr>
        </p:nvSpPr>
        <p:spPr/>
        <p:txBody>
          <a:bodyPr wrap="square"/>
          <a:lstStyle/>
          <a:p>
            <a:r>
              <a:rPr>
                <a:solidFill>
                  <a:srgbClr val="AA2226"/>
                </a:solidFill>
              </a:rPr>
              <a:t>Fast-track strategy: complete CDs required before Xcel approval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wrap="square"/>
          <a:lstStyle/>
          <a:p>
            <a:pPr>
              <a:spcAft>
                <a:spcPts val="800"/>
              </a:spcAft>
            </a:pPr>
            <a:r>
              <a:rPr sz="1700">
                <a:solidFill>
                  <a:srgbClr val="292934"/>
                </a:solidFill>
              </a:rPr>
              <a:t>Central City and independent developers have expressed interest in owning and operating a Utility Mini-District to serve the Casino and future development.</a:t>
            </a:r>
          </a:p>
          <a:p>
            <a:pPr>
              <a:spcAft>
                <a:spcPts val="800"/>
              </a:spcAft>
            </a:pPr>
            <a:r>
              <a:rPr sz="1700">
                <a:solidFill>
                  <a:srgbClr val="292934"/>
                </a:solidFill>
              </a:rPr>
              <a:t>Due to the factors above — control, timeline, reliability, cost control and long-term thermal payback — the current recommendation is to develop, own and operate the CUP within the Casino project.</a:t>
            </a:r>
          </a:p>
          <a:p>
            <a:pPr>
              <a:spcAft>
                <a:spcPts val="800"/>
              </a:spcAft>
            </a:pPr>
            <a:r>
              <a:rPr sz="1700">
                <a:solidFill>
                  <a:srgbClr val="292934"/>
                </a:solidFill>
              </a:rPr>
              <a:t>Prepared by Bill Hibbard  ·  USGPD Special Projects  ·  6/5/26</a:t>
            </a:r>
          </a:p>
        </p:txBody>
      </p:sp>
      <p:sp>
        <p:nvSpPr>
          <p:cNvPr id="3" name="Title 2"/>
          <p:cNvSpPr>
            <a:spLocks noGrp="1"/>
          </p:cNvSpPr>
          <p:nvPr>
            <p:ph type="title"/>
          </p:nvPr>
        </p:nvSpPr>
        <p:spPr/>
        <p:txBody>
          <a:bodyPr wrap="square"/>
          <a:lstStyle/>
          <a:p>
            <a:r>
              <a:t>Recommendation</a:t>
            </a:r>
          </a:p>
        </p:txBody>
      </p:sp>
      <p:sp>
        <p:nvSpPr>
          <p:cNvPr id="4" name="Text Placeholder 3"/>
          <p:cNvSpPr>
            <a:spLocks noGrp="1"/>
          </p:cNvSpPr>
          <p:nvPr>
            <p:ph type="body" idx="13" sz="quarter"/>
          </p:nvPr>
        </p:nvSpPr>
        <p:spPr/>
        <p:txBody>
          <a:bodyPr wrap="square"/>
          <a:lstStyle/>
          <a:p>
            <a:r>
              <a:rPr>
                <a:solidFill>
                  <a:srgbClr val="AA2226"/>
                </a:solidFill>
              </a:rPr>
              <a:t>Include the CUP as part of the overall Casino project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r>
              <a:t>Internal Comparison Agent</a:t>
            </a:r>
          </a:p>
        </p:txBody>
      </p:sp>
      <p:sp>
        <p:nvSpPr>
          <p:cNvPr id="3" name="TextBox 2"/>
          <p:cNvSpPr txBox="1"/>
          <p:nvPr/>
        </p:nvSpPr>
        <p:spPr>
          <a:xfrm>
            <a:off x="457200" y="868680"/>
            <a:ext cx="11247120" cy="457200"/>
          </a:xfrm>
          <a:prstGeom prst="rect">
            <a:avLst/>
          </a:prstGeom>
          <a:noFill/>
        </p:spPr>
        <p:txBody>
          <a:bodyPr wrap="square">
            <a:spAutoFit/>
          </a:bodyPr>
          <a:lstStyle/>
          <a:p>
            <a:r>
              <a:rPr sz="1300">
                <a:solidFill>
                  <a:srgbClr val="292934"/>
                </a:solidFill>
              </a:rPr>
              <a:t>A dependency-free agent (embedded in this file) scores the three CUP delivery options against weighted criteria.</a:t>
            </a:r>
          </a:p>
        </p:txBody>
      </p:sp>
      <p:graphicFrame>
        <p:nvGraphicFramePr>
          <p:cNvPr id="4" name="Table 3"/>
          <p:cNvGraphicFramePr>
            <a:graphicFrameLocks noGrp="1"/>
          </p:cNvGraphicFramePr>
          <p:nvPr/>
        </p:nvGraphicFramePr>
        <p:xfrm>
          <a:off x="457200" y="1463040"/>
          <a:ext cx="11247120" cy="4206240"/>
        </p:xfrm>
        <a:graphic>
          <a:graphicData uri="http://schemas.openxmlformats.org/drawingml/2006/table">
            <a:tbl>
              <a:tblPr firstRow="1" bandRow="1">
                <a:tableStyleId>{5C22544A-7EE6-4342-B048-85BDC9FD1C3A}</a:tableStyleId>
              </a:tblPr>
              <a:tblGrid>
                <a:gridCol w="4572000"/>
                <a:gridCol w="1188720"/>
                <a:gridCol w="1828800"/>
                <a:gridCol w="1828800"/>
                <a:gridCol w="1828800"/>
              </a:tblGrid>
              <a:tr h="525780">
                <a:tc>
                  <a:txBody>
                    <a:bodyPr wrap="square"/>
                    <a:lstStyle/>
                    <a:p>
                      <a:pPr algn="l"/>
                      <a:r>
                        <a:rPr sz="1200" b="1">
                          <a:solidFill>
                            <a:srgbClr val="FFFFFF"/>
                          </a:solidFill>
                        </a:rPr>
                        <a:t>Criterion</a:t>
                      </a:r>
                    </a:p>
                  </a:txBody>
                  <a:tcPr marT="25400" marB="25400" anchor="ctr">
                    <a:solidFill>
                      <a:srgbClr val="0F113C"/>
                    </a:solidFill>
                  </a:tcPr>
                </a:tc>
                <a:tc>
                  <a:txBody>
                    <a:bodyPr wrap="square"/>
                    <a:lstStyle/>
                    <a:p>
                      <a:pPr algn="ctr"/>
                      <a:r>
                        <a:rPr sz="1200" b="1">
                          <a:solidFill>
                            <a:srgbClr val="FFFFFF"/>
                          </a:solidFill>
                        </a:rPr>
                        <a:t>Weight</a:t>
                      </a:r>
                    </a:p>
                  </a:txBody>
                  <a:tcPr marT="25400" marB="25400" anchor="ctr">
                    <a:solidFill>
                      <a:srgbClr val="0F113C"/>
                    </a:solidFill>
                  </a:tcPr>
                </a:tc>
                <a:tc>
                  <a:txBody>
                    <a:bodyPr wrap="square"/>
                    <a:lstStyle/>
                    <a:p>
                      <a:pPr algn="ctr"/>
                      <a:r>
                        <a:rPr sz="1200" b="1">
                          <a:solidFill>
                            <a:srgbClr val="FFFFFF"/>
                          </a:solidFill>
                        </a:rPr>
                        <a:t>Self-Develop</a:t>
                      </a:r>
                      <a:br/>
                      <a:r>
                        <a:rPr sz="1200" b="1">
                          <a:solidFill>
                            <a:srgbClr val="FFFFFF"/>
                          </a:solidFill>
                        </a:rPr>
                        <a:t>(USGPD)</a:t>
                      </a:r>
                    </a:p>
                  </a:txBody>
                  <a:tcPr marT="25400" marB="25400" anchor="ctr">
                    <a:solidFill>
                      <a:srgbClr val="0F113C"/>
                    </a:solidFill>
                  </a:tcPr>
                </a:tc>
                <a:tc>
                  <a:txBody>
                    <a:bodyPr wrap="square"/>
                    <a:lstStyle/>
                    <a:p>
                      <a:pPr algn="ctr"/>
                      <a:r>
                        <a:rPr sz="1200" b="1">
                          <a:solidFill>
                            <a:srgbClr val="FFFFFF"/>
                          </a:solidFill>
                        </a:rPr>
                        <a:t>Mini-District</a:t>
                      </a:r>
                      <a:br/>
                      <a:r>
                        <a:rPr sz="1200" b="1">
                          <a:solidFill>
                            <a:srgbClr val="FFFFFF"/>
                          </a:solidFill>
                        </a:rPr>
                        <a:t>(3rd party)</a:t>
                      </a:r>
                    </a:p>
                  </a:txBody>
                  <a:tcPr marT="25400" marB="25400" anchor="ctr">
                    <a:solidFill>
                      <a:srgbClr val="0F113C"/>
                    </a:solidFill>
                  </a:tcPr>
                </a:tc>
                <a:tc>
                  <a:txBody>
                    <a:bodyPr wrap="square"/>
                    <a:lstStyle/>
                    <a:p>
                      <a:pPr algn="ctr"/>
                      <a:r>
                        <a:rPr sz="1200" b="1">
                          <a:solidFill>
                            <a:srgbClr val="FFFFFF"/>
                          </a:solidFill>
                        </a:rPr>
                        <a:t>Grid-Only</a:t>
                      </a:r>
                      <a:br/>
                      <a:r>
                        <a:rPr sz="1200" b="1">
                          <a:solidFill>
                            <a:srgbClr val="FFFFFF"/>
                          </a:solidFill>
                        </a:rPr>
                        <a:t>(Xcel)</a:t>
                      </a:r>
                    </a:p>
                  </a:txBody>
                  <a:tcPr marT="25400" marB="25400" anchor="ctr">
                    <a:solidFill>
                      <a:srgbClr val="0F113C"/>
                    </a:solidFill>
                  </a:tcPr>
                </a:tc>
              </a:tr>
              <a:tr h="525780">
                <a:tc>
                  <a:txBody>
                    <a:bodyPr wrap="square"/>
                    <a:lstStyle/>
                    <a:p>
                      <a:pPr algn="l"/>
                      <a:r>
                        <a:rPr sz="1200" b="0">
                          <a:solidFill>
                            <a:srgbClr val="292934"/>
                          </a:solidFill>
                        </a:rPr>
                        <a:t>Control &amp; Decision-Making</a:t>
                      </a:r>
                    </a:p>
                  </a:txBody>
                  <a:tcPr marT="25400" marB="25400" anchor="ctr">
                    <a:solidFill>
                      <a:srgbClr val="F3F2DC"/>
                    </a:solidFill>
                  </a:tcPr>
                </a:tc>
                <a:tc>
                  <a:txBody>
                    <a:bodyPr wrap="square"/>
                    <a:lstStyle/>
                    <a:p>
                      <a:pPr algn="ctr"/>
                      <a:r>
                        <a:rPr sz="1200" b="0">
                          <a:solidFill>
                            <a:srgbClr val="292934"/>
                          </a:solidFill>
                        </a:rPr>
                        <a:t>20%</a:t>
                      </a:r>
                    </a:p>
                  </a:txBody>
                  <a:tcPr marT="25400" marB="25400" anchor="ctr">
                    <a:solidFill>
                      <a:srgbClr val="F3F2DC"/>
                    </a:solidFill>
                  </a:tcPr>
                </a:tc>
                <a:tc>
                  <a:txBody>
                    <a:bodyPr wrap="square"/>
                    <a:lstStyle/>
                    <a:p>
                      <a:pPr algn="ctr"/>
                      <a:r>
                        <a:rPr sz="1200" b="0">
                          <a:solidFill>
                            <a:srgbClr val="292934"/>
                          </a:solidFill>
                        </a:rPr>
                        <a:t>5</a:t>
                      </a:r>
                    </a:p>
                  </a:txBody>
                  <a:tcPr marT="25400" marB="25400" anchor="ctr">
                    <a:solidFill>
                      <a:srgbClr val="F3F2DC"/>
                    </a:solidFill>
                  </a:tcPr>
                </a:tc>
                <a:tc>
                  <a:txBody>
                    <a:bodyPr wrap="square"/>
                    <a:lstStyle/>
                    <a:p>
                      <a:pPr algn="ctr"/>
                      <a:r>
                        <a:rPr sz="1200" b="0">
                          <a:solidFill>
                            <a:srgbClr val="292934"/>
                          </a:solidFill>
                        </a:rPr>
                        <a:t>2</a:t>
                      </a:r>
                    </a:p>
                  </a:txBody>
                  <a:tcPr marT="25400" marB="25400" anchor="ctr">
                    <a:solidFill>
                      <a:srgbClr val="F3F2DC"/>
                    </a:solidFill>
                  </a:tcPr>
                </a:tc>
                <a:tc>
                  <a:txBody>
                    <a:bodyPr wrap="square"/>
                    <a:lstStyle/>
                    <a:p>
                      <a:pPr algn="ctr"/>
                      <a:r>
                        <a:rPr sz="1200" b="0">
                          <a:solidFill>
                            <a:srgbClr val="292934"/>
                          </a:solidFill>
                        </a:rPr>
                        <a:t>1</a:t>
                      </a:r>
                    </a:p>
                  </a:txBody>
                  <a:tcPr marT="25400" marB="25400" anchor="ctr">
                    <a:solidFill>
                      <a:srgbClr val="F3F2DC"/>
                    </a:solidFill>
                  </a:tcPr>
                </a:tc>
              </a:tr>
              <a:tr h="525780">
                <a:tc>
                  <a:txBody>
                    <a:bodyPr wrap="square"/>
                    <a:lstStyle/>
                    <a:p>
                      <a:pPr algn="l"/>
                      <a:r>
                        <a:rPr sz="1200" b="0">
                          <a:solidFill>
                            <a:srgbClr val="292934"/>
                          </a:solidFill>
                        </a:rPr>
                        <a:t>Delivery Timeline / Schedule Certainty</a:t>
                      </a:r>
                    </a:p>
                  </a:txBody>
                  <a:tcPr marT="25400" marB="25400" anchor="ctr">
                    <a:solidFill>
                      <a:srgbClr val="FFFFFF"/>
                    </a:solidFill>
                  </a:tcPr>
                </a:tc>
                <a:tc>
                  <a:txBody>
                    <a:bodyPr wrap="square"/>
                    <a:lstStyle/>
                    <a:p>
                      <a:pPr algn="ctr"/>
                      <a:r>
                        <a:rPr sz="1200" b="0">
                          <a:solidFill>
                            <a:srgbClr val="292934"/>
                          </a:solidFill>
                        </a:rPr>
                        <a:t>20%</a:t>
                      </a:r>
                    </a:p>
                  </a:txBody>
                  <a:tcPr marT="25400" marB="25400" anchor="ctr">
                    <a:solidFill>
                      <a:srgbClr val="FFFFFF"/>
                    </a:solidFill>
                  </a:tcPr>
                </a:tc>
                <a:tc>
                  <a:txBody>
                    <a:bodyPr wrap="square"/>
                    <a:lstStyle/>
                    <a:p>
                      <a:pPr algn="ctr"/>
                      <a:r>
                        <a:rPr sz="1200" b="0">
                          <a:solidFill>
                            <a:srgbClr val="292934"/>
                          </a:solidFill>
                        </a:rPr>
                        <a:t>5</a:t>
                      </a:r>
                    </a:p>
                  </a:txBody>
                  <a:tcPr marT="25400" marB="25400" anchor="ctr">
                    <a:solidFill>
                      <a:srgbClr val="FFFFFF"/>
                    </a:solidFill>
                  </a:tcPr>
                </a:tc>
                <a:tc>
                  <a:txBody>
                    <a:bodyPr wrap="square"/>
                    <a:lstStyle/>
                    <a:p>
                      <a:pPr algn="ctr"/>
                      <a:r>
                        <a:rPr sz="1200" b="0">
                          <a:solidFill>
                            <a:srgbClr val="292934"/>
                          </a:solidFill>
                        </a:rPr>
                        <a:t>2</a:t>
                      </a:r>
                    </a:p>
                  </a:txBody>
                  <a:tcPr marT="25400" marB="25400" anchor="ctr">
                    <a:solidFill>
                      <a:srgbClr val="FFFFFF"/>
                    </a:solidFill>
                  </a:tcPr>
                </a:tc>
                <a:tc>
                  <a:txBody>
                    <a:bodyPr wrap="square"/>
                    <a:lstStyle/>
                    <a:p>
                      <a:pPr algn="ctr"/>
                      <a:r>
                        <a:rPr sz="1200" b="0">
                          <a:solidFill>
                            <a:srgbClr val="292934"/>
                          </a:solidFill>
                        </a:rPr>
                        <a:t>1</a:t>
                      </a:r>
                    </a:p>
                  </a:txBody>
                  <a:tcPr marT="25400" marB="25400" anchor="ctr">
                    <a:solidFill>
                      <a:srgbClr val="FFFFFF"/>
                    </a:solidFill>
                  </a:tcPr>
                </a:tc>
              </a:tr>
              <a:tr h="525780">
                <a:tc>
                  <a:txBody>
                    <a:bodyPr wrap="square"/>
                    <a:lstStyle/>
                    <a:p>
                      <a:pPr algn="l"/>
                      <a:r>
                        <a:rPr sz="1200" b="0">
                          <a:solidFill>
                            <a:srgbClr val="292934"/>
                          </a:solidFill>
                        </a:rPr>
                        <a:t>Reliability &amp; Risk</a:t>
                      </a:r>
                    </a:p>
                  </a:txBody>
                  <a:tcPr marT="25400" marB="25400" anchor="ctr">
                    <a:solidFill>
                      <a:srgbClr val="F3F2DC"/>
                    </a:solidFill>
                  </a:tcPr>
                </a:tc>
                <a:tc>
                  <a:txBody>
                    <a:bodyPr wrap="square"/>
                    <a:lstStyle/>
                    <a:p>
                      <a:pPr algn="ctr"/>
                      <a:r>
                        <a:rPr sz="1200" b="0">
                          <a:solidFill>
                            <a:srgbClr val="292934"/>
                          </a:solidFill>
                        </a:rPr>
                        <a:t>20%</a:t>
                      </a:r>
                    </a:p>
                  </a:txBody>
                  <a:tcPr marT="25400" marB="25400" anchor="ctr">
                    <a:solidFill>
                      <a:srgbClr val="F3F2DC"/>
                    </a:solidFill>
                  </a:tcPr>
                </a:tc>
                <a:tc>
                  <a:txBody>
                    <a:bodyPr wrap="square"/>
                    <a:lstStyle/>
                    <a:p>
                      <a:pPr algn="ctr"/>
                      <a:r>
                        <a:rPr sz="1200" b="0">
                          <a:solidFill>
                            <a:srgbClr val="292934"/>
                          </a:solidFill>
                        </a:rPr>
                        <a:t>5</a:t>
                      </a:r>
                    </a:p>
                  </a:txBody>
                  <a:tcPr marT="25400" marB="25400" anchor="ctr">
                    <a:solidFill>
                      <a:srgbClr val="F3F2DC"/>
                    </a:solidFill>
                  </a:tcPr>
                </a:tc>
                <a:tc>
                  <a:txBody>
                    <a:bodyPr wrap="square"/>
                    <a:lstStyle/>
                    <a:p>
                      <a:pPr algn="ctr"/>
                      <a:r>
                        <a:rPr sz="1200" b="0">
                          <a:solidFill>
                            <a:srgbClr val="292934"/>
                          </a:solidFill>
                        </a:rPr>
                        <a:t>3</a:t>
                      </a:r>
                    </a:p>
                  </a:txBody>
                  <a:tcPr marT="25400" marB="25400" anchor="ctr">
                    <a:solidFill>
                      <a:srgbClr val="F3F2DC"/>
                    </a:solidFill>
                  </a:tcPr>
                </a:tc>
                <a:tc>
                  <a:txBody>
                    <a:bodyPr wrap="square"/>
                    <a:lstStyle/>
                    <a:p>
                      <a:pPr algn="ctr"/>
                      <a:r>
                        <a:rPr sz="1200" b="0">
                          <a:solidFill>
                            <a:srgbClr val="292934"/>
                          </a:solidFill>
                        </a:rPr>
                        <a:t>2</a:t>
                      </a:r>
                    </a:p>
                  </a:txBody>
                  <a:tcPr marT="25400" marB="25400" anchor="ctr">
                    <a:solidFill>
                      <a:srgbClr val="F3F2DC"/>
                    </a:solidFill>
                  </a:tcPr>
                </a:tc>
              </a:tr>
              <a:tr h="525780">
                <a:tc>
                  <a:txBody>
                    <a:bodyPr wrap="square"/>
                    <a:lstStyle/>
                    <a:p>
                      <a:pPr algn="l"/>
                      <a:r>
                        <a:rPr sz="1200" b="0">
                          <a:solidFill>
                            <a:srgbClr val="292934"/>
                          </a:solidFill>
                        </a:rPr>
                        <a:t>Utility Cost Control</a:t>
                      </a:r>
                    </a:p>
                  </a:txBody>
                  <a:tcPr marT="25400" marB="25400" anchor="ctr">
                    <a:solidFill>
                      <a:srgbClr val="FFFFFF"/>
                    </a:solidFill>
                  </a:tcPr>
                </a:tc>
                <a:tc>
                  <a:txBody>
                    <a:bodyPr wrap="square"/>
                    <a:lstStyle/>
                    <a:p>
                      <a:pPr algn="ctr"/>
                      <a:r>
                        <a:rPr sz="1200" b="0">
                          <a:solidFill>
                            <a:srgbClr val="292934"/>
                          </a:solidFill>
                        </a:rPr>
                        <a:t>15%</a:t>
                      </a:r>
                    </a:p>
                  </a:txBody>
                  <a:tcPr marT="25400" marB="25400" anchor="ctr">
                    <a:solidFill>
                      <a:srgbClr val="FFFFFF"/>
                    </a:solidFill>
                  </a:tcPr>
                </a:tc>
                <a:tc>
                  <a:txBody>
                    <a:bodyPr wrap="square"/>
                    <a:lstStyle/>
                    <a:p>
                      <a:pPr algn="ctr"/>
                      <a:r>
                        <a:rPr sz="1200" b="0">
                          <a:solidFill>
                            <a:srgbClr val="292934"/>
                          </a:solidFill>
                        </a:rPr>
                        <a:t>5</a:t>
                      </a:r>
                    </a:p>
                  </a:txBody>
                  <a:tcPr marT="25400" marB="25400" anchor="ctr">
                    <a:solidFill>
                      <a:srgbClr val="FFFFFF"/>
                    </a:solidFill>
                  </a:tcPr>
                </a:tc>
                <a:tc>
                  <a:txBody>
                    <a:bodyPr wrap="square"/>
                    <a:lstStyle/>
                    <a:p>
                      <a:pPr algn="ctr"/>
                      <a:r>
                        <a:rPr sz="1200" b="0">
                          <a:solidFill>
                            <a:srgbClr val="292934"/>
                          </a:solidFill>
                        </a:rPr>
                        <a:t>2</a:t>
                      </a:r>
                    </a:p>
                  </a:txBody>
                  <a:tcPr marT="25400" marB="25400" anchor="ctr">
                    <a:solidFill>
                      <a:srgbClr val="FFFFFF"/>
                    </a:solidFill>
                  </a:tcPr>
                </a:tc>
                <a:tc>
                  <a:txBody>
                    <a:bodyPr wrap="square"/>
                    <a:lstStyle/>
                    <a:p>
                      <a:pPr algn="ctr"/>
                      <a:r>
                        <a:rPr sz="1200" b="0">
                          <a:solidFill>
                            <a:srgbClr val="292934"/>
                          </a:solidFill>
                        </a:rPr>
                        <a:t>2</a:t>
                      </a:r>
                    </a:p>
                  </a:txBody>
                  <a:tcPr marT="25400" marB="25400" anchor="ctr">
                    <a:solidFill>
                      <a:srgbClr val="FFFFFF"/>
                    </a:solidFill>
                  </a:tcPr>
                </a:tc>
              </a:tr>
              <a:tr h="525780">
                <a:tc>
                  <a:txBody>
                    <a:bodyPr wrap="square"/>
                    <a:lstStyle/>
                    <a:p>
                      <a:pPr algn="l"/>
                      <a:r>
                        <a:rPr sz="1200" b="0">
                          <a:solidFill>
                            <a:srgbClr val="292934"/>
                          </a:solidFill>
                        </a:rPr>
                        <a:t>Capital / Time Value of Money</a:t>
                      </a:r>
                    </a:p>
                  </a:txBody>
                  <a:tcPr marT="25400" marB="25400" anchor="ctr">
                    <a:solidFill>
                      <a:srgbClr val="F3F2DC"/>
                    </a:solidFill>
                  </a:tcPr>
                </a:tc>
                <a:tc>
                  <a:txBody>
                    <a:bodyPr wrap="square"/>
                    <a:lstStyle/>
                    <a:p>
                      <a:pPr algn="ctr"/>
                      <a:r>
                        <a:rPr sz="1200" b="0">
                          <a:solidFill>
                            <a:srgbClr val="292934"/>
                          </a:solidFill>
                        </a:rPr>
                        <a:t>15%</a:t>
                      </a:r>
                    </a:p>
                  </a:txBody>
                  <a:tcPr marT="25400" marB="25400" anchor="ctr">
                    <a:solidFill>
                      <a:srgbClr val="F3F2DC"/>
                    </a:solidFill>
                  </a:tcPr>
                </a:tc>
                <a:tc>
                  <a:txBody>
                    <a:bodyPr wrap="square"/>
                    <a:lstStyle/>
                    <a:p>
                      <a:pPr algn="ctr"/>
                      <a:r>
                        <a:rPr sz="1200" b="0">
                          <a:solidFill>
                            <a:srgbClr val="292934"/>
                          </a:solidFill>
                        </a:rPr>
                        <a:t>2</a:t>
                      </a:r>
                    </a:p>
                  </a:txBody>
                  <a:tcPr marT="25400" marB="25400" anchor="ctr">
                    <a:solidFill>
                      <a:srgbClr val="F3F2DC"/>
                    </a:solidFill>
                  </a:tcPr>
                </a:tc>
                <a:tc>
                  <a:txBody>
                    <a:bodyPr wrap="square"/>
                    <a:lstStyle/>
                    <a:p>
                      <a:pPr algn="ctr"/>
                      <a:r>
                        <a:rPr sz="1200" b="0">
                          <a:solidFill>
                            <a:srgbClr val="292934"/>
                          </a:solidFill>
                        </a:rPr>
                        <a:t>4</a:t>
                      </a:r>
                    </a:p>
                  </a:txBody>
                  <a:tcPr marT="25400" marB="25400" anchor="ctr">
                    <a:solidFill>
                      <a:srgbClr val="F3F2DC"/>
                    </a:solidFill>
                  </a:tcPr>
                </a:tc>
                <a:tc>
                  <a:txBody>
                    <a:bodyPr wrap="square"/>
                    <a:lstStyle/>
                    <a:p>
                      <a:pPr algn="ctr"/>
                      <a:r>
                        <a:rPr sz="1200" b="0">
                          <a:solidFill>
                            <a:srgbClr val="292934"/>
                          </a:solidFill>
                        </a:rPr>
                        <a:t>5</a:t>
                      </a:r>
                    </a:p>
                  </a:txBody>
                  <a:tcPr marT="25400" marB="25400" anchor="ctr">
                    <a:solidFill>
                      <a:srgbClr val="F3F2DC"/>
                    </a:solidFill>
                  </a:tcPr>
                </a:tc>
              </a:tr>
              <a:tr h="525780">
                <a:tc>
                  <a:txBody>
                    <a:bodyPr wrap="square"/>
                    <a:lstStyle/>
                    <a:p>
                      <a:pPr algn="l"/>
                      <a:r>
                        <a:rPr sz="1200" b="0">
                          <a:solidFill>
                            <a:srgbClr val="292934"/>
                          </a:solidFill>
                        </a:rPr>
                        <a:t>Long-Term Economic Payback (thermal)</a:t>
                      </a:r>
                    </a:p>
                  </a:txBody>
                  <a:tcPr marT="25400" marB="25400" anchor="ctr">
                    <a:solidFill>
                      <a:srgbClr val="FFFFFF"/>
                    </a:solidFill>
                  </a:tcPr>
                </a:tc>
                <a:tc>
                  <a:txBody>
                    <a:bodyPr wrap="square"/>
                    <a:lstStyle/>
                    <a:p>
                      <a:pPr algn="ctr"/>
                      <a:r>
                        <a:rPr sz="1200" b="0">
                          <a:solidFill>
                            <a:srgbClr val="292934"/>
                          </a:solidFill>
                        </a:rPr>
                        <a:t>10%</a:t>
                      </a:r>
                    </a:p>
                  </a:txBody>
                  <a:tcPr marT="25400" marB="25400" anchor="ctr">
                    <a:solidFill>
                      <a:srgbClr val="FFFFFF"/>
                    </a:solidFill>
                  </a:tcPr>
                </a:tc>
                <a:tc>
                  <a:txBody>
                    <a:bodyPr wrap="square"/>
                    <a:lstStyle/>
                    <a:p>
                      <a:pPr algn="ctr"/>
                      <a:r>
                        <a:rPr sz="1200" b="0">
                          <a:solidFill>
                            <a:srgbClr val="292934"/>
                          </a:solidFill>
                        </a:rPr>
                        <a:t>5</a:t>
                      </a:r>
                    </a:p>
                  </a:txBody>
                  <a:tcPr marT="25400" marB="25400" anchor="ctr">
                    <a:solidFill>
                      <a:srgbClr val="FFFFFF"/>
                    </a:solidFill>
                  </a:tcPr>
                </a:tc>
                <a:tc>
                  <a:txBody>
                    <a:bodyPr wrap="square"/>
                    <a:lstStyle/>
                    <a:p>
                      <a:pPr algn="ctr"/>
                      <a:r>
                        <a:rPr sz="1200" b="0">
                          <a:solidFill>
                            <a:srgbClr val="292934"/>
                          </a:solidFill>
                        </a:rPr>
                        <a:t>3</a:t>
                      </a:r>
                    </a:p>
                  </a:txBody>
                  <a:tcPr marT="25400" marB="25400" anchor="ctr">
                    <a:solidFill>
                      <a:srgbClr val="FFFFFF"/>
                    </a:solidFill>
                  </a:tcPr>
                </a:tc>
                <a:tc>
                  <a:txBody>
                    <a:bodyPr wrap="square"/>
                    <a:lstStyle/>
                    <a:p>
                      <a:pPr algn="ctr"/>
                      <a:r>
                        <a:rPr sz="1200" b="0">
                          <a:solidFill>
                            <a:srgbClr val="292934"/>
                          </a:solidFill>
                        </a:rPr>
                        <a:t>1</a:t>
                      </a:r>
                    </a:p>
                  </a:txBody>
                  <a:tcPr marT="25400" marB="25400" anchor="ctr">
                    <a:solidFill>
                      <a:srgbClr val="FFFFFF"/>
                    </a:solidFill>
                  </a:tcPr>
                </a:tc>
              </a:tr>
              <a:tr h="525780">
                <a:tc>
                  <a:txBody>
                    <a:bodyPr wrap="square"/>
                    <a:lstStyle/>
                    <a:p>
                      <a:pPr algn="l"/>
                      <a:r>
                        <a:rPr sz="1200" b="1">
                          <a:solidFill>
                            <a:srgbClr val="FFFFFF"/>
                          </a:solidFill>
                        </a:rPr>
                        <a:t>WEIGHTED SCORE  (1–5, higher = better)</a:t>
                      </a:r>
                    </a:p>
                  </a:txBody>
                  <a:tcPr marT="25400" marB="25400" anchor="ctr">
                    <a:solidFill>
                      <a:srgbClr val="AA2226"/>
                    </a:solidFill>
                  </a:tcPr>
                </a:tc>
                <a:tc>
                  <a:txBody>
                    <a:bodyPr wrap="square"/>
                    <a:lstStyle/>
                    <a:p>
                      <a:pPr algn="ctr"/>
                      <a:r>
                        <a:rPr sz="1200" b="1">
                          <a:solidFill>
                            <a:srgbClr val="FFFFFF"/>
                          </a:solidFill>
                        </a:rPr>
                        <a:t>100%</a:t>
                      </a:r>
                    </a:p>
                  </a:txBody>
                  <a:tcPr marT="25400" marB="25400" anchor="ctr">
                    <a:solidFill>
                      <a:srgbClr val="AA2226"/>
                    </a:solidFill>
                  </a:tcPr>
                </a:tc>
                <a:tc>
                  <a:txBody>
                    <a:bodyPr wrap="square"/>
                    <a:lstStyle/>
                    <a:p>
                      <a:pPr algn="ctr"/>
                      <a:r>
                        <a:rPr sz="1200" b="1">
                          <a:solidFill>
                            <a:srgbClr val="FFFFFF"/>
                          </a:solidFill>
                        </a:rPr>
                        <a:t>4.55</a:t>
                      </a:r>
                    </a:p>
                  </a:txBody>
                  <a:tcPr marT="25400" marB="25400" anchor="ctr">
                    <a:solidFill>
                      <a:srgbClr val="AA2226"/>
                    </a:solidFill>
                  </a:tcPr>
                </a:tc>
                <a:tc>
                  <a:txBody>
                    <a:bodyPr wrap="square"/>
                    <a:lstStyle/>
                    <a:p>
                      <a:pPr algn="ctr"/>
                      <a:r>
                        <a:rPr sz="1200" b="1">
                          <a:solidFill>
                            <a:srgbClr val="FFFFFF"/>
                          </a:solidFill>
                        </a:rPr>
                        <a:t>2.60</a:t>
                      </a:r>
                    </a:p>
                  </a:txBody>
                  <a:tcPr marT="25400" marB="25400" anchor="ctr">
                    <a:solidFill>
                      <a:srgbClr val="AA2226"/>
                    </a:solidFill>
                  </a:tcPr>
                </a:tc>
                <a:tc>
                  <a:txBody>
                    <a:bodyPr wrap="square"/>
                    <a:lstStyle/>
                    <a:p>
                      <a:pPr algn="ctr"/>
                      <a:r>
                        <a:rPr sz="1200" b="1">
                          <a:solidFill>
                            <a:srgbClr val="FFFFFF"/>
                          </a:solidFill>
                        </a:rPr>
                        <a:t>1.95</a:t>
                      </a:r>
                    </a:p>
                  </a:txBody>
                  <a:tcPr marT="25400" marB="25400" anchor="ctr">
                    <a:solidFill>
                      <a:srgbClr val="AA2226"/>
                    </a:solidFill>
                  </a:tcPr>
                </a:tc>
              </a:tr>
            </a:tbl>
          </a:graphicData>
        </a:graphic>
      </p:graphicFrame>
      <p:sp>
        <p:nvSpPr>
          <p:cNvPr id="5" name="TextBox 4"/>
          <p:cNvSpPr txBox="1"/>
          <p:nvPr/>
        </p:nvSpPr>
        <p:spPr>
          <a:xfrm>
            <a:off x="457200" y="5806440"/>
            <a:ext cx="11247120" cy="548640"/>
          </a:xfrm>
          <a:prstGeom prst="rect">
            <a:avLst/>
          </a:prstGeom>
          <a:noFill/>
        </p:spPr>
        <p:txBody>
          <a:bodyPr wrap="square">
            <a:spAutoFit/>
          </a:bodyPr>
          <a:lstStyle/>
          <a:p>
            <a:r>
              <a:rPr sz="1300" b="1">
                <a:solidFill>
                  <a:srgbClr val="0F113C"/>
                </a:solidFill>
              </a:rPr>
              <a:t>▶ Recommend: USGPD develops, owns &amp; operates the CUP (Mammoth Hill) (weighted 4.55/5.0). Include the CUP as part of the overall Casino project.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Custom for Pres 1">
      <a:dk1>
        <a:srgbClr val="292934"/>
      </a:dk1>
      <a:lt1>
        <a:srgbClr val="FFFFFF"/>
      </a:lt1>
      <a:dk2>
        <a:srgbClr val="3B3B4B"/>
      </a:dk2>
      <a:lt2>
        <a:srgbClr val="F3F2DC"/>
      </a:lt2>
      <a:accent1>
        <a:srgbClr val="0F113C"/>
      </a:accent1>
      <a:accent2>
        <a:srgbClr val="AA2226"/>
      </a:accent2>
      <a:accent3>
        <a:srgbClr val="814747"/>
      </a:accent3>
      <a:accent4>
        <a:srgbClr val="1D3A18"/>
      </a:accent4>
      <a:accent5>
        <a:srgbClr val="808DA0"/>
      </a:accent5>
      <a:accent6>
        <a:srgbClr val="C60000"/>
      </a:accent6>
      <a:hlink>
        <a:srgbClr val="0D3B97"/>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3000" b="1" dirty="0" smtClean="0">
            <a:solidFill>
              <a:schemeClr val="bg1"/>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348403F942BFA48A2FACB706BB5AC36" ma:contentTypeVersion="18" ma:contentTypeDescription="Create a new document." ma:contentTypeScope="" ma:versionID="9ef2eeb5ba4f0a6ea57c34aa11982122">
  <xsd:schema xmlns:xsd="http://www.w3.org/2001/XMLSchema" xmlns:xs="http://www.w3.org/2001/XMLSchema" xmlns:p="http://schemas.microsoft.com/office/2006/metadata/properties" xmlns:ns2="6da79504-3b38-4dc1-99b2-1c8e24983edd" xmlns:ns3="95e74e6a-7931-4d76-8cfd-fd6de9f4133c" targetNamespace="http://schemas.microsoft.com/office/2006/metadata/properties" ma:root="true" ma:fieldsID="d719a4c56fb14cf680d40c913e29e811" ns2:_="" ns3:_="">
    <xsd:import namespace="6da79504-3b38-4dc1-99b2-1c8e24983edd"/>
    <xsd:import namespace="95e74e6a-7931-4d76-8cfd-fd6de9f4133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2:MediaServiceLocation" minOccurs="0"/>
                <xsd:element ref="ns2:lcf76f155ced4ddcb4097134ff3c332f" minOccurs="0"/>
                <xsd:element ref="ns3:TaxCatchAll"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a79504-3b38-4dc1-99b2-1c8e24983e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b204247-93f4-49f1-9b5f-bf0a18c64e6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5e74e6a-7931-4d76-8cfd-fd6de9f4133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806a0985-fbe2-4e94-8ecc-e0d6e04544d4}" ma:internalName="TaxCatchAll" ma:showField="CatchAllData" ma:web="95e74e6a-7931-4d76-8cfd-fd6de9f4133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95e74e6a-7931-4d76-8cfd-fd6de9f4133c">
      <UserInfo>
        <DisplayName>Brandon Standifird</DisplayName>
        <AccountId>18</AccountId>
        <AccountType/>
      </UserInfo>
      <UserInfo>
        <DisplayName>Jared Christianson</DisplayName>
        <AccountId>12</AccountId>
        <AccountType/>
      </UserInfo>
      <UserInfo>
        <DisplayName>Bobby Davis</DisplayName>
        <AccountId>15</AccountId>
        <AccountType/>
      </UserInfo>
      <UserInfo>
        <DisplayName>Morgan Spears</DisplayName>
        <AccountId>16</AccountId>
        <AccountType/>
      </UserInfo>
      <UserInfo>
        <DisplayName>Todd Witmer</DisplayName>
        <AccountId>23</AccountId>
        <AccountType/>
      </UserInfo>
    </SharedWithUsers>
    <lcf76f155ced4ddcb4097134ff3c332f xmlns="6da79504-3b38-4dc1-99b2-1c8e24983edd">
      <Terms xmlns="http://schemas.microsoft.com/office/infopath/2007/PartnerControls"/>
    </lcf76f155ced4ddcb4097134ff3c332f>
    <TaxCatchAll xmlns="95e74e6a-7931-4d76-8cfd-fd6de9f4133c"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64FDF84-27E3-4B13-B3F5-B8F9E44FF7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a79504-3b38-4dc1-99b2-1c8e24983edd"/>
    <ds:schemaRef ds:uri="95e74e6a-7931-4d76-8cfd-fd6de9f4133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8D34B58-9E4A-4E03-B6E9-69480D87DB41}">
  <ds:schemaRefs>
    <ds:schemaRef ds:uri="6da79504-3b38-4dc1-99b2-1c8e24983edd"/>
    <ds:schemaRef ds:uri="95e74e6a-7931-4d76-8cfd-fd6de9f4133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4EDDFDD-9110-4277-A6A7-0BEA15A8D7F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56</TotalTime>
  <Words>469</Words>
  <Application>Microsoft Office PowerPoint</Application>
  <PresentationFormat>Widescreen</PresentationFormat>
  <Paragraphs>136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Wingdings</vt:lpstr>
      <vt:lpstr>Office Theme</vt:lpstr>
      <vt:lpstr>PowerPoint Presentation</vt:lpstr>
      <vt:lpstr>PowerPoint Presentation</vt:lpstr>
      <vt:lpstr>PowerPoint Presentation</vt:lpstr>
      <vt:lpstr>PowerPoint Presentation</vt:lpstr>
      <vt:lpstr>% CWI</vt:lpstr>
      <vt:lpstr>% CWI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Nick DiLeo</dc:creator>
  <cp:lastModifiedBy>Rohit Gupta</cp:lastModifiedBy>
  <cp:revision>5</cp:revision>
  <cp:lastPrinted>2022-02-10T20:30:28Z</cp:lastPrinted>
  <dcterms:created xsi:type="dcterms:W3CDTF">2018-09-13T20:55:24Z</dcterms:created>
  <dcterms:modified xsi:type="dcterms:W3CDTF">2026-06-23T15:35:54Z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0x0101005348403F942BFA48A2FACB706BB5AC36</vt:lpwstr>
  </property>
  <property fmtid="{D5CDD505-2E9C-101B-9397-08002B2CF9AE}" pid="3" name="AuthorIds_UIVersion_1024">
    <vt:lpwstr>13</vt:lpwstr>
  </property>
  <property fmtid="{D5CDD505-2E9C-101B-9397-08002B2CF9AE}" pid="4" name="AuthorIds_UIVersion_2048">
    <vt:lpwstr>13</vt:lpwstr>
  </property>
  <property fmtid="{D5CDD505-2E9C-101B-9397-08002B2CF9AE}" pid="5" name="MediaServiceImageTags">
    <vt:lpwstr/>
  </property>
</Properties>
</file>