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Default Extension="py" ContentType="text/x-python"/>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2"/>
  </p:notesMasterIdLst>
  <p:handoutMasterIdLst>
    <p:handoutMasterId r:id="rId13"/>
  </p:handoutMasterIdLst>
  <p:sldIdLst>
    <p:sldId id="256" r:id="rId11"/>
    <p:sldId id="257" r:id="rId10"/>
    <p:sldId id="258" r:id="rId9"/>
    <p:sldId id="259" r:id="rId8"/>
    <p:sldId id="260" r:id="rId7"/>
    <p:sldId id="261" r:id="rId6"/>
    <p:sldId id="262" r:id="rId5"/>
    <p:sldId id="263" r:id="rId20"/>
    <p:sldId id="264" r:id="rId21"/>
    <p:sldId id="265" r:id="rId22"/>
    <p:sldId id="266" r:id="rId23"/>
    <p:sldId id="267" r:id="rId24"/>
    <p:sldId id="268" r:id="rId25"/>
    <p:sldId id="269" r:id="rId26"/>
    <p:sldId id="270" r:id="rId27"/>
    <p:sldId id="271" r:id="rId28"/>
    <p:sldId id="272" r:id="rId29"/>
    <p:sldId id="273" r:id="rId30"/>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B513E8E-D741-6734-33BE-484CC60EF1AD}" name="Thi Dao" initials="TD" userId="S::tdao@USEDC.COM::9f99d11f-a059-4808-b8f8-ba18dbec2771"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obby Davis" initials="BD" lastIdx="2" clrIdx="0">
    <p:extLst>
      <p:ext uri="{19B8F6BF-5375-455C-9EA6-DF929625EA0E}">
        <p15:presenceInfo xmlns:p15="http://schemas.microsoft.com/office/powerpoint/2012/main" userId="S::bdavis@USEDC.COM::a4010fcb-01f1-4f84-ab5b-74f12dcfb21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4264A"/>
    <a:srgbClr val="02042E"/>
    <a:srgbClr val="0033CC"/>
    <a:srgbClr val="F99A95"/>
    <a:srgbClr val="97D9C7"/>
    <a:srgbClr val="F99893"/>
    <a:srgbClr val="96DACA"/>
    <a:srgbClr val="F99994"/>
    <a:srgbClr val="99BED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commentAuthors" Target="commentAuthors.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8/10/relationships/authors" Target="authors.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BC44B05-DC94-9351-EBDC-C94BE95D3B41}"/>
              </a:ext>
            </a:extLst>
          </p:cNvPr>
          <p:cNvSpPr>
            <a:spLocks noGrp="1"/>
          </p:cNvSpPr>
          <p:nvPr>
            <p:ph type="hdr" sz="quarter"/>
          </p:nvPr>
        </p:nvSpPr>
        <p:spPr>
          <a:xfrm>
            <a:off x="0" y="0"/>
            <a:ext cx="3170238" cy="481013"/>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31CFEA7-9C44-54FD-9771-B1F9B138D440}"/>
              </a:ext>
            </a:extLst>
          </p:cNvPr>
          <p:cNvSpPr>
            <a:spLocks noGrp="1"/>
          </p:cNvSpPr>
          <p:nvPr>
            <p:ph type="dt" sz="quarter" idx="1"/>
          </p:nvPr>
        </p:nvSpPr>
        <p:spPr>
          <a:xfrm>
            <a:off x="4143375" y="0"/>
            <a:ext cx="3170238" cy="481013"/>
          </a:xfrm>
          <a:prstGeom prst="rect">
            <a:avLst/>
          </a:prstGeom>
        </p:spPr>
        <p:txBody>
          <a:bodyPr vert="horz" lIns="91440" tIns="45720" rIns="91440" bIns="45720" rtlCol="0"/>
          <a:lstStyle>
            <a:lvl1pPr algn="r">
              <a:defRPr sz="1200"/>
            </a:lvl1pPr>
          </a:lstStyle>
          <a:p>
            <a:fld id="{F935CF70-0116-49ED-BFF7-4F13FE5C9DDA}" type="datetimeFigureOut">
              <a:rPr lang="en-US" smtClean="0"/>
              <a:t>6/23/2026</a:t>
            </a:fld>
            <a:endParaRPr lang="en-US"/>
          </a:p>
        </p:txBody>
      </p:sp>
      <p:sp>
        <p:nvSpPr>
          <p:cNvPr id="4" name="Footer Placeholder 3">
            <a:extLst>
              <a:ext uri="{FF2B5EF4-FFF2-40B4-BE49-F238E27FC236}">
                <a16:creationId xmlns:a16="http://schemas.microsoft.com/office/drawing/2014/main" id="{1C3CCE64-6E45-A9B3-EFD4-5DDBE7F5E46D}"/>
              </a:ext>
            </a:extLst>
          </p:cNvPr>
          <p:cNvSpPr>
            <a:spLocks noGrp="1"/>
          </p:cNvSpPr>
          <p:nvPr>
            <p:ph type="ftr" sz="quarter" idx="2"/>
          </p:nvPr>
        </p:nvSpPr>
        <p:spPr>
          <a:xfrm>
            <a:off x="0" y="9120188"/>
            <a:ext cx="3170238" cy="481012"/>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EBD3869-3547-BE86-68DD-4CF3742A8187}"/>
              </a:ext>
            </a:extLst>
          </p:cNvPr>
          <p:cNvSpPr>
            <a:spLocks noGrp="1"/>
          </p:cNvSpPr>
          <p:nvPr>
            <p:ph type="sldNum" sz="quarter" idx="3"/>
          </p:nvPr>
        </p:nvSpPr>
        <p:spPr>
          <a:xfrm>
            <a:off x="4143375" y="9120188"/>
            <a:ext cx="3170238" cy="481012"/>
          </a:xfrm>
          <a:prstGeom prst="rect">
            <a:avLst/>
          </a:prstGeom>
        </p:spPr>
        <p:txBody>
          <a:bodyPr vert="horz" lIns="91440" tIns="45720" rIns="91440" bIns="45720" rtlCol="0" anchor="b"/>
          <a:lstStyle>
            <a:lvl1pPr algn="r">
              <a:defRPr sz="1200"/>
            </a:lvl1pPr>
          </a:lstStyle>
          <a:p>
            <a:fld id="{B2824CD8-97C3-466A-867E-7221CA8D3480}" type="slidenum">
              <a:rPr lang="en-US" smtClean="0"/>
              <a:t>‹#›</a:t>
            </a:fld>
            <a:endParaRPr lang="en-US"/>
          </a:p>
        </p:txBody>
      </p:sp>
    </p:spTree>
    <p:extLst>
      <p:ext uri="{BB962C8B-B14F-4D97-AF65-F5344CB8AC3E}">
        <p14:creationId xmlns:p14="http://schemas.microsoft.com/office/powerpoint/2010/main" val="36576695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2"/>
            <a:ext cx="3169811" cy="481370"/>
          </a:xfrm>
          <a:prstGeom prst="rect">
            <a:avLst/>
          </a:prstGeom>
        </p:spPr>
        <p:txBody>
          <a:bodyPr vert="horz" lIns="94661" tIns="47332" rIns="94661" bIns="47332" rtlCol="0"/>
          <a:lstStyle>
            <a:lvl1pPr algn="l">
              <a:defRPr sz="1200"/>
            </a:lvl1pPr>
          </a:lstStyle>
          <a:p>
            <a:endParaRPr lang="en-US"/>
          </a:p>
        </p:txBody>
      </p:sp>
      <p:sp>
        <p:nvSpPr>
          <p:cNvPr id="3" name="Date Placeholder 2"/>
          <p:cNvSpPr>
            <a:spLocks noGrp="1"/>
          </p:cNvSpPr>
          <p:nvPr>
            <p:ph type="dt" idx="1"/>
          </p:nvPr>
        </p:nvSpPr>
        <p:spPr>
          <a:xfrm>
            <a:off x="4143737" y="2"/>
            <a:ext cx="3169811" cy="481370"/>
          </a:xfrm>
          <a:prstGeom prst="rect">
            <a:avLst/>
          </a:prstGeom>
        </p:spPr>
        <p:txBody>
          <a:bodyPr vert="horz" lIns="94661" tIns="47332" rIns="94661" bIns="47332" rtlCol="0"/>
          <a:lstStyle>
            <a:lvl1pPr algn="r">
              <a:defRPr sz="1200"/>
            </a:lvl1pPr>
          </a:lstStyle>
          <a:p>
            <a:fld id="{A4AB815F-8DAA-4665-A89B-B7EE364ED138}" type="datetimeFigureOut">
              <a:rPr lang="en-US" smtClean="0"/>
              <a:t>6/23/2026</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4661" tIns="47332" rIns="94661" bIns="47332" rtlCol="0" anchor="ctr"/>
          <a:lstStyle/>
          <a:p>
            <a:endParaRPr lang="en-US"/>
          </a:p>
        </p:txBody>
      </p:sp>
      <p:sp>
        <p:nvSpPr>
          <p:cNvPr id="5" name="Notes Placeholder 4"/>
          <p:cNvSpPr>
            <a:spLocks noGrp="1"/>
          </p:cNvSpPr>
          <p:nvPr>
            <p:ph type="body" sz="quarter" idx="3"/>
          </p:nvPr>
        </p:nvSpPr>
        <p:spPr>
          <a:xfrm>
            <a:off x="730861" y="4620498"/>
            <a:ext cx="5853483" cy="3780555"/>
          </a:xfrm>
          <a:prstGeom prst="rect">
            <a:avLst/>
          </a:prstGeom>
        </p:spPr>
        <p:txBody>
          <a:bodyPr vert="horz" lIns="94661" tIns="47332" rIns="94661" bIns="47332"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1" y="9119832"/>
            <a:ext cx="3169811" cy="481370"/>
          </a:xfrm>
          <a:prstGeom prst="rect">
            <a:avLst/>
          </a:prstGeom>
        </p:spPr>
        <p:txBody>
          <a:bodyPr vert="horz" lIns="94661" tIns="47332" rIns="94661" bIns="47332" rtlCol="0" anchor="b"/>
          <a:lstStyle>
            <a:lvl1pPr algn="l">
              <a:defRPr sz="1200"/>
            </a:lvl1pPr>
          </a:lstStyle>
          <a:p>
            <a:endParaRPr lang="en-US"/>
          </a:p>
        </p:txBody>
      </p:sp>
      <p:sp>
        <p:nvSpPr>
          <p:cNvPr id="7" name="Slide Number Placeholder 6"/>
          <p:cNvSpPr>
            <a:spLocks noGrp="1"/>
          </p:cNvSpPr>
          <p:nvPr>
            <p:ph type="sldNum" sz="quarter" idx="5"/>
          </p:nvPr>
        </p:nvSpPr>
        <p:spPr>
          <a:xfrm>
            <a:off x="4143737" y="9119832"/>
            <a:ext cx="3169811" cy="481370"/>
          </a:xfrm>
          <a:prstGeom prst="rect">
            <a:avLst/>
          </a:prstGeom>
        </p:spPr>
        <p:txBody>
          <a:bodyPr vert="horz" lIns="94661" tIns="47332" rIns="94661" bIns="47332" rtlCol="0" anchor="b"/>
          <a:lstStyle>
            <a:lvl1pPr algn="r">
              <a:defRPr sz="1200"/>
            </a:lvl1pPr>
          </a:lstStyle>
          <a:p>
            <a:fld id="{2CEDF81D-6627-4861-846D-D8A1C073AA34}" type="slidenum">
              <a:rPr lang="en-US" smtClean="0"/>
              <a:t>‹#›</a:t>
            </a:fld>
            <a:endParaRPr lang="en-US"/>
          </a:p>
        </p:txBody>
      </p:sp>
    </p:spTree>
    <p:extLst>
      <p:ext uri="{BB962C8B-B14F-4D97-AF65-F5344CB8AC3E}">
        <p14:creationId xmlns:p14="http://schemas.microsoft.com/office/powerpoint/2010/main" val="4250733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Co-Gen CUP presentation. Source memo: 'Goals and Timeline — USGPD as Developer and Operator of the Central Utility Plant', prepared by Bill Hibbard, 6/5/26, plus the Aaron Equipment Caterpillar CG170-16 quote.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embeds a runnable agent: deal_agent/agents/cogen_comparison_agent.py is also stored inside this .pptx package under /agent/. Run it for the live matrix:</a:t>
            </a:r>
          </a:p>
          <a:p>
            <a:r>
              <a:t>    python cogen_comparison_agent.py            # formatted table + recommendation</a:t>
            </a:r>
          </a:p>
          <a:p>
            <a:r>
              <a:t>    python cogen_comparison_agent.py --json     # machine-readable scoring matrix</a:t>
            </a:r>
          </a:p>
          <a:p>
            <a:r>
              <a:t>Criteria weights: Control 20, Timeline 20, Reliability 20, Cost Control 15, Capital 15, Thermal Payback 10. Scores are 1-5 from USGPD's goal perspective.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gif"/><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1.gi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Title Slide">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FCFA71E0-1472-D661-6132-D9743A2001AB}"/>
              </a:ext>
            </a:extLst>
          </p:cNvPr>
          <p:cNvGrpSpPr/>
          <p:nvPr userDrawn="1"/>
        </p:nvGrpSpPr>
        <p:grpSpPr>
          <a:xfrm>
            <a:off x="27778" y="-1161370"/>
            <a:ext cx="12164222" cy="8658722"/>
            <a:chOff x="27778" y="-1161370"/>
            <a:chExt cx="12164222" cy="8658722"/>
          </a:xfrm>
        </p:grpSpPr>
        <p:pic>
          <p:nvPicPr>
            <p:cNvPr id="26" name="Picture 25">
              <a:extLst>
                <a:ext uri="{FF2B5EF4-FFF2-40B4-BE49-F238E27FC236}">
                  <a16:creationId xmlns:a16="http://schemas.microsoft.com/office/drawing/2014/main" id="{4075C657-CEE8-66E9-32DD-312C83EF10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144000" y="6253534"/>
              <a:ext cx="2942306" cy="517005"/>
            </a:xfrm>
            <a:prstGeom prst="rect">
              <a:avLst/>
            </a:prstGeom>
          </p:spPr>
        </p:pic>
        <p:pic>
          <p:nvPicPr>
            <p:cNvPr id="12" name="Picture 11">
              <a:extLst>
                <a:ext uri="{FF2B5EF4-FFF2-40B4-BE49-F238E27FC236}">
                  <a16:creationId xmlns:a16="http://schemas.microsoft.com/office/drawing/2014/main" id="{1BC6C65B-2685-0953-1FD1-C1C9475BE6C7}"/>
                </a:ext>
              </a:extLst>
            </p:cNvPr>
            <p:cNvPicPr>
              <a:picLocks noChangeAspect="1"/>
            </p:cNvPicPr>
            <p:nvPr userDrawn="1"/>
          </p:nvPicPr>
          <p:blipFill rotWithShape="1">
            <a:blip r:embed="rId3">
              <a:duotone>
                <a:schemeClr val="accent1">
                  <a:shade val="45000"/>
                  <a:satMod val="135000"/>
                </a:schemeClr>
                <a:prstClr val="white"/>
              </a:duotone>
              <a:extLst>
                <a:ext uri="{28A0092B-C50C-407E-A947-70E740481C1C}">
                  <a14:useLocalDpi xmlns:a14="http://schemas.microsoft.com/office/drawing/2010/main" val="0"/>
                </a:ext>
              </a:extLst>
            </a:blip>
            <a:srcRect/>
            <a:stretch/>
          </p:blipFill>
          <p:spPr>
            <a:xfrm>
              <a:off x="6061145" y="519137"/>
              <a:ext cx="6096000" cy="3841422"/>
            </a:xfrm>
            <a:prstGeom prst="rect">
              <a:avLst/>
            </a:prstGeom>
            <a:ln w="28575">
              <a:solidFill>
                <a:schemeClr val="bg1"/>
              </a:solidFill>
            </a:ln>
          </p:spPr>
        </p:pic>
        <p:sp>
          <p:nvSpPr>
            <p:cNvPr id="28" name="Rectangle 20">
              <a:extLst>
                <a:ext uri="{FF2B5EF4-FFF2-40B4-BE49-F238E27FC236}">
                  <a16:creationId xmlns:a16="http://schemas.microsoft.com/office/drawing/2014/main" id="{E9364D65-66E9-BB8E-498E-957C6555F43B}"/>
                </a:ext>
              </a:extLst>
            </p:cNvPr>
            <p:cNvSpPr/>
            <p:nvPr userDrawn="1"/>
          </p:nvSpPr>
          <p:spPr>
            <a:xfrm rot="17967265">
              <a:off x="1012584" y="1840075"/>
              <a:ext cx="8658722" cy="2655832"/>
            </a:xfrm>
            <a:custGeom>
              <a:avLst/>
              <a:gdLst>
                <a:gd name="connsiteX0" fmla="*/ 0 w 8658722"/>
                <a:gd name="connsiteY0" fmla="*/ 0 h 2653396"/>
                <a:gd name="connsiteX1" fmla="*/ 8658722 w 8658722"/>
                <a:gd name="connsiteY1" fmla="*/ 0 h 2653396"/>
                <a:gd name="connsiteX2" fmla="*/ 8658722 w 8658722"/>
                <a:gd name="connsiteY2" fmla="*/ 2653396 h 2653396"/>
                <a:gd name="connsiteX3" fmla="*/ 0 w 8658722"/>
                <a:gd name="connsiteY3" fmla="*/ 2653396 h 2653396"/>
                <a:gd name="connsiteX4" fmla="*/ 0 w 8658722"/>
                <a:gd name="connsiteY4" fmla="*/ 0 h 2653396"/>
                <a:gd name="connsiteX0" fmla="*/ 0 w 8658722"/>
                <a:gd name="connsiteY0" fmla="*/ 2436 h 2655832"/>
                <a:gd name="connsiteX1" fmla="*/ 6733490 w 8658722"/>
                <a:gd name="connsiteY1" fmla="*/ 0 h 2655832"/>
                <a:gd name="connsiteX2" fmla="*/ 8658722 w 8658722"/>
                <a:gd name="connsiteY2" fmla="*/ 2655832 h 2655832"/>
                <a:gd name="connsiteX3" fmla="*/ 0 w 8658722"/>
                <a:gd name="connsiteY3" fmla="*/ 2655832 h 2655832"/>
                <a:gd name="connsiteX4" fmla="*/ 0 w 8658722"/>
                <a:gd name="connsiteY4" fmla="*/ 2436 h 2655832"/>
                <a:gd name="connsiteX0" fmla="*/ 0 w 8658722"/>
                <a:gd name="connsiteY0" fmla="*/ 2436 h 2655832"/>
                <a:gd name="connsiteX1" fmla="*/ 6733490 w 8658722"/>
                <a:gd name="connsiteY1" fmla="*/ 0 h 2655832"/>
                <a:gd name="connsiteX2" fmla="*/ 8658722 w 8658722"/>
                <a:gd name="connsiteY2" fmla="*/ 2655832 h 2655832"/>
                <a:gd name="connsiteX3" fmla="*/ 924880 w 8658722"/>
                <a:gd name="connsiteY3" fmla="*/ 2036340 h 2655832"/>
                <a:gd name="connsiteX4" fmla="*/ 0 w 8658722"/>
                <a:gd name="connsiteY4" fmla="*/ 2436 h 2655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58722" h="2655832">
                  <a:moveTo>
                    <a:pt x="0" y="2436"/>
                  </a:moveTo>
                  <a:lnTo>
                    <a:pt x="6733490" y="0"/>
                  </a:lnTo>
                  <a:lnTo>
                    <a:pt x="8658722" y="2655832"/>
                  </a:lnTo>
                  <a:lnTo>
                    <a:pt x="924880" y="2036340"/>
                  </a:lnTo>
                  <a:lnTo>
                    <a:pt x="0" y="2436"/>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1">
              <a:extLst>
                <a:ext uri="{FF2B5EF4-FFF2-40B4-BE49-F238E27FC236}">
                  <a16:creationId xmlns:a16="http://schemas.microsoft.com/office/drawing/2014/main" id="{2403FE68-F2DF-39D7-731B-11180DB9F649}"/>
                </a:ext>
              </a:extLst>
            </p:cNvPr>
            <p:cNvSpPr/>
            <p:nvPr userDrawn="1"/>
          </p:nvSpPr>
          <p:spPr>
            <a:xfrm>
              <a:off x="27778" y="1974634"/>
              <a:ext cx="5124306" cy="1297328"/>
            </a:xfrm>
            <a:custGeom>
              <a:avLst/>
              <a:gdLst>
                <a:gd name="connsiteX0" fmla="*/ 0 w 4186052"/>
                <a:gd name="connsiteY0" fmla="*/ 0 h 2638567"/>
                <a:gd name="connsiteX1" fmla="*/ 4186052 w 4186052"/>
                <a:gd name="connsiteY1" fmla="*/ 0 h 2638567"/>
                <a:gd name="connsiteX2" fmla="*/ 4186052 w 4186052"/>
                <a:gd name="connsiteY2" fmla="*/ 2638567 h 2638567"/>
                <a:gd name="connsiteX3" fmla="*/ 0 w 4186052"/>
                <a:gd name="connsiteY3" fmla="*/ 2638567 h 2638567"/>
                <a:gd name="connsiteX4" fmla="*/ 0 w 4186052"/>
                <a:gd name="connsiteY4" fmla="*/ 0 h 2638567"/>
                <a:gd name="connsiteX0" fmla="*/ 0 w 5967144"/>
                <a:gd name="connsiteY0" fmla="*/ 7952 h 2646519"/>
                <a:gd name="connsiteX1" fmla="*/ 5967144 w 5967144"/>
                <a:gd name="connsiteY1" fmla="*/ 0 h 2646519"/>
                <a:gd name="connsiteX2" fmla="*/ 4186052 w 5967144"/>
                <a:gd name="connsiteY2" fmla="*/ 2646519 h 2646519"/>
                <a:gd name="connsiteX3" fmla="*/ 0 w 5967144"/>
                <a:gd name="connsiteY3" fmla="*/ 2646519 h 2646519"/>
                <a:gd name="connsiteX4" fmla="*/ 0 w 5967144"/>
                <a:gd name="connsiteY4" fmla="*/ 7952 h 2646519"/>
                <a:gd name="connsiteX0" fmla="*/ 0 w 5124306"/>
                <a:gd name="connsiteY0" fmla="*/ 7952 h 2646519"/>
                <a:gd name="connsiteX1" fmla="*/ 5124306 w 5124306"/>
                <a:gd name="connsiteY1" fmla="*/ 0 h 2646519"/>
                <a:gd name="connsiteX2" fmla="*/ 4186052 w 5124306"/>
                <a:gd name="connsiteY2" fmla="*/ 2646519 h 2646519"/>
                <a:gd name="connsiteX3" fmla="*/ 0 w 5124306"/>
                <a:gd name="connsiteY3" fmla="*/ 2646519 h 2646519"/>
                <a:gd name="connsiteX4" fmla="*/ 0 w 5124306"/>
                <a:gd name="connsiteY4" fmla="*/ 7952 h 26465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24306" h="2646519">
                  <a:moveTo>
                    <a:pt x="0" y="7952"/>
                  </a:moveTo>
                  <a:lnTo>
                    <a:pt x="5124306" y="0"/>
                  </a:lnTo>
                  <a:lnTo>
                    <a:pt x="4186052" y="2646519"/>
                  </a:lnTo>
                  <a:lnTo>
                    <a:pt x="0" y="2646519"/>
                  </a:lnTo>
                  <a:lnTo>
                    <a:pt x="0" y="7952"/>
                  </a:lnTo>
                  <a:close/>
                </a:path>
              </a:pathLst>
            </a:custGeom>
            <a:solidFill>
              <a:srgbClr val="AA2226"/>
            </a:solidFill>
            <a:ln w="38100">
              <a:solidFill>
                <a:schemeClr val="bg1"/>
              </a:solidFill>
            </a:ln>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sp>
          <p:nvSpPr>
            <p:cNvPr id="10" name="Rectangle 1">
              <a:extLst>
                <a:ext uri="{FF2B5EF4-FFF2-40B4-BE49-F238E27FC236}">
                  <a16:creationId xmlns:a16="http://schemas.microsoft.com/office/drawing/2014/main" id="{71FADA22-22DA-6E79-0F79-2AC01738452D}"/>
                </a:ext>
              </a:extLst>
            </p:cNvPr>
            <p:cNvSpPr/>
            <p:nvPr userDrawn="1"/>
          </p:nvSpPr>
          <p:spPr>
            <a:xfrm>
              <a:off x="27778" y="2873952"/>
              <a:ext cx="5818263" cy="2123567"/>
            </a:xfrm>
            <a:custGeom>
              <a:avLst/>
              <a:gdLst>
                <a:gd name="connsiteX0" fmla="*/ 0 w 4186052"/>
                <a:gd name="connsiteY0" fmla="*/ 0 h 2638567"/>
                <a:gd name="connsiteX1" fmla="*/ 4186052 w 4186052"/>
                <a:gd name="connsiteY1" fmla="*/ 0 h 2638567"/>
                <a:gd name="connsiteX2" fmla="*/ 4186052 w 4186052"/>
                <a:gd name="connsiteY2" fmla="*/ 2638567 h 2638567"/>
                <a:gd name="connsiteX3" fmla="*/ 0 w 4186052"/>
                <a:gd name="connsiteY3" fmla="*/ 2638567 h 2638567"/>
                <a:gd name="connsiteX4" fmla="*/ 0 w 4186052"/>
                <a:gd name="connsiteY4" fmla="*/ 0 h 2638567"/>
                <a:gd name="connsiteX0" fmla="*/ 0 w 5967144"/>
                <a:gd name="connsiteY0" fmla="*/ 7952 h 2646519"/>
                <a:gd name="connsiteX1" fmla="*/ 5967144 w 5967144"/>
                <a:gd name="connsiteY1" fmla="*/ 0 h 2646519"/>
                <a:gd name="connsiteX2" fmla="*/ 4186052 w 5967144"/>
                <a:gd name="connsiteY2" fmla="*/ 2646519 h 2646519"/>
                <a:gd name="connsiteX3" fmla="*/ 0 w 5967144"/>
                <a:gd name="connsiteY3" fmla="*/ 2646519 h 2646519"/>
                <a:gd name="connsiteX4" fmla="*/ 0 w 5967144"/>
                <a:gd name="connsiteY4" fmla="*/ 7952 h 26465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67144" h="2646519">
                  <a:moveTo>
                    <a:pt x="0" y="7952"/>
                  </a:moveTo>
                  <a:lnTo>
                    <a:pt x="5967144" y="0"/>
                  </a:lnTo>
                  <a:lnTo>
                    <a:pt x="4186052" y="2646519"/>
                  </a:lnTo>
                  <a:lnTo>
                    <a:pt x="0" y="2646519"/>
                  </a:lnTo>
                  <a:lnTo>
                    <a:pt x="0" y="7952"/>
                  </a:lnTo>
                  <a:close/>
                </a:path>
              </a:pathLst>
            </a:custGeom>
            <a:solidFill>
              <a:srgbClr val="02042E"/>
            </a:solidFill>
            <a:ln w="28575">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CB08E51-2B22-6FCF-06FF-52C973944A98}"/>
                </a:ext>
              </a:extLst>
            </p:cNvPr>
            <p:cNvSpPr txBox="1"/>
            <p:nvPr userDrawn="1"/>
          </p:nvSpPr>
          <p:spPr>
            <a:xfrm>
              <a:off x="220806" y="2883490"/>
              <a:ext cx="4846494" cy="800219"/>
            </a:xfrm>
            <a:prstGeom prst="rect">
              <a:avLst/>
            </a:prstGeom>
            <a:noFill/>
          </p:spPr>
          <p:txBody>
            <a:bodyPr wrap="square" rtlCol="0">
              <a:spAutoFit/>
            </a:bodyPr>
            <a:lstStyle/>
            <a:p>
              <a:r>
                <a:rPr lang="en-US" sz="2800" b="1">
                  <a:solidFill>
                    <a:schemeClr val="bg1"/>
                  </a:solidFill>
                  <a:latin typeface="Arial" panose="020B0604020202020204" pitchFamily="34" charset="0"/>
                  <a:cs typeface="Arial" panose="020B0604020202020204" pitchFamily="34" charset="0"/>
                </a:rPr>
                <a:t>U.S. ENERGY</a:t>
              </a:r>
            </a:p>
            <a:p>
              <a:r>
                <a:rPr lang="en-US" b="1">
                  <a:solidFill>
                    <a:schemeClr val="bg1"/>
                  </a:solidFill>
                  <a:latin typeface="Arial" panose="020B0604020202020204" pitchFamily="34" charset="0"/>
                  <a:cs typeface="Arial" panose="020B0604020202020204" pitchFamily="34" charset="0"/>
                </a:rPr>
                <a:t>Development Corporation</a:t>
              </a:r>
            </a:p>
          </p:txBody>
        </p:sp>
        <p:sp>
          <p:nvSpPr>
            <p:cNvPr id="25" name="Rectangle 2">
              <a:extLst>
                <a:ext uri="{FF2B5EF4-FFF2-40B4-BE49-F238E27FC236}">
                  <a16:creationId xmlns:a16="http://schemas.microsoft.com/office/drawing/2014/main" id="{C45E9BD3-D6B6-74F4-74E8-7E2729E7E93C}"/>
                </a:ext>
              </a:extLst>
            </p:cNvPr>
            <p:cNvSpPr/>
            <p:nvPr userDrawn="1"/>
          </p:nvSpPr>
          <p:spPr>
            <a:xfrm>
              <a:off x="3267075" y="3897769"/>
              <a:ext cx="8909023" cy="1184745"/>
            </a:xfrm>
            <a:custGeom>
              <a:avLst/>
              <a:gdLst>
                <a:gd name="connsiteX0" fmla="*/ 0 w 8033468"/>
                <a:gd name="connsiteY0" fmla="*/ 0 h 1184745"/>
                <a:gd name="connsiteX1" fmla="*/ 8033468 w 8033468"/>
                <a:gd name="connsiteY1" fmla="*/ 0 h 1184745"/>
                <a:gd name="connsiteX2" fmla="*/ 8033468 w 8033468"/>
                <a:gd name="connsiteY2" fmla="*/ 1184745 h 1184745"/>
                <a:gd name="connsiteX3" fmla="*/ 0 w 8033468"/>
                <a:gd name="connsiteY3" fmla="*/ 1184745 h 1184745"/>
                <a:gd name="connsiteX4" fmla="*/ 0 w 8033468"/>
                <a:gd name="connsiteY4" fmla="*/ 0 h 1184745"/>
                <a:gd name="connsiteX0" fmla="*/ 771276 w 8804744"/>
                <a:gd name="connsiteY0" fmla="*/ 0 h 1184745"/>
                <a:gd name="connsiteX1" fmla="*/ 8804744 w 8804744"/>
                <a:gd name="connsiteY1" fmla="*/ 0 h 1184745"/>
                <a:gd name="connsiteX2" fmla="*/ 8804744 w 8804744"/>
                <a:gd name="connsiteY2" fmla="*/ 1184745 h 1184745"/>
                <a:gd name="connsiteX3" fmla="*/ 0 w 8804744"/>
                <a:gd name="connsiteY3" fmla="*/ 1184745 h 1184745"/>
                <a:gd name="connsiteX4" fmla="*/ 771276 w 8804744"/>
                <a:gd name="connsiteY4" fmla="*/ 0 h 118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04744" h="1184745">
                  <a:moveTo>
                    <a:pt x="771276" y="0"/>
                  </a:moveTo>
                  <a:lnTo>
                    <a:pt x="8804744" y="0"/>
                  </a:lnTo>
                  <a:lnTo>
                    <a:pt x="8804744" y="1184745"/>
                  </a:lnTo>
                  <a:lnTo>
                    <a:pt x="0" y="1184745"/>
                  </a:lnTo>
                  <a:lnTo>
                    <a:pt x="771276" y="0"/>
                  </a:lnTo>
                  <a:close/>
                </a:path>
              </a:pathLst>
            </a:custGeom>
            <a:solidFill>
              <a:srgbClr val="02042E"/>
            </a:solidFill>
            <a:ln w="38100"/>
          </p:spPr>
          <p:style>
            <a:lnRef idx="3">
              <a:schemeClr val="lt1"/>
            </a:lnRef>
            <a:fillRef idx="1">
              <a:schemeClr val="accent4"/>
            </a:fillRef>
            <a:effectRef idx="1">
              <a:schemeClr val="accent4"/>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9" name="Rectangle 28">
              <a:extLst>
                <a:ext uri="{FF2B5EF4-FFF2-40B4-BE49-F238E27FC236}">
                  <a16:creationId xmlns:a16="http://schemas.microsoft.com/office/drawing/2014/main" id="{F9961A5F-779F-28D7-F34C-4A4C96F4B9E7}"/>
                </a:ext>
              </a:extLst>
            </p:cNvPr>
            <p:cNvSpPr/>
            <p:nvPr userDrawn="1"/>
          </p:nvSpPr>
          <p:spPr>
            <a:xfrm>
              <a:off x="4822922" y="83758"/>
              <a:ext cx="7369078" cy="18582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B066BCEE-6617-B4EA-3A12-2EAB85DDAB76}"/>
                </a:ext>
              </a:extLst>
            </p:cNvPr>
            <p:cNvSpPr txBox="1"/>
            <p:nvPr userDrawn="1"/>
          </p:nvSpPr>
          <p:spPr>
            <a:xfrm>
              <a:off x="10286961" y="79684"/>
              <a:ext cx="1887481" cy="230832"/>
            </a:xfrm>
            <a:prstGeom prst="rect">
              <a:avLst/>
            </a:prstGeom>
            <a:noFill/>
          </p:spPr>
          <p:txBody>
            <a:bodyPr wrap="square" rtlCol="0">
              <a:spAutoFit/>
            </a:bodyPr>
            <a:lstStyle/>
            <a:p>
              <a:pPr algn="r"/>
              <a:r>
                <a:rPr lang="en-US" sz="900" b="1" spc="30">
                  <a:solidFill>
                    <a:srgbClr val="000000"/>
                  </a:solidFill>
                  <a:latin typeface="Arial" panose="020B0604020202020204" pitchFamily="34" charset="0"/>
                  <a:cs typeface="Arial" panose="020B0604020202020204" pitchFamily="34" charset="0"/>
                </a:rPr>
                <a:t>STRICTLY CONFIDENTIAL</a:t>
              </a:r>
            </a:p>
          </p:txBody>
        </p:sp>
      </p:grpSp>
      <p:sp>
        <p:nvSpPr>
          <p:cNvPr id="32" name="Text Placeholder 31">
            <a:extLst>
              <a:ext uri="{FF2B5EF4-FFF2-40B4-BE49-F238E27FC236}">
                <a16:creationId xmlns:a16="http://schemas.microsoft.com/office/drawing/2014/main" id="{E105C02A-A537-6247-55DE-9CBFF1EDDBD8}"/>
              </a:ext>
            </a:extLst>
          </p:cNvPr>
          <p:cNvSpPr>
            <a:spLocks noGrp="1"/>
          </p:cNvSpPr>
          <p:nvPr userDrawn="1">
            <p:ph type="body" sz="quarter" idx="10" hasCustomPrompt="1"/>
          </p:nvPr>
        </p:nvSpPr>
        <p:spPr>
          <a:xfrm>
            <a:off x="220806" y="2199438"/>
            <a:ext cx="4179887" cy="487355"/>
          </a:xfrm>
        </p:spPr>
        <p:txBody>
          <a:bodyPr>
            <a:normAutofit/>
          </a:bodyPr>
          <a:lstStyle>
            <a:lvl1pPr marL="0" indent="0">
              <a:buNone/>
              <a:defRPr sz="2000" b="1">
                <a:solidFill>
                  <a:schemeClr val="bg1"/>
                </a:solidFill>
                <a:latin typeface="Arial" panose="020B0604020202020204" pitchFamily="34" charset="0"/>
                <a:cs typeface="Arial" panose="020B0604020202020204" pitchFamily="34" charset="0"/>
              </a:defRPr>
            </a:lvl1pPr>
          </a:lstStyle>
          <a:p>
            <a:pPr lvl="0"/>
            <a:r>
              <a:rPr lang="en-US"/>
              <a:t>January 3, 2023</a:t>
            </a:r>
          </a:p>
        </p:txBody>
      </p:sp>
      <p:sp>
        <p:nvSpPr>
          <p:cNvPr id="34" name="Text Placeholder 4">
            <a:extLst>
              <a:ext uri="{FF2B5EF4-FFF2-40B4-BE49-F238E27FC236}">
                <a16:creationId xmlns:a16="http://schemas.microsoft.com/office/drawing/2014/main" id="{203D292B-7715-9B75-210E-B01B0FB1857F}"/>
              </a:ext>
            </a:extLst>
          </p:cNvPr>
          <p:cNvSpPr>
            <a:spLocks noGrp="1"/>
          </p:cNvSpPr>
          <p:nvPr>
            <p:ph type="body" sz="quarter" idx="11" hasCustomPrompt="1"/>
          </p:nvPr>
        </p:nvSpPr>
        <p:spPr>
          <a:xfrm>
            <a:off x="4199248" y="4139500"/>
            <a:ext cx="6408738" cy="435120"/>
          </a:xfrm>
        </p:spPr>
        <p:txBody>
          <a:bodyPr lIns="0" rIns="0">
            <a:normAutofit/>
          </a:bodyPr>
          <a:lstStyle>
            <a:lvl1pPr marL="0" indent="0">
              <a:buNone/>
              <a:defRPr sz="2600" b="1" i="1">
                <a:solidFill>
                  <a:schemeClr val="bg1"/>
                </a:solidFill>
                <a:latin typeface="Arial" panose="020B0604020202020204" pitchFamily="34" charset="0"/>
                <a:cs typeface="Arial" panose="020B0604020202020204" pitchFamily="34" charset="0"/>
              </a:defRPr>
            </a:lvl1pPr>
          </a:lstStyle>
          <a:p>
            <a:pPr lvl="0"/>
            <a:r>
              <a:rPr lang="en-US"/>
              <a:t>Deal Name Prospect</a:t>
            </a:r>
          </a:p>
        </p:txBody>
      </p:sp>
      <p:sp>
        <p:nvSpPr>
          <p:cNvPr id="37" name="Text Placeholder 4">
            <a:extLst>
              <a:ext uri="{FF2B5EF4-FFF2-40B4-BE49-F238E27FC236}">
                <a16:creationId xmlns:a16="http://schemas.microsoft.com/office/drawing/2014/main" id="{8F5C09B5-BCC6-2A28-6DEE-8E39CD91F314}"/>
              </a:ext>
            </a:extLst>
          </p:cNvPr>
          <p:cNvSpPr>
            <a:spLocks noGrp="1"/>
          </p:cNvSpPr>
          <p:nvPr>
            <p:ph type="body" sz="quarter" idx="12" hasCustomPrompt="1"/>
          </p:nvPr>
        </p:nvSpPr>
        <p:spPr>
          <a:xfrm>
            <a:off x="4199248" y="4520458"/>
            <a:ext cx="6408738" cy="435120"/>
          </a:xfrm>
        </p:spPr>
        <p:txBody>
          <a:bodyPr lIns="0" rIns="0">
            <a:normAutofit/>
          </a:bodyPr>
          <a:lstStyle>
            <a:lvl1pPr marL="0" indent="0">
              <a:buNone/>
              <a:defRPr sz="1600" b="1" i="1">
                <a:solidFill>
                  <a:schemeClr val="bg1"/>
                </a:solidFill>
                <a:latin typeface="Arial" panose="020B0604020202020204" pitchFamily="34" charset="0"/>
                <a:cs typeface="Arial" panose="020B0604020202020204" pitchFamily="34" charset="0"/>
              </a:defRPr>
            </a:lvl1pPr>
          </a:lstStyle>
          <a:p>
            <a:pPr lvl="0"/>
            <a:r>
              <a:rPr lang="en-US"/>
              <a:t>County - State</a:t>
            </a:r>
          </a:p>
        </p:txBody>
      </p:sp>
    </p:spTree>
    <p:extLst>
      <p:ext uri="{BB962C8B-B14F-4D97-AF65-F5344CB8AC3E}">
        <p14:creationId xmlns:p14="http://schemas.microsoft.com/office/powerpoint/2010/main" val="41054806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 Deal Sign-Off Sheet">
    <p:spTree>
      <p:nvGrpSpPr>
        <p:cNvPr id="1" name=""/>
        <p:cNvGrpSpPr/>
        <p:nvPr/>
      </p:nvGrpSpPr>
      <p:grpSpPr>
        <a:xfrm>
          <a:off x="0" y="0"/>
          <a:ext cx="0" cy="0"/>
          <a:chOff x="0" y="0"/>
          <a:chExt cx="0" cy="0"/>
        </a:xfrm>
      </p:grpSpPr>
      <p:sp>
        <p:nvSpPr>
          <p:cNvPr id="6" name="Rectangle 7">
            <a:extLst>
              <a:ext uri="{FF2B5EF4-FFF2-40B4-BE49-F238E27FC236}">
                <a16:creationId xmlns:a16="http://schemas.microsoft.com/office/drawing/2014/main" id="{EE7E127B-AD24-38C8-8650-30B7A245CE2F}"/>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35BFD6F7-2F68-E7C7-BAB9-F296DF06C2D5}"/>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16990C06-D522-9597-F667-4738D221AA53}"/>
              </a:ext>
            </a:extLst>
          </p:cNvPr>
          <p:cNvSpPr txBox="1"/>
          <p:nvPr userDrawn="1"/>
        </p:nvSpPr>
        <p:spPr>
          <a:xfrm>
            <a:off x="333375" y="73388"/>
            <a:ext cx="3556981" cy="523220"/>
          </a:xfrm>
          <a:prstGeom prst="rect">
            <a:avLst/>
          </a:prstGeom>
          <a:noFill/>
        </p:spPr>
        <p:txBody>
          <a:bodyPr wrap="square" rtlCol="0">
            <a:spAutoFit/>
          </a:bodyPr>
          <a:lstStyle/>
          <a:p>
            <a:pPr algn="l"/>
            <a:r>
              <a:rPr lang="en-US" sz="2800" b="1">
                <a:solidFill>
                  <a:schemeClr val="tx1"/>
                </a:solidFill>
                <a:latin typeface="Arial" panose="020B0604020202020204" pitchFamily="34" charset="0"/>
                <a:cs typeface="Arial" panose="020B0604020202020204" pitchFamily="34" charset="0"/>
              </a:rPr>
              <a:t>Deal Sign-Off Sheet</a:t>
            </a:r>
          </a:p>
        </p:txBody>
      </p:sp>
      <p:sp>
        <p:nvSpPr>
          <p:cNvPr id="21" name="TextBox 20">
            <a:extLst>
              <a:ext uri="{FF2B5EF4-FFF2-40B4-BE49-F238E27FC236}">
                <a16:creationId xmlns:a16="http://schemas.microsoft.com/office/drawing/2014/main" id="{56C0E914-C5D0-5857-6B4D-475A3C9F4EF6}"/>
              </a:ext>
            </a:extLst>
          </p:cNvPr>
          <p:cNvSpPr txBox="1"/>
          <p:nvPr userDrawn="1"/>
        </p:nvSpPr>
        <p:spPr>
          <a:xfrm>
            <a:off x="3767916" y="169777"/>
            <a:ext cx="262371" cy="400110"/>
          </a:xfrm>
          <a:prstGeom prst="rect">
            <a:avLst/>
          </a:prstGeom>
          <a:noFill/>
        </p:spPr>
        <p:txBody>
          <a:bodyPr wrap="square" rtlCol="0">
            <a:spAutoFit/>
          </a:bodyPr>
          <a:lstStyle/>
          <a:p>
            <a:pPr algn="l"/>
            <a:r>
              <a:rPr lang="en-US" sz="2000" b="0">
                <a:latin typeface="Arial" panose="020B0604020202020204" pitchFamily="34" charset="0"/>
                <a:cs typeface="Arial" panose="020B0604020202020204" pitchFamily="34" charset="0"/>
              </a:rPr>
              <a:t>|</a:t>
            </a:r>
            <a:endParaRPr lang="en-US" sz="2000" b="1">
              <a:solidFill>
                <a:schemeClr val="tx1"/>
              </a:solidFill>
              <a:latin typeface="Arial" panose="020B0604020202020204" pitchFamily="34" charset="0"/>
              <a:cs typeface="Arial" panose="020B0604020202020204" pitchFamily="34" charset="0"/>
            </a:endParaRPr>
          </a:p>
        </p:txBody>
      </p:sp>
      <p:sp>
        <p:nvSpPr>
          <p:cNvPr id="22" name="Text Placeholder 17">
            <a:extLst>
              <a:ext uri="{FF2B5EF4-FFF2-40B4-BE49-F238E27FC236}">
                <a16:creationId xmlns:a16="http://schemas.microsoft.com/office/drawing/2014/main" id="{6F28D579-FFBA-58E3-4801-FFC56C4CD9DF}"/>
              </a:ext>
            </a:extLst>
          </p:cNvPr>
          <p:cNvSpPr>
            <a:spLocks noGrp="1"/>
          </p:cNvSpPr>
          <p:nvPr>
            <p:ph type="body" sz="quarter" idx="14" hasCustomPrompt="1"/>
          </p:nvPr>
        </p:nvSpPr>
        <p:spPr>
          <a:xfrm>
            <a:off x="3915294" y="228719"/>
            <a:ext cx="8204662" cy="357794"/>
          </a:xfrm>
        </p:spPr>
        <p:txBody>
          <a:bodyPr/>
          <a:lstStyle>
            <a:lvl1pPr marL="0" indent="0">
              <a:buNone/>
              <a:defRPr sz="2000">
                <a:latin typeface="Arial" panose="020B0604020202020204" pitchFamily="34" charset="0"/>
                <a:cs typeface="Arial" panose="020B0604020202020204" pitchFamily="34" charset="0"/>
              </a:defRPr>
            </a:lvl1pPr>
            <a:lvl2pPr marL="457200" indent="0">
              <a:buNone/>
              <a:defRPr/>
            </a:lvl2pPr>
          </a:lstStyle>
          <a:p>
            <a:pPr lvl="0"/>
            <a:r>
              <a:rPr lang="en-US"/>
              <a:t>Deal Name</a:t>
            </a:r>
          </a:p>
        </p:txBody>
      </p:sp>
      <p:graphicFrame>
        <p:nvGraphicFramePr>
          <p:cNvPr id="28" name="Table 6">
            <a:extLst>
              <a:ext uri="{FF2B5EF4-FFF2-40B4-BE49-F238E27FC236}">
                <a16:creationId xmlns:a16="http://schemas.microsoft.com/office/drawing/2014/main" id="{B00B1F54-B069-E0A3-9225-2474CBE7ABEB}"/>
              </a:ext>
            </a:extLst>
          </p:cNvPr>
          <p:cNvGraphicFramePr>
            <a:graphicFrameLocks noGrp="1"/>
          </p:cNvGraphicFramePr>
          <p:nvPr userDrawn="1">
            <p:extLst>
              <p:ext uri="{D42A27DB-BD31-4B8C-83A1-F6EECF244321}">
                <p14:modId xmlns:p14="http://schemas.microsoft.com/office/powerpoint/2010/main" val="3000451228"/>
              </p:ext>
            </p:extLst>
          </p:nvPr>
        </p:nvGraphicFramePr>
        <p:xfrm>
          <a:off x="482599" y="1776869"/>
          <a:ext cx="11209391" cy="256032"/>
        </p:xfrm>
        <a:graphic>
          <a:graphicData uri="http://schemas.openxmlformats.org/drawingml/2006/table">
            <a:tbl>
              <a:tblPr firstRow="1" bandRow="1">
                <a:tableStyleId>{5C22544A-7EE6-4342-B048-85BDC9FD1C3A}</a:tableStyleId>
              </a:tblPr>
              <a:tblGrid>
                <a:gridCol w="11209391">
                  <a:extLst>
                    <a:ext uri="{9D8B030D-6E8A-4147-A177-3AD203B41FA5}">
                      <a16:colId xmlns:a16="http://schemas.microsoft.com/office/drawing/2014/main" val="2709411978"/>
                    </a:ext>
                  </a:extLst>
                </a:gridCol>
              </a:tblGrid>
              <a:tr h="184747">
                <a:tc>
                  <a:txBody>
                    <a:bodyPr/>
                    <a:lstStyle/>
                    <a:p>
                      <a:r>
                        <a:rPr lang="en-US" sz="1200">
                          <a:solidFill>
                            <a:sysClr val="windowText" lastClr="000000"/>
                          </a:solidFill>
                          <a:latin typeface="Arial" panose="020B0604020202020204" pitchFamily="34" charset="0"/>
                          <a:cs typeface="Arial" panose="020B0604020202020204" pitchFamily="34" charset="0"/>
                        </a:rPr>
                        <a:t>Project Acceptance Sign-Off</a:t>
                      </a:r>
                    </a:p>
                  </a:txBody>
                  <a:tcPr marL="45720" marB="2743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03481481"/>
                  </a:ext>
                </a:extLst>
              </a:tr>
            </a:tbl>
          </a:graphicData>
        </a:graphic>
      </p:graphicFrame>
      <p:graphicFrame>
        <p:nvGraphicFramePr>
          <p:cNvPr id="29" name="Table 8">
            <a:extLst>
              <a:ext uri="{FF2B5EF4-FFF2-40B4-BE49-F238E27FC236}">
                <a16:creationId xmlns:a16="http://schemas.microsoft.com/office/drawing/2014/main" id="{BBD43960-9D9E-087D-AB2D-B056AF222222}"/>
              </a:ext>
            </a:extLst>
          </p:cNvPr>
          <p:cNvGraphicFramePr>
            <a:graphicFrameLocks noGrp="1"/>
          </p:cNvGraphicFramePr>
          <p:nvPr userDrawn="1">
            <p:extLst>
              <p:ext uri="{D42A27DB-BD31-4B8C-83A1-F6EECF244321}">
                <p14:modId xmlns:p14="http://schemas.microsoft.com/office/powerpoint/2010/main" val="958771540"/>
              </p:ext>
            </p:extLst>
          </p:nvPr>
        </p:nvGraphicFramePr>
        <p:xfrm>
          <a:off x="482599" y="2056712"/>
          <a:ext cx="8128000" cy="256032"/>
        </p:xfrm>
        <a:graphic>
          <a:graphicData uri="http://schemas.openxmlformats.org/drawingml/2006/table">
            <a:tbl>
              <a:tblPr firstRow="1" bandRow="1">
                <a:tableStyleId>{5C22544A-7EE6-4342-B048-85BDC9FD1C3A}</a:tableStyleId>
              </a:tblPr>
              <a:tblGrid>
                <a:gridCol w="974726">
                  <a:extLst>
                    <a:ext uri="{9D8B030D-6E8A-4147-A177-3AD203B41FA5}">
                      <a16:colId xmlns:a16="http://schemas.microsoft.com/office/drawing/2014/main" val="2129635177"/>
                    </a:ext>
                  </a:extLst>
                </a:gridCol>
                <a:gridCol w="7153274">
                  <a:extLst>
                    <a:ext uri="{9D8B030D-6E8A-4147-A177-3AD203B41FA5}">
                      <a16:colId xmlns:a16="http://schemas.microsoft.com/office/drawing/2014/main" val="1479668850"/>
                    </a:ext>
                  </a:extLst>
                </a:gridCol>
              </a:tblGrid>
              <a:tr h="256032">
                <a:tc>
                  <a:txBody>
                    <a:bodyPr/>
                    <a:lstStyle/>
                    <a:p>
                      <a:r>
                        <a:rPr lang="en-US" sz="1000" b="0">
                          <a:solidFill>
                            <a:srgbClr val="000000"/>
                          </a:solidFill>
                          <a:latin typeface="Arial" panose="020B0604020202020204" pitchFamily="34" charset="0"/>
                          <a:cs typeface="Arial" panose="020B0604020202020204" pitchFamily="34" charset="0"/>
                        </a:rPr>
                        <a:t>Project Name:</a:t>
                      </a:r>
                    </a:p>
                  </a:txBody>
                  <a:tcPr marL="45720" anchor="ctr">
                    <a:lnR w="12700" cap="flat" cmpd="sng" algn="ctr">
                      <a:noFill/>
                      <a:prstDash val="solid"/>
                      <a:round/>
                      <a:headEnd type="none" w="med" len="med"/>
                      <a:tailEnd type="none" w="med" len="med"/>
                    </a:lnR>
                    <a:noFill/>
                  </a:tcPr>
                </a:tc>
                <a:tc>
                  <a:txBody>
                    <a:bodyPr/>
                    <a:lstStyle/>
                    <a:p>
                      <a:endParaRPr lang="en-US" sz="1000" b="0">
                        <a:solidFill>
                          <a:srgbClr val="000000"/>
                        </a:solidFill>
                        <a:latin typeface="Arial" panose="020B0604020202020204" pitchFamily="34" charset="0"/>
                        <a:cs typeface="Arial" panose="020B0604020202020204" pitchFamily="34" charset="0"/>
                      </a:endParaRPr>
                    </a:p>
                  </a:txBody>
                  <a:tcPr anchor="ctr">
                    <a:lnL w="12700" cap="flat" cmpd="sng" algn="ctr">
                      <a:noFill/>
                      <a:prstDash val="solid"/>
                      <a:round/>
                      <a:headEnd type="none" w="med" len="med"/>
                      <a:tailEnd type="none" w="med" len="med"/>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62628137"/>
                  </a:ext>
                </a:extLst>
              </a:tr>
            </a:tbl>
          </a:graphicData>
        </a:graphic>
      </p:graphicFrame>
      <p:graphicFrame>
        <p:nvGraphicFramePr>
          <p:cNvPr id="30" name="Table 6">
            <a:extLst>
              <a:ext uri="{FF2B5EF4-FFF2-40B4-BE49-F238E27FC236}">
                <a16:creationId xmlns:a16="http://schemas.microsoft.com/office/drawing/2014/main" id="{6FDC6EDF-14D5-B606-CD79-46745488C602}"/>
              </a:ext>
            </a:extLst>
          </p:cNvPr>
          <p:cNvGraphicFramePr>
            <a:graphicFrameLocks noGrp="1"/>
          </p:cNvGraphicFramePr>
          <p:nvPr userDrawn="1">
            <p:extLst>
              <p:ext uri="{D42A27DB-BD31-4B8C-83A1-F6EECF244321}">
                <p14:modId xmlns:p14="http://schemas.microsoft.com/office/powerpoint/2010/main" val="2748756953"/>
              </p:ext>
            </p:extLst>
          </p:nvPr>
        </p:nvGraphicFramePr>
        <p:xfrm>
          <a:off x="491304" y="2471456"/>
          <a:ext cx="5303520" cy="225552"/>
        </p:xfrm>
        <a:graphic>
          <a:graphicData uri="http://schemas.openxmlformats.org/drawingml/2006/table">
            <a:tbl>
              <a:tblPr firstRow="1" bandRow="1">
                <a:tableStyleId>{5C22544A-7EE6-4342-B048-85BDC9FD1C3A}</a:tableStyleId>
              </a:tblPr>
              <a:tblGrid>
                <a:gridCol w="968188">
                  <a:extLst>
                    <a:ext uri="{9D8B030D-6E8A-4147-A177-3AD203B41FA5}">
                      <a16:colId xmlns:a16="http://schemas.microsoft.com/office/drawing/2014/main" val="2709411978"/>
                    </a:ext>
                  </a:extLst>
                </a:gridCol>
                <a:gridCol w="4335332">
                  <a:extLst>
                    <a:ext uri="{9D8B030D-6E8A-4147-A177-3AD203B41FA5}">
                      <a16:colId xmlns:a16="http://schemas.microsoft.com/office/drawing/2014/main" val="2861028828"/>
                    </a:ext>
                  </a:extLst>
                </a:gridCol>
              </a:tblGrid>
              <a:tr h="130584">
                <a:tc>
                  <a:txBody>
                    <a:bodyPr/>
                    <a:lstStyle/>
                    <a:p>
                      <a:r>
                        <a:rPr lang="en-US" sz="1000" b="0">
                          <a:solidFill>
                            <a:sysClr val="windowText" lastClr="000000"/>
                          </a:solidFill>
                          <a:latin typeface="Arial" panose="020B0604020202020204" pitchFamily="34" charset="0"/>
                          <a:cs typeface="Arial" panose="020B0604020202020204" pitchFamily="34" charset="0"/>
                        </a:rPr>
                        <a:t>Sign-Off #1</a:t>
                      </a:r>
                    </a:p>
                  </a:txBody>
                  <a:tcPr marL="45720" marB="27432" anchor="ctr">
                    <a:lnL w="1270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a:r>
                        <a:rPr lang="en-US" sz="1000" b="0">
                          <a:solidFill>
                            <a:sysClr val="windowText" lastClr="000000"/>
                          </a:solidFill>
                          <a:latin typeface="Arial" panose="020B0604020202020204" pitchFamily="34" charset="0"/>
                          <a:cs typeface="Arial" panose="020B0604020202020204" pitchFamily="34" charset="0"/>
                        </a:rPr>
                        <a:t> </a:t>
                      </a:r>
                      <a:r>
                        <a:rPr lang="en-US" sz="1000" b="1">
                          <a:solidFill>
                            <a:sysClr val="windowText" lastClr="000000"/>
                          </a:solidFill>
                          <a:latin typeface="Arial" panose="020B0604020202020204" pitchFamily="34" charset="0"/>
                          <a:cs typeface="Arial" panose="020B0604020202020204" pitchFamily="34" charset="0"/>
                        </a:rPr>
                        <a:t>Jordan Jayson</a:t>
                      </a:r>
                    </a:p>
                  </a:txBody>
                  <a:tcPr marL="45720" marB="27432" anchor="ctr">
                    <a:lnL w="6350" cap="flat" cmpd="sng" algn="ctr">
                      <a:solidFill>
                        <a:schemeClr val="bg1">
                          <a:lumMod val="85000"/>
                        </a:schemeClr>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03481481"/>
                  </a:ext>
                </a:extLst>
              </a:tr>
            </a:tbl>
          </a:graphicData>
        </a:graphic>
      </p:graphicFrame>
      <p:graphicFrame>
        <p:nvGraphicFramePr>
          <p:cNvPr id="31" name="Table 6">
            <a:extLst>
              <a:ext uri="{FF2B5EF4-FFF2-40B4-BE49-F238E27FC236}">
                <a16:creationId xmlns:a16="http://schemas.microsoft.com/office/drawing/2014/main" id="{7FE65E71-910B-6A1F-8800-BF518D70E194}"/>
              </a:ext>
            </a:extLst>
          </p:cNvPr>
          <p:cNvGraphicFramePr>
            <a:graphicFrameLocks noGrp="1"/>
          </p:cNvGraphicFramePr>
          <p:nvPr userDrawn="1">
            <p:extLst>
              <p:ext uri="{D42A27DB-BD31-4B8C-83A1-F6EECF244321}">
                <p14:modId xmlns:p14="http://schemas.microsoft.com/office/powerpoint/2010/main" val="1811113786"/>
              </p:ext>
            </p:extLst>
          </p:nvPr>
        </p:nvGraphicFramePr>
        <p:xfrm>
          <a:off x="6397175" y="2471456"/>
          <a:ext cx="5303520" cy="225552"/>
        </p:xfrm>
        <a:graphic>
          <a:graphicData uri="http://schemas.openxmlformats.org/drawingml/2006/table">
            <a:tbl>
              <a:tblPr firstRow="1" bandRow="1">
                <a:tableStyleId>{5C22544A-7EE6-4342-B048-85BDC9FD1C3A}</a:tableStyleId>
              </a:tblPr>
              <a:tblGrid>
                <a:gridCol w="968188">
                  <a:extLst>
                    <a:ext uri="{9D8B030D-6E8A-4147-A177-3AD203B41FA5}">
                      <a16:colId xmlns:a16="http://schemas.microsoft.com/office/drawing/2014/main" val="2709411978"/>
                    </a:ext>
                  </a:extLst>
                </a:gridCol>
                <a:gridCol w="4335332">
                  <a:extLst>
                    <a:ext uri="{9D8B030D-6E8A-4147-A177-3AD203B41FA5}">
                      <a16:colId xmlns:a16="http://schemas.microsoft.com/office/drawing/2014/main" val="2861028828"/>
                    </a:ext>
                  </a:extLst>
                </a:gridCol>
              </a:tblGrid>
              <a:tr h="130584">
                <a:tc>
                  <a:txBody>
                    <a:bodyPr/>
                    <a:lstStyle/>
                    <a:p>
                      <a:r>
                        <a:rPr lang="en-US" sz="1000" b="0">
                          <a:solidFill>
                            <a:sysClr val="windowText" lastClr="000000"/>
                          </a:solidFill>
                          <a:latin typeface="Arial" panose="020B0604020202020204" pitchFamily="34" charset="0"/>
                          <a:cs typeface="Arial" panose="020B0604020202020204" pitchFamily="34" charset="0"/>
                        </a:rPr>
                        <a:t>Sign-Off #4</a:t>
                      </a:r>
                    </a:p>
                  </a:txBody>
                  <a:tcPr marL="45720" marB="27432" anchor="ctr">
                    <a:lnL w="1270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tc>
                  <a:txBody>
                    <a:bodyPr/>
                    <a:lstStyle/>
                    <a:p>
                      <a:r>
                        <a:rPr lang="en-US" sz="1000" b="0">
                          <a:solidFill>
                            <a:sysClr val="windowText" lastClr="000000"/>
                          </a:solidFill>
                          <a:latin typeface="Arial" panose="020B0604020202020204" pitchFamily="34" charset="0"/>
                          <a:cs typeface="Arial" panose="020B0604020202020204" pitchFamily="34" charset="0"/>
                        </a:rPr>
                        <a:t> </a:t>
                      </a:r>
                      <a:r>
                        <a:rPr lang="en-US" sz="1000" b="1">
                          <a:solidFill>
                            <a:sysClr val="windowText" lastClr="000000"/>
                          </a:solidFill>
                          <a:latin typeface="Arial" panose="020B0604020202020204" pitchFamily="34" charset="0"/>
                          <a:cs typeface="Arial" panose="020B0604020202020204" pitchFamily="34" charset="0"/>
                        </a:rPr>
                        <a:t>Todd Witmer</a:t>
                      </a:r>
                    </a:p>
                  </a:txBody>
                  <a:tcPr marL="45720" marB="27432" anchor="ctr">
                    <a:lnL w="6350" cap="flat" cmpd="sng" algn="ctr">
                      <a:solidFill>
                        <a:schemeClr val="bg1">
                          <a:lumMod val="85000"/>
                        </a:schemeClr>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03481481"/>
                  </a:ext>
                </a:extLst>
              </a:tr>
            </a:tbl>
          </a:graphicData>
        </a:graphic>
      </p:graphicFrame>
      <p:graphicFrame>
        <p:nvGraphicFramePr>
          <p:cNvPr id="32" name="Table 11">
            <a:extLst>
              <a:ext uri="{FF2B5EF4-FFF2-40B4-BE49-F238E27FC236}">
                <a16:creationId xmlns:a16="http://schemas.microsoft.com/office/drawing/2014/main" id="{64AB193C-169E-CD6C-A38A-BE27C9FA4973}"/>
              </a:ext>
            </a:extLst>
          </p:cNvPr>
          <p:cNvGraphicFramePr>
            <a:graphicFrameLocks noGrp="1"/>
          </p:cNvGraphicFramePr>
          <p:nvPr userDrawn="1">
            <p:extLst>
              <p:ext uri="{D42A27DB-BD31-4B8C-83A1-F6EECF244321}">
                <p14:modId xmlns:p14="http://schemas.microsoft.com/office/powerpoint/2010/main" val="897205032"/>
              </p:ext>
            </p:extLst>
          </p:nvPr>
        </p:nvGraphicFramePr>
        <p:xfrm>
          <a:off x="491305" y="2730329"/>
          <a:ext cx="5303523" cy="542562"/>
        </p:xfrm>
        <a:graphic>
          <a:graphicData uri="http://schemas.openxmlformats.org/drawingml/2006/table">
            <a:tbl>
              <a:tblPr firstRow="1" bandRow="1">
                <a:tableStyleId>{5C22544A-7EE6-4342-B048-85BDC9FD1C3A}</a:tableStyleId>
              </a:tblPr>
              <a:tblGrid>
                <a:gridCol w="966020">
                  <a:extLst>
                    <a:ext uri="{9D8B030D-6E8A-4147-A177-3AD203B41FA5}">
                      <a16:colId xmlns:a16="http://schemas.microsoft.com/office/drawing/2014/main" val="3279156469"/>
                    </a:ext>
                  </a:extLst>
                </a:gridCol>
                <a:gridCol w="2849245">
                  <a:extLst>
                    <a:ext uri="{9D8B030D-6E8A-4147-A177-3AD203B41FA5}">
                      <a16:colId xmlns:a16="http://schemas.microsoft.com/office/drawing/2014/main" val="107418329"/>
                    </a:ext>
                  </a:extLst>
                </a:gridCol>
                <a:gridCol w="208280">
                  <a:extLst>
                    <a:ext uri="{9D8B030D-6E8A-4147-A177-3AD203B41FA5}">
                      <a16:colId xmlns:a16="http://schemas.microsoft.com/office/drawing/2014/main" val="4112279656"/>
                    </a:ext>
                  </a:extLst>
                </a:gridCol>
                <a:gridCol w="1279978">
                  <a:extLst>
                    <a:ext uri="{9D8B030D-6E8A-4147-A177-3AD203B41FA5}">
                      <a16:colId xmlns:a16="http://schemas.microsoft.com/office/drawing/2014/main" val="1524678321"/>
                    </a:ext>
                  </a:extLst>
                </a:gridCol>
              </a:tblGrid>
              <a:tr h="271281">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Signature</a:t>
                      </a:r>
                    </a:p>
                  </a:txBody>
                  <a:tcPr>
                    <a:noFill/>
                  </a:tcPr>
                </a:tc>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Date</a:t>
                      </a:r>
                    </a:p>
                  </a:txBody>
                  <a:tcPr>
                    <a:noFill/>
                  </a:tcPr>
                </a:tc>
                <a:extLst>
                  <a:ext uri="{0D108BD9-81ED-4DB2-BD59-A6C34878D82A}">
                    <a16:rowId xmlns:a16="http://schemas.microsoft.com/office/drawing/2014/main" val="790640291"/>
                  </a:ext>
                </a:extLst>
              </a:tr>
              <a:tr h="271281">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20108497"/>
                  </a:ext>
                </a:extLst>
              </a:tr>
            </a:tbl>
          </a:graphicData>
        </a:graphic>
      </p:graphicFrame>
      <p:graphicFrame>
        <p:nvGraphicFramePr>
          <p:cNvPr id="33" name="Table 11">
            <a:extLst>
              <a:ext uri="{FF2B5EF4-FFF2-40B4-BE49-F238E27FC236}">
                <a16:creationId xmlns:a16="http://schemas.microsoft.com/office/drawing/2014/main" id="{CA59A06F-412D-4236-0A78-04BC7BFC682A}"/>
              </a:ext>
            </a:extLst>
          </p:cNvPr>
          <p:cNvGraphicFramePr>
            <a:graphicFrameLocks noGrp="1"/>
          </p:cNvGraphicFramePr>
          <p:nvPr userDrawn="1">
            <p:extLst>
              <p:ext uri="{D42A27DB-BD31-4B8C-83A1-F6EECF244321}">
                <p14:modId xmlns:p14="http://schemas.microsoft.com/office/powerpoint/2010/main" val="2731440207"/>
              </p:ext>
            </p:extLst>
          </p:nvPr>
        </p:nvGraphicFramePr>
        <p:xfrm>
          <a:off x="6397172" y="2740259"/>
          <a:ext cx="5303523" cy="539496"/>
        </p:xfrm>
        <a:graphic>
          <a:graphicData uri="http://schemas.openxmlformats.org/drawingml/2006/table">
            <a:tbl>
              <a:tblPr firstRow="1" bandRow="1">
                <a:tableStyleId>{5C22544A-7EE6-4342-B048-85BDC9FD1C3A}</a:tableStyleId>
              </a:tblPr>
              <a:tblGrid>
                <a:gridCol w="966020">
                  <a:extLst>
                    <a:ext uri="{9D8B030D-6E8A-4147-A177-3AD203B41FA5}">
                      <a16:colId xmlns:a16="http://schemas.microsoft.com/office/drawing/2014/main" val="3279156469"/>
                    </a:ext>
                  </a:extLst>
                </a:gridCol>
                <a:gridCol w="2849245">
                  <a:extLst>
                    <a:ext uri="{9D8B030D-6E8A-4147-A177-3AD203B41FA5}">
                      <a16:colId xmlns:a16="http://schemas.microsoft.com/office/drawing/2014/main" val="107418329"/>
                    </a:ext>
                  </a:extLst>
                </a:gridCol>
                <a:gridCol w="208280">
                  <a:extLst>
                    <a:ext uri="{9D8B030D-6E8A-4147-A177-3AD203B41FA5}">
                      <a16:colId xmlns:a16="http://schemas.microsoft.com/office/drawing/2014/main" val="4112279656"/>
                    </a:ext>
                  </a:extLst>
                </a:gridCol>
                <a:gridCol w="1279978">
                  <a:extLst>
                    <a:ext uri="{9D8B030D-6E8A-4147-A177-3AD203B41FA5}">
                      <a16:colId xmlns:a16="http://schemas.microsoft.com/office/drawing/2014/main" val="1524678321"/>
                    </a:ext>
                  </a:extLst>
                </a:gridCol>
              </a:tblGrid>
              <a:tr h="269748">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Signature</a:t>
                      </a:r>
                    </a:p>
                  </a:txBody>
                  <a:tcPr>
                    <a:noFill/>
                  </a:tcPr>
                </a:tc>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Date</a:t>
                      </a:r>
                    </a:p>
                  </a:txBody>
                  <a:tcPr>
                    <a:noFill/>
                  </a:tcPr>
                </a:tc>
                <a:extLst>
                  <a:ext uri="{0D108BD9-81ED-4DB2-BD59-A6C34878D82A}">
                    <a16:rowId xmlns:a16="http://schemas.microsoft.com/office/drawing/2014/main" val="790640291"/>
                  </a:ext>
                </a:extLst>
              </a:tr>
              <a:tr h="269748">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20108497"/>
                  </a:ext>
                </a:extLst>
              </a:tr>
            </a:tbl>
          </a:graphicData>
        </a:graphic>
      </p:graphicFrame>
      <p:graphicFrame>
        <p:nvGraphicFramePr>
          <p:cNvPr id="34" name="Table 6">
            <a:extLst>
              <a:ext uri="{FF2B5EF4-FFF2-40B4-BE49-F238E27FC236}">
                <a16:creationId xmlns:a16="http://schemas.microsoft.com/office/drawing/2014/main" id="{144F2C3B-69D7-FF7B-B28F-30867A95376C}"/>
              </a:ext>
            </a:extLst>
          </p:cNvPr>
          <p:cNvGraphicFramePr>
            <a:graphicFrameLocks noGrp="1"/>
          </p:cNvGraphicFramePr>
          <p:nvPr userDrawn="1">
            <p:extLst>
              <p:ext uri="{D42A27DB-BD31-4B8C-83A1-F6EECF244321}">
                <p14:modId xmlns:p14="http://schemas.microsoft.com/office/powerpoint/2010/main" val="1885211824"/>
              </p:ext>
            </p:extLst>
          </p:nvPr>
        </p:nvGraphicFramePr>
        <p:xfrm>
          <a:off x="491304" y="3409375"/>
          <a:ext cx="5303520" cy="225552"/>
        </p:xfrm>
        <a:graphic>
          <a:graphicData uri="http://schemas.openxmlformats.org/drawingml/2006/table">
            <a:tbl>
              <a:tblPr firstRow="1" bandRow="1">
                <a:tableStyleId>{5C22544A-7EE6-4342-B048-85BDC9FD1C3A}</a:tableStyleId>
              </a:tblPr>
              <a:tblGrid>
                <a:gridCol w="968188">
                  <a:extLst>
                    <a:ext uri="{9D8B030D-6E8A-4147-A177-3AD203B41FA5}">
                      <a16:colId xmlns:a16="http://schemas.microsoft.com/office/drawing/2014/main" val="2709411978"/>
                    </a:ext>
                  </a:extLst>
                </a:gridCol>
                <a:gridCol w="4335332">
                  <a:extLst>
                    <a:ext uri="{9D8B030D-6E8A-4147-A177-3AD203B41FA5}">
                      <a16:colId xmlns:a16="http://schemas.microsoft.com/office/drawing/2014/main" val="2861028828"/>
                    </a:ext>
                  </a:extLst>
                </a:gridCol>
              </a:tblGrid>
              <a:tr h="130584">
                <a:tc>
                  <a:txBody>
                    <a:bodyPr/>
                    <a:lstStyle/>
                    <a:p>
                      <a:r>
                        <a:rPr lang="en-US" sz="1000" b="0">
                          <a:solidFill>
                            <a:sysClr val="windowText" lastClr="000000"/>
                          </a:solidFill>
                          <a:latin typeface="Arial" panose="020B0604020202020204" pitchFamily="34" charset="0"/>
                          <a:cs typeface="Arial" panose="020B0604020202020204" pitchFamily="34" charset="0"/>
                        </a:rPr>
                        <a:t>Sign-Off #2</a:t>
                      </a:r>
                    </a:p>
                  </a:txBody>
                  <a:tcPr marL="45720" marB="27432" anchor="ctr">
                    <a:lnL w="1270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a:r>
                        <a:rPr lang="en-US" sz="1000" b="1">
                          <a:solidFill>
                            <a:sysClr val="windowText" lastClr="000000"/>
                          </a:solidFill>
                          <a:latin typeface="Arial" panose="020B0604020202020204" pitchFamily="34" charset="0"/>
                          <a:cs typeface="Arial" panose="020B0604020202020204" pitchFamily="34" charset="0"/>
                        </a:rPr>
                        <a:t>Brandon Standifird</a:t>
                      </a:r>
                    </a:p>
                  </a:txBody>
                  <a:tcPr marL="45720" marB="27432" anchor="ctr">
                    <a:lnL w="6350" cap="flat" cmpd="sng" algn="ctr">
                      <a:solidFill>
                        <a:schemeClr val="bg1">
                          <a:lumMod val="85000"/>
                        </a:schemeClr>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03481481"/>
                  </a:ext>
                </a:extLst>
              </a:tr>
            </a:tbl>
          </a:graphicData>
        </a:graphic>
      </p:graphicFrame>
      <p:graphicFrame>
        <p:nvGraphicFramePr>
          <p:cNvPr id="35" name="Table 11">
            <a:extLst>
              <a:ext uri="{FF2B5EF4-FFF2-40B4-BE49-F238E27FC236}">
                <a16:creationId xmlns:a16="http://schemas.microsoft.com/office/drawing/2014/main" id="{2CA37642-802F-BD06-6269-58F52A3BBF9B}"/>
              </a:ext>
            </a:extLst>
          </p:cNvPr>
          <p:cNvGraphicFramePr>
            <a:graphicFrameLocks noGrp="1"/>
          </p:cNvGraphicFramePr>
          <p:nvPr userDrawn="1">
            <p:extLst>
              <p:ext uri="{D42A27DB-BD31-4B8C-83A1-F6EECF244321}">
                <p14:modId xmlns:p14="http://schemas.microsoft.com/office/powerpoint/2010/main" val="207017026"/>
              </p:ext>
            </p:extLst>
          </p:nvPr>
        </p:nvGraphicFramePr>
        <p:xfrm>
          <a:off x="491305" y="3668248"/>
          <a:ext cx="5303523" cy="542562"/>
        </p:xfrm>
        <a:graphic>
          <a:graphicData uri="http://schemas.openxmlformats.org/drawingml/2006/table">
            <a:tbl>
              <a:tblPr firstRow="1" bandRow="1">
                <a:tableStyleId>{5C22544A-7EE6-4342-B048-85BDC9FD1C3A}</a:tableStyleId>
              </a:tblPr>
              <a:tblGrid>
                <a:gridCol w="966020">
                  <a:extLst>
                    <a:ext uri="{9D8B030D-6E8A-4147-A177-3AD203B41FA5}">
                      <a16:colId xmlns:a16="http://schemas.microsoft.com/office/drawing/2014/main" val="3279156469"/>
                    </a:ext>
                  </a:extLst>
                </a:gridCol>
                <a:gridCol w="2849245">
                  <a:extLst>
                    <a:ext uri="{9D8B030D-6E8A-4147-A177-3AD203B41FA5}">
                      <a16:colId xmlns:a16="http://schemas.microsoft.com/office/drawing/2014/main" val="107418329"/>
                    </a:ext>
                  </a:extLst>
                </a:gridCol>
                <a:gridCol w="208280">
                  <a:extLst>
                    <a:ext uri="{9D8B030D-6E8A-4147-A177-3AD203B41FA5}">
                      <a16:colId xmlns:a16="http://schemas.microsoft.com/office/drawing/2014/main" val="4112279656"/>
                    </a:ext>
                  </a:extLst>
                </a:gridCol>
                <a:gridCol w="1279978">
                  <a:extLst>
                    <a:ext uri="{9D8B030D-6E8A-4147-A177-3AD203B41FA5}">
                      <a16:colId xmlns:a16="http://schemas.microsoft.com/office/drawing/2014/main" val="1524678321"/>
                    </a:ext>
                  </a:extLst>
                </a:gridCol>
              </a:tblGrid>
              <a:tr h="271281">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Signature</a:t>
                      </a:r>
                    </a:p>
                  </a:txBody>
                  <a:tcPr>
                    <a:noFill/>
                  </a:tcPr>
                </a:tc>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Date</a:t>
                      </a:r>
                    </a:p>
                  </a:txBody>
                  <a:tcPr>
                    <a:noFill/>
                  </a:tcPr>
                </a:tc>
                <a:extLst>
                  <a:ext uri="{0D108BD9-81ED-4DB2-BD59-A6C34878D82A}">
                    <a16:rowId xmlns:a16="http://schemas.microsoft.com/office/drawing/2014/main" val="790640291"/>
                  </a:ext>
                </a:extLst>
              </a:tr>
              <a:tr h="271281">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20108497"/>
                  </a:ext>
                </a:extLst>
              </a:tr>
            </a:tbl>
          </a:graphicData>
        </a:graphic>
      </p:graphicFrame>
      <p:graphicFrame>
        <p:nvGraphicFramePr>
          <p:cNvPr id="36" name="Table 6">
            <a:extLst>
              <a:ext uri="{FF2B5EF4-FFF2-40B4-BE49-F238E27FC236}">
                <a16:creationId xmlns:a16="http://schemas.microsoft.com/office/drawing/2014/main" id="{9C7B3213-DA9C-01CB-05D4-7EC675393D82}"/>
              </a:ext>
            </a:extLst>
          </p:cNvPr>
          <p:cNvGraphicFramePr>
            <a:graphicFrameLocks noGrp="1"/>
          </p:cNvGraphicFramePr>
          <p:nvPr userDrawn="1">
            <p:extLst>
              <p:ext uri="{D42A27DB-BD31-4B8C-83A1-F6EECF244321}">
                <p14:modId xmlns:p14="http://schemas.microsoft.com/office/powerpoint/2010/main" val="1611322414"/>
              </p:ext>
            </p:extLst>
          </p:nvPr>
        </p:nvGraphicFramePr>
        <p:xfrm>
          <a:off x="6388470" y="3409375"/>
          <a:ext cx="5303520" cy="225552"/>
        </p:xfrm>
        <a:graphic>
          <a:graphicData uri="http://schemas.openxmlformats.org/drawingml/2006/table">
            <a:tbl>
              <a:tblPr firstRow="1" bandRow="1">
                <a:tableStyleId>{5C22544A-7EE6-4342-B048-85BDC9FD1C3A}</a:tableStyleId>
              </a:tblPr>
              <a:tblGrid>
                <a:gridCol w="968188">
                  <a:extLst>
                    <a:ext uri="{9D8B030D-6E8A-4147-A177-3AD203B41FA5}">
                      <a16:colId xmlns:a16="http://schemas.microsoft.com/office/drawing/2014/main" val="2709411978"/>
                    </a:ext>
                  </a:extLst>
                </a:gridCol>
                <a:gridCol w="4335332">
                  <a:extLst>
                    <a:ext uri="{9D8B030D-6E8A-4147-A177-3AD203B41FA5}">
                      <a16:colId xmlns:a16="http://schemas.microsoft.com/office/drawing/2014/main" val="2861028828"/>
                    </a:ext>
                  </a:extLst>
                </a:gridCol>
              </a:tblGrid>
              <a:tr h="130584">
                <a:tc>
                  <a:txBody>
                    <a:bodyPr/>
                    <a:lstStyle/>
                    <a:p>
                      <a:r>
                        <a:rPr lang="en-US" sz="1000" b="0">
                          <a:solidFill>
                            <a:sysClr val="windowText" lastClr="000000"/>
                          </a:solidFill>
                          <a:latin typeface="Arial" panose="020B0604020202020204" pitchFamily="34" charset="0"/>
                          <a:cs typeface="Arial" panose="020B0604020202020204" pitchFamily="34" charset="0"/>
                        </a:rPr>
                        <a:t>Sign-Off #5</a:t>
                      </a:r>
                    </a:p>
                  </a:txBody>
                  <a:tcPr marL="45720" marB="27432" anchor="ctr">
                    <a:lnL w="1270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tc>
                  <a:txBody>
                    <a:bodyPr/>
                    <a:lstStyle/>
                    <a:p>
                      <a:r>
                        <a:rPr lang="en-US" sz="1000" b="0">
                          <a:solidFill>
                            <a:sysClr val="windowText" lastClr="000000"/>
                          </a:solidFill>
                          <a:latin typeface="Arial" panose="020B0604020202020204" pitchFamily="34" charset="0"/>
                          <a:cs typeface="Arial" panose="020B0604020202020204" pitchFamily="34" charset="0"/>
                        </a:rPr>
                        <a:t> </a:t>
                      </a:r>
                      <a:r>
                        <a:rPr lang="en-US" sz="1000" b="1">
                          <a:solidFill>
                            <a:sysClr val="windowText" lastClr="000000"/>
                          </a:solidFill>
                          <a:latin typeface="Arial" panose="020B0604020202020204" pitchFamily="34" charset="0"/>
                          <a:cs typeface="Arial" panose="020B0604020202020204" pitchFamily="34" charset="0"/>
                        </a:rPr>
                        <a:t>Destiny Arteaga</a:t>
                      </a:r>
                    </a:p>
                  </a:txBody>
                  <a:tcPr marL="45720" marB="27432" anchor="ctr">
                    <a:lnL w="6350" cap="flat" cmpd="sng" algn="ctr">
                      <a:solidFill>
                        <a:schemeClr val="bg1">
                          <a:lumMod val="85000"/>
                        </a:schemeClr>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03481481"/>
                  </a:ext>
                </a:extLst>
              </a:tr>
            </a:tbl>
          </a:graphicData>
        </a:graphic>
      </p:graphicFrame>
      <p:graphicFrame>
        <p:nvGraphicFramePr>
          <p:cNvPr id="37" name="Table 11">
            <a:extLst>
              <a:ext uri="{FF2B5EF4-FFF2-40B4-BE49-F238E27FC236}">
                <a16:creationId xmlns:a16="http://schemas.microsoft.com/office/drawing/2014/main" id="{C95C776D-3380-E8FE-4252-3C03FC8878E2}"/>
              </a:ext>
            </a:extLst>
          </p:cNvPr>
          <p:cNvGraphicFramePr>
            <a:graphicFrameLocks noGrp="1"/>
          </p:cNvGraphicFramePr>
          <p:nvPr userDrawn="1">
            <p:extLst>
              <p:ext uri="{D42A27DB-BD31-4B8C-83A1-F6EECF244321}">
                <p14:modId xmlns:p14="http://schemas.microsoft.com/office/powerpoint/2010/main" val="3545957596"/>
              </p:ext>
            </p:extLst>
          </p:nvPr>
        </p:nvGraphicFramePr>
        <p:xfrm>
          <a:off x="6388467" y="3668248"/>
          <a:ext cx="5303523" cy="539496"/>
        </p:xfrm>
        <a:graphic>
          <a:graphicData uri="http://schemas.openxmlformats.org/drawingml/2006/table">
            <a:tbl>
              <a:tblPr firstRow="1" bandRow="1">
                <a:tableStyleId>{5C22544A-7EE6-4342-B048-85BDC9FD1C3A}</a:tableStyleId>
              </a:tblPr>
              <a:tblGrid>
                <a:gridCol w="966020">
                  <a:extLst>
                    <a:ext uri="{9D8B030D-6E8A-4147-A177-3AD203B41FA5}">
                      <a16:colId xmlns:a16="http://schemas.microsoft.com/office/drawing/2014/main" val="3279156469"/>
                    </a:ext>
                  </a:extLst>
                </a:gridCol>
                <a:gridCol w="2849245">
                  <a:extLst>
                    <a:ext uri="{9D8B030D-6E8A-4147-A177-3AD203B41FA5}">
                      <a16:colId xmlns:a16="http://schemas.microsoft.com/office/drawing/2014/main" val="107418329"/>
                    </a:ext>
                  </a:extLst>
                </a:gridCol>
                <a:gridCol w="208280">
                  <a:extLst>
                    <a:ext uri="{9D8B030D-6E8A-4147-A177-3AD203B41FA5}">
                      <a16:colId xmlns:a16="http://schemas.microsoft.com/office/drawing/2014/main" val="4112279656"/>
                    </a:ext>
                  </a:extLst>
                </a:gridCol>
                <a:gridCol w="1279978">
                  <a:extLst>
                    <a:ext uri="{9D8B030D-6E8A-4147-A177-3AD203B41FA5}">
                      <a16:colId xmlns:a16="http://schemas.microsoft.com/office/drawing/2014/main" val="1524678321"/>
                    </a:ext>
                  </a:extLst>
                </a:gridCol>
              </a:tblGrid>
              <a:tr h="269748">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Signature</a:t>
                      </a:r>
                    </a:p>
                  </a:txBody>
                  <a:tcPr>
                    <a:noFill/>
                  </a:tcPr>
                </a:tc>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Date</a:t>
                      </a:r>
                    </a:p>
                  </a:txBody>
                  <a:tcPr>
                    <a:noFill/>
                  </a:tcPr>
                </a:tc>
                <a:extLst>
                  <a:ext uri="{0D108BD9-81ED-4DB2-BD59-A6C34878D82A}">
                    <a16:rowId xmlns:a16="http://schemas.microsoft.com/office/drawing/2014/main" val="790640291"/>
                  </a:ext>
                </a:extLst>
              </a:tr>
              <a:tr h="269748">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20108497"/>
                  </a:ext>
                </a:extLst>
              </a:tr>
            </a:tbl>
          </a:graphicData>
        </a:graphic>
      </p:graphicFrame>
      <p:graphicFrame>
        <p:nvGraphicFramePr>
          <p:cNvPr id="38" name="Table 6">
            <a:extLst>
              <a:ext uri="{FF2B5EF4-FFF2-40B4-BE49-F238E27FC236}">
                <a16:creationId xmlns:a16="http://schemas.microsoft.com/office/drawing/2014/main" id="{E67C97A4-54DC-7FB9-E52B-C1FCD5305EED}"/>
              </a:ext>
            </a:extLst>
          </p:cNvPr>
          <p:cNvGraphicFramePr>
            <a:graphicFrameLocks noGrp="1"/>
          </p:cNvGraphicFramePr>
          <p:nvPr userDrawn="1">
            <p:extLst>
              <p:ext uri="{D42A27DB-BD31-4B8C-83A1-F6EECF244321}">
                <p14:modId xmlns:p14="http://schemas.microsoft.com/office/powerpoint/2010/main" val="2975232892"/>
              </p:ext>
            </p:extLst>
          </p:nvPr>
        </p:nvGraphicFramePr>
        <p:xfrm>
          <a:off x="491304" y="4369522"/>
          <a:ext cx="5303520" cy="225552"/>
        </p:xfrm>
        <a:graphic>
          <a:graphicData uri="http://schemas.openxmlformats.org/drawingml/2006/table">
            <a:tbl>
              <a:tblPr firstRow="1" bandRow="1">
                <a:tableStyleId>{5C22544A-7EE6-4342-B048-85BDC9FD1C3A}</a:tableStyleId>
              </a:tblPr>
              <a:tblGrid>
                <a:gridCol w="968188">
                  <a:extLst>
                    <a:ext uri="{9D8B030D-6E8A-4147-A177-3AD203B41FA5}">
                      <a16:colId xmlns:a16="http://schemas.microsoft.com/office/drawing/2014/main" val="2709411978"/>
                    </a:ext>
                  </a:extLst>
                </a:gridCol>
                <a:gridCol w="4335332">
                  <a:extLst>
                    <a:ext uri="{9D8B030D-6E8A-4147-A177-3AD203B41FA5}">
                      <a16:colId xmlns:a16="http://schemas.microsoft.com/office/drawing/2014/main" val="2861028828"/>
                    </a:ext>
                  </a:extLst>
                </a:gridCol>
              </a:tblGrid>
              <a:tr h="130584">
                <a:tc>
                  <a:txBody>
                    <a:bodyPr/>
                    <a:lstStyle/>
                    <a:p>
                      <a:r>
                        <a:rPr lang="en-US" sz="1000" b="0">
                          <a:solidFill>
                            <a:sysClr val="windowText" lastClr="000000"/>
                          </a:solidFill>
                          <a:latin typeface="Arial" panose="020B0604020202020204" pitchFamily="34" charset="0"/>
                          <a:cs typeface="Arial" panose="020B0604020202020204" pitchFamily="34" charset="0"/>
                        </a:rPr>
                        <a:t>Sign-Off #3</a:t>
                      </a:r>
                    </a:p>
                  </a:txBody>
                  <a:tcPr marL="45720" marB="27432" anchor="ctr">
                    <a:lnL w="1270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a:r>
                        <a:rPr lang="en-US" sz="1000" b="1">
                          <a:solidFill>
                            <a:sysClr val="windowText" lastClr="000000"/>
                          </a:solidFill>
                          <a:latin typeface="Arial" panose="020B0604020202020204" pitchFamily="34" charset="0"/>
                          <a:cs typeface="Arial" panose="020B0604020202020204" pitchFamily="34" charset="0"/>
                        </a:rPr>
                        <a:t>Kevin Duncan</a:t>
                      </a:r>
                    </a:p>
                  </a:txBody>
                  <a:tcPr marL="45720" marB="27432" anchor="ctr">
                    <a:lnL w="6350" cap="flat" cmpd="sng" algn="ctr">
                      <a:solidFill>
                        <a:schemeClr val="bg1">
                          <a:lumMod val="85000"/>
                        </a:schemeClr>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03481481"/>
                  </a:ext>
                </a:extLst>
              </a:tr>
            </a:tbl>
          </a:graphicData>
        </a:graphic>
      </p:graphicFrame>
      <p:graphicFrame>
        <p:nvGraphicFramePr>
          <p:cNvPr id="39" name="Table 11">
            <a:extLst>
              <a:ext uri="{FF2B5EF4-FFF2-40B4-BE49-F238E27FC236}">
                <a16:creationId xmlns:a16="http://schemas.microsoft.com/office/drawing/2014/main" id="{98E955C3-1048-150B-B4C0-8E8293F21820}"/>
              </a:ext>
            </a:extLst>
          </p:cNvPr>
          <p:cNvGraphicFramePr>
            <a:graphicFrameLocks noGrp="1"/>
          </p:cNvGraphicFramePr>
          <p:nvPr userDrawn="1">
            <p:extLst>
              <p:ext uri="{D42A27DB-BD31-4B8C-83A1-F6EECF244321}">
                <p14:modId xmlns:p14="http://schemas.microsoft.com/office/powerpoint/2010/main" val="3656068324"/>
              </p:ext>
            </p:extLst>
          </p:nvPr>
        </p:nvGraphicFramePr>
        <p:xfrm>
          <a:off x="491305" y="4628395"/>
          <a:ext cx="5303523" cy="542562"/>
        </p:xfrm>
        <a:graphic>
          <a:graphicData uri="http://schemas.openxmlformats.org/drawingml/2006/table">
            <a:tbl>
              <a:tblPr firstRow="1" bandRow="1">
                <a:tableStyleId>{5C22544A-7EE6-4342-B048-85BDC9FD1C3A}</a:tableStyleId>
              </a:tblPr>
              <a:tblGrid>
                <a:gridCol w="966020">
                  <a:extLst>
                    <a:ext uri="{9D8B030D-6E8A-4147-A177-3AD203B41FA5}">
                      <a16:colId xmlns:a16="http://schemas.microsoft.com/office/drawing/2014/main" val="3279156469"/>
                    </a:ext>
                  </a:extLst>
                </a:gridCol>
                <a:gridCol w="2849245">
                  <a:extLst>
                    <a:ext uri="{9D8B030D-6E8A-4147-A177-3AD203B41FA5}">
                      <a16:colId xmlns:a16="http://schemas.microsoft.com/office/drawing/2014/main" val="107418329"/>
                    </a:ext>
                  </a:extLst>
                </a:gridCol>
                <a:gridCol w="208280">
                  <a:extLst>
                    <a:ext uri="{9D8B030D-6E8A-4147-A177-3AD203B41FA5}">
                      <a16:colId xmlns:a16="http://schemas.microsoft.com/office/drawing/2014/main" val="4112279656"/>
                    </a:ext>
                  </a:extLst>
                </a:gridCol>
                <a:gridCol w="1279978">
                  <a:extLst>
                    <a:ext uri="{9D8B030D-6E8A-4147-A177-3AD203B41FA5}">
                      <a16:colId xmlns:a16="http://schemas.microsoft.com/office/drawing/2014/main" val="1524678321"/>
                    </a:ext>
                  </a:extLst>
                </a:gridCol>
              </a:tblGrid>
              <a:tr h="271281">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Signature</a:t>
                      </a:r>
                    </a:p>
                  </a:txBody>
                  <a:tcPr>
                    <a:noFill/>
                  </a:tcPr>
                </a:tc>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Date</a:t>
                      </a:r>
                    </a:p>
                  </a:txBody>
                  <a:tcPr>
                    <a:noFill/>
                  </a:tcPr>
                </a:tc>
                <a:extLst>
                  <a:ext uri="{0D108BD9-81ED-4DB2-BD59-A6C34878D82A}">
                    <a16:rowId xmlns:a16="http://schemas.microsoft.com/office/drawing/2014/main" val="790640291"/>
                  </a:ext>
                </a:extLst>
              </a:tr>
              <a:tr h="271281">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20108497"/>
                  </a:ext>
                </a:extLst>
              </a:tr>
            </a:tbl>
          </a:graphicData>
        </a:graphic>
      </p:graphicFrame>
      <p:graphicFrame>
        <p:nvGraphicFramePr>
          <p:cNvPr id="40" name="Table 6">
            <a:extLst>
              <a:ext uri="{FF2B5EF4-FFF2-40B4-BE49-F238E27FC236}">
                <a16:creationId xmlns:a16="http://schemas.microsoft.com/office/drawing/2014/main" id="{974E1063-71A3-8D93-E230-7177C9ED3B5F}"/>
              </a:ext>
            </a:extLst>
          </p:cNvPr>
          <p:cNvGraphicFramePr>
            <a:graphicFrameLocks noGrp="1"/>
          </p:cNvGraphicFramePr>
          <p:nvPr userDrawn="1">
            <p:extLst>
              <p:ext uri="{D42A27DB-BD31-4B8C-83A1-F6EECF244321}">
                <p14:modId xmlns:p14="http://schemas.microsoft.com/office/powerpoint/2010/main" val="3795149829"/>
              </p:ext>
            </p:extLst>
          </p:nvPr>
        </p:nvGraphicFramePr>
        <p:xfrm>
          <a:off x="6388470" y="4369522"/>
          <a:ext cx="5303520" cy="225552"/>
        </p:xfrm>
        <a:graphic>
          <a:graphicData uri="http://schemas.openxmlformats.org/drawingml/2006/table">
            <a:tbl>
              <a:tblPr firstRow="1" bandRow="1">
                <a:tableStyleId>{5C22544A-7EE6-4342-B048-85BDC9FD1C3A}</a:tableStyleId>
              </a:tblPr>
              <a:tblGrid>
                <a:gridCol w="968188">
                  <a:extLst>
                    <a:ext uri="{9D8B030D-6E8A-4147-A177-3AD203B41FA5}">
                      <a16:colId xmlns:a16="http://schemas.microsoft.com/office/drawing/2014/main" val="2709411978"/>
                    </a:ext>
                  </a:extLst>
                </a:gridCol>
                <a:gridCol w="4335332">
                  <a:extLst>
                    <a:ext uri="{9D8B030D-6E8A-4147-A177-3AD203B41FA5}">
                      <a16:colId xmlns:a16="http://schemas.microsoft.com/office/drawing/2014/main" val="2861028828"/>
                    </a:ext>
                  </a:extLst>
                </a:gridCol>
              </a:tblGrid>
              <a:tr h="130584">
                <a:tc>
                  <a:txBody>
                    <a:bodyPr/>
                    <a:lstStyle/>
                    <a:p>
                      <a:r>
                        <a:rPr lang="en-US" sz="1000" b="0">
                          <a:solidFill>
                            <a:sysClr val="windowText" lastClr="000000"/>
                          </a:solidFill>
                          <a:latin typeface="Arial" panose="020B0604020202020204" pitchFamily="34" charset="0"/>
                          <a:cs typeface="Arial" panose="020B0604020202020204" pitchFamily="34" charset="0"/>
                        </a:rPr>
                        <a:t>Sign-Off #6</a:t>
                      </a:r>
                    </a:p>
                  </a:txBody>
                  <a:tcPr marL="45720" marB="27432" anchor="ctr">
                    <a:lnL w="1270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tc>
                  <a:txBody>
                    <a:bodyPr/>
                    <a:lstStyle/>
                    <a:p>
                      <a:r>
                        <a:rPr lang="en-US" sz="1000" b="0">
                          <a:solidFill>
                            <a:sysClr val="windowText" lastClr="000000"/>
                          </a:solidFill>
                          <a:latin typeface="Arial" panose="020B0604020202020204" pitchFamily="34" charset="0"/>
                          <a:cs typeface="Arial" panose="020B0604020202020204" pitchFamily="34" charset="0"/>
                        </a:rPr>
                        <a:t> </a:t>
                      </a:r>
                      <a:endParaRPr lang="en-US" sz="1000" b="1">
                        <a:solidFill>
                          <a:sysClr val="windowText" lastClr="000000"/>
                        </a:solidFill>
                        <a:latin typeface="Arial" panose="020B0604020202020204" pitchFamily="34" charset="0"/>
                        <a:cs typeface="Arial" panose="020B0604020202020204" pitchFamily="34" charset="0"/>
                      </a:endParaRPr>
                    </a:p>
                  </a:txBody>
                  <a:tcPr marL="45720" marB="27432" anchor="ctr">
                    <a:lnL w="6350" cap="flat" cmpd="sng" algn="ctr">
                      <a:solidFill>
                        <a:schemeClr val="bg1">
                          <a:lumMod val="85000"/>
                        </a:schemeClr>
                      </a:solidFill>
                      <a:prstDash val="solid"/>
                      <a:round/>
                      <a:headEnd type="none" w="med" len="med"/>
                      <a:tailEnd type="none" w="med" len="med"/>
                    </a:lnL>
                    <a:lnR w="12700" cap="flat" cmpd="sng" algn="ctr">
                      <a:noFill/>
                      <a:prstDash val="solid"/>
                      <a:round/>
                      <a:headEnd type="none" w="med" len="med"/>
                      <a:tailEnd type="none" w="med" len="med"/>
                    </a:lnR>
                    <a:lnB w="1270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03481481"/>
                  </a:ext>
                </a:extLst>
              </a:tr>
            </a:tbl>
          </a:graphicData>
        </a:graphic>
      </p:graphicFrame>
      <p:graphicFrame>
        <p:nvGraphicFramePr>
          <p:cNvPr id="41" name="Table 11">
            <a:extLst>
              <a:ext uri="{FF2B5EF4-FFF2-40B4-BE49-F238E27FC236}">
                <a16:creationId xmlns:a16="http://schemas.microsoft.com/office/drawing/2014/main" id="{BF809C2C-7921-1DD8-E5E2-C364F620586E}"/>
              </a:ext>
            </a:extLst>
          </p:cNvPr>
          <p:cNvGraphicFramePr>
            <a:graphicFrameLocks noGrp="1"/>
          </p:cNvGraphicFramePr>
          <p:nvPr userDrawn="1">
            <p:extLst>
              <p:ext uri="{D42A27DB-BD31-4B8C-83A1-F6EECF244321}">
                <p14:modId xmlns:p14="http://schemas.microsoft.com/office/powerpoint/2010/main" val="1396514352"/>
              </p:ext>
            </p:extLst>
          </p:nvPr>
        </p:nvGraphicFramePr>
        <p:xfrm>
          <a:off x="6388467" y="4628395"/>
          <a:ext cx="5303523" cy="539496"/>
        </p:xfrm>
        <a:graphic>
          <a:graphicData uri="http://schemas.openxmlformats.org/drawingml/2006/table">
            <a:tbl>
              <a:tblPr firstRow="1" bandRow="1">
                <a:tableStyleId>{5C22544A-7EE6-4342-B048-85BDC9FD1C3A}</a:tableStyleId>
              </a:tblPr>
              <a:tblGrid>
                <a:gridCol w="966020">
                  <a:extLst>
                    <a:ext uri="{9D8B030D-6E8A-4147-A177-3AD203B41FA5}">
                      <a16:colId xmlns:a16="http://schemas.microsoft.com/office/drawing/2014/main" val="3279156469"/>
                    </a:ext>
                  </a:extLst>
                </a:gridCol>
                <a:gridCol w="2849245">
                  <a:extLst>
                    <a:ext uri="{9D8B030D-6E8A-4147-A177-3AD203B41FA5}">
                      <a16:colId xmlns:a16="http://schemas.microsoft.com/office/drawing/2014/main" val="107418329"/>
                    </a:ext>
                  </a:extLst>
                </a:gridCol>
                <a:gridCol w="208280">
                  <a:extLst>
                    <a:ext uri="{9D8B030D-6E8A-4147-A177-3AD203B41FA5}">
                      <a16:colId xmlns:a16="http://schemas.microsoft.com/office/drawing/2014/main" val="4112279656"/>
                    </a:ext>
                  </a:extLst>
                </a:gridCol>
                <a:gridCol w="1279978">
                  <a:extLst>
                    <a:ext uri="{9D8B030D-6E8A-4147-A177-3AD203B41FA5}">
                      <a16:colId xmlns:a16="http://schemas.microsoft.com/office/drawing/2014/main" val="1524678321"/>
                    </a:ext>
                  </a:extLst>
                </a:gridCol>
              </a:tblGrid>
              <a:tr h="269748">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Signature</a:t>
                      </a:r>
                    </a:p>
                  </a:txBody>
                  <a:tcPr>
                    <a:noFill/>
                  </a:tcPr>
                </a:tc>
                <a:tc>
                  <a:txBody>
                    <a:bodyPr/>
                    <a:lstStyle/>
                    <a:p>
                      <a:endParaRPr lang="en-US" sz="1000">
                        <a:solidFill>
                          <a:srgbClr val="000000"/>
                        </a:solidFill>
                        <a:latin typeface="Arial" panose="020B0604020202020204" pitchFamily="34" charset="0"/>
                        <a:cs typeface="Arial" panose="020B0604020202020204" pitchFamily="34" charset="0"/>
                      </a:endParaRPr>
                    </a:p>
                  </a:txBody>
                  <a:tcPr>
                    <a:noFill/>
                  </a:tcPr>
                </a:tc>
                <a:tc>
                  <a:txBody>
                    <a:bodyPr/>
                    <a:lstStyle/>
                    <a:p>
                      <a:r>
                        <a:rPr lang="en-US" sz="1000" b="0" i="1">
                          <a:solidFill>
                            <a:srgbClr val="000000"/>
                          </a:solidFill>
                          <a:latin typeface="Arial" panose="020B0604020202020204" pitchFamily="34" charset="0"/>
                          <a:cs typeface="Arial" panose="020B0604020202020204" pitchFamily="34" charset="0"/>
                        </a:rPr>
                        <a:t>Date</a:t>
                      </a:r>
                    </a:p>
                  </a:txBody>
                  <a:tcPr>
                    <a:noFill/>
                  </a:tcPr>
                </a:tc>
                <a:extLst>
                  <a:ext uri="{0D108BD9-81ED-4DB2-BD59-A6C34878D82A}">
                    <a16:rowId xmlns:a16="http://schemas.microsoft.com/office/drawing/2014/main" val="790640291"/>
                  </a:ext>
                </a:extLst>
              </a:tr>
              <a:tr h="269748">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tc>
                  <a:txBody>
                    <a:bodyPr/>
                    <a:lstStyle/>
                    <a:p>
                      <a:endParaRPr lang="en-US" sz="1000">
                        <a:latin typeface="Arial" panose="020B0604020202020204" pitchFamily="34" charset="0"/>
                        <a:cs typeface="Arial" panose="020B0604020202020204" pitchFamily="34" charset="0"/>
                      </a:endParaRPr>
                    </a:p>
                  </a:txBody>
                  <a:tcPr>
                    <a:noFill/>
                  </a:tcPr>
                </a:tc>
                <a:tc>
                  <a:txBody>
                    <a:bodyPr/>
                    <a:lstStyle/>
                    <a:p>
                      <a:endParaRPr lang="en-US" sz="1000">
                        <a:latin typeface="Arial" panose="020B0604020202020204" pitchFamily="34" charset="0"/>
                        <a:cs typeface="Arial" panose="020B0604020202020204" pitchFamily="34" charset="0"/>
                      </a:endParaRPr>
                    </a:p>
                  </a:txBody>
                  <a:tcPr>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20108497"/>
                  </a:ext>
                </a:extLst>
              </a:tr>
            </a:tbl>
          </a:graphicData>
        </a:graphic>
      </p:graphicFrame>
      <p:sp>
        <p:nvSpPr>
          <p:cNvPr id="43" name="Content Placeholder 42">
            <a:extLst>
              <a:ext uri="{FF2B5EF4-FFF2-40B4-BE49-F238E27FC236}">
                <a16:creationId xmlns:a16="http://schemas.microsoft.com/office/drawing/2014/main" id="{6EA05742-06E6-3E3C-8571-FAB9CF3D5C01}"/>
              </a:ext>
            </a:extLst>
          </p:cNvPr>
          <p:cNvSpPr>
            <a:spLocks noGrp="1"/>
          </p:cNvSpPr>
          <p:nvPr>
            <p:ph sz="quarter" idx="15" hasCustomPrompt="1"/>
          </p:nvPr>
        </p:nvSpPr>
        <p:spPr>
          <a:xfrm>
            <a:off x="1458262" y="2085250"/>
            <a:ext cx="10233728" cy="247162"/>
          </a:xfrm>
        </p:spPr>
        <p:txBody>
          <a:bodyPr>
            <a:normAutofit/>
          </a:bodyPr>
          <a:lstStyle>
            <a:lvl1pPr marL="0" indent="0">
              <a:buNone/>
              <a:defRPr sz="1000">
                <a:latin typeface="Arial" panose="020B0604020202020204" pitchFamily="34" charset="0"/>
                <a:cs typeface="Arial" panose="020B0604020202020204" pitchFamily="34" charset="0"/>
              </a:defRPr>
            </a:lvl1pPr>
          </a:lstStyle>
          <a:p>
            <a:pPr lvl="0"/>
            <a:r>
              <a:rPr lang="en-US"/>
              <a:t>Deal Name - County, State</a:t>
            </a:r>
          </a:p>
        </p:txBody>
      </p:sp>
      <p:sp>
        <p:nvSpPr>
          <p:cNvPr id="45" name="Slide Number Placeholder 1">
            <a:extLst>
              <a:ext uri="{FF2B5EF4-FFF2-40B4-BE49-F238E27FC236}">
                <a16:creationId xmlns:a16="http://schemas.microsoft.com/office/drawing/2014/main" id="{EC9D126C-8D21-D8BC-84B9-839DF2D07A8A}"/>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19BDD-DD89-4CD9-A1F3-D76BEB018B7B}" type="slidenum">
              <a:rPr lang="en-US" sz="1000" smtClean="0">
                <a:latin typeface="Arial" panose="020B0604020202020204" pitchFamily="34" charset="0"/>
                <a:cs typeface="Arial" panose="020B0604020202020204" pitchFamily="34" charset="0"/>
              </a:rPr>
              <a:pPr/>
              <a:t>‹#›</a:t>
            </a:fld>
            <a:endParaRPr lang="en-US" sz="10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7823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xecutive Summary">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E4DE5016-2788-DB03-A98B-AB1EFE97EFEA}"/>
              </a:ext>
            </a:extLst>
          </p:cNvPr>
          <p:cNvSpPr>
            <a:spLocks noGrp="1"/>
          </p:cNvSpPr>
          <p:nvPr>
            <p:ph type="body" sz="quarter" idx="12" hasCustomPrompt="1"/>
          </p:nvPr>
        </p:nvSpPr>
        <p:spPr>
          <a:xfrm>
            <a:off x="392114" y="6483933"/>
            <a:ext cx="10491166" cy="374650"/>
          </a:xfrm>
        </p:spPr>
        <p:txBody>
          <a:bodyPr anchor="t">
            <a:normAutofit/>
          </a:bodyPr>
          <a:lstStyle>
            <a:lvl1pPr marL="228600" indent="-228600">
              <a:lnSpc>
                <a:spcPct val="100000"/>
              </a:lnSpc>
              <a:spcBef>
                <a:spcPts val="0"/>
              </a:spcBef>
              <a:buFont typeface="+mj-lt"/>
              <a:buAutoNum type="arabicPeriod"/>
              <a:defRPr sz="800">
                <a:latin typeface="Arial" panose="020B0604020202020204" pitchFamily="34" charset="0"/>
                <a:cs typeface="Arial" panose="020B0604020202020204" pitchFamily="34" charset="0"/>
              </a:defRPr>
            </a:lvl1pPr>
          </a:lstStyle>
          <a:p>
            <a:pPr lvl="0"/>
            <a:r>
              <a:rPr lang="en-US"/>
              <a:t>Footer</a:t>
            </a:r>
          </a:p>
        </p:txBody>
      </p:sp>
      <p:sp>
        <p:nvSpPr>
          <p:cNvPr id="14" name="Rectangle 7">
            <a:extLst>
              <a:ext uri="{FF2B5EF4-FFF2-40B4-BE49-F238E27FC236}">
                <a16:creationId xmlns:a16="http://schemas.microsoft.com/office/drawing/2014/main" id="{97F4A706-0F4D-4706-A9FB-B9355F5842B6}"/>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AEF7DA6-42FA-443D-82FD-DDB40A0BB056}"/>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3" name="Slide Number Placeholder 1">
            <a:extLst>
              <a:ext uri="{FF2B5EF4-FFF2-40B4-BE49-F238E27FC236}">
                <a16:creationId xmlns:a16="http://schemas.microsoft.com/office/drawing/2014/main" id="{C0264C16-D2DF-5B85-D3C4-B1B07C55B97B}"/>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19BDD-DD89-4CD9-A1F3-D76BEB018B7B}" type="slidenum">
              <a:rPr lang="en-US" sz="1000" smtClean="0">
                <a:latin typeface="Arial" panose="020B0604020202020204" pitchFamily="34" charset="0"/>
                <a:cs typeface="Arial" panose="020B0604020202020204" pitchFamily="34" charset="0"/>
              </a:rPr>
              <a:pPr/>
              <a:t>‹#›</a:t>
            </a:fld>
            <a:endParaRPr lang="en-US" sz="1000">
              <a:latin typeface="Arial" panose="020B0604020202020204" pitchFamily="34" charset="0"/>
              <a:cs typeface="Arial" panose="020B0604020202020204" pitchFamily="34" charset="0"/>
            </a:endParaRPr>
          </a:p>
        </p:txBody>
      </p:sp>
      <p:sp>
        <p:nvSpPr>
          <p:cNvPr id="4" name="Rectangle 7">
            <a:extLst>
              <a:ext uri="{FF2B5EF4-FFF2-40B4-BE49-F238E27FC236}">
                <a16:creationId xmlns:a16="http://schemas.microsoft.com/office/drawing/2014/main" id="{64FA3D60-430C-AB99-ADFF-A7A254F13762}"/>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6F1D922F-995F-7FF0-F91E-30F742E8759E}"/>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B2526F0-0C04-4EEA-EA6D-BA066C6F8EC0}"/>
              </a:ext>
            </a:extLst>
          </p:cNvPr>
          <p:cNvSpPr txBox="1"/>
          <p:nvPr userDrawn="1"/>
        </p:nvSpPr>
        <p:spPr>
          <a:xfrm>
            <a:off x="333375" y="73388"/>
            <a:ext cx="3928074" cy="523220"/>
          </a:xfrm>
          <a:prstGeom prst="rect">
            <a:avLst/>
          </a:prstGeom>
          <a:noFill/>
        </p:spPr>
        <p:txBody>
          <a:bodyPr wrap="square" rtlCol="0">
            <a:spAutoFit/>
          </a:bodyPr>
          <a:lstStyle/>
          <a:p>
            <a:pPr algn="l"/>
            <a:r>
              <a:rPr lang="en-US" sz="2800" b="1">
                <a:solidFill>
                  <a:schemeClr val="tx1"/>
                </a:solidFill>
                <a:latin typeface="Arial" panose="020B0604020202020204" pitchFamily="34" charset="0"/>
                <a:cs typeface="Arial" panose="020B0604020202020204" pitchFamily="34" charset="0"/>
              </a:rPr>
              <a:t>Executive Summary</a:t>
            </a:r>
          </a:p>
        </p:txBody>
      </p:sp>
      <p:sp>
        <p:nvSpPr>
          <p:cNvPr id="7" name="TextBox 6">
            <a:extLst>
              <a:ext uri="{FF2B5EF4-FFF2-40B4-BE49-F238E27FC236}">
                <a16:creationId xmlns:a16="http://schemas.microsoft.com/office/drawing/2014/main" id="{C541EFD0-36A4-A450-E728-17FE6C7E6CEB}"/>
              </a:ext>
            </a:extLst>
          </p:cNvPr>
          <p:cNvSpPr txBox="1"/>
          <p:nvPr userDrawn="1"/>
        </p:nvSpPr>
        <p:spPr>
          <a:xfrm>
            <a:off x="3819675" y="169777"/>
            <a:ext cx="262371" cy="400110"/>
          </a:xfrm>
          <a:prstGeom prst="rect">
            <a:avLst/>
          </a:prstGeom>
          <a:noFill/>
        </p:spPr>
        <p:txBody>
          <a:bodyPr wrap="square" rtlCol="0">
            <a:spAutoFit/>
          </a:bodyPr>
          <a:lstStyle/>
          <a:p>
            <a:pPr algn="l"/>
            <a:r>
              <a:rPr lang="en-US" sz="2000" b="0">
                <a:latin typeface="Arial" panose="020B0604020202020204" pitchFamily="34" charset="0"/>
                <a:cs typeface="Arial" panose="020B0604020202020204" pitchFamily="34" charset="0"/>
              </a:rPr>
              <a:t>|</a:t>
            </a:r>
            <a:endParaRPr lang="en-US" sz="2000" b="1">
              <a:solidFill>
                <a:schemeClr val="tx1"/>
              </a:solidFill>
              <a:latin typeface="Arial" panose="020B0604020202020204" pitchFamily="34" charset="0"/>
              <a:cs typeface="Arial" panose="020B0604020202020204" pitchFamily="34" charset="0"/>
            </a:endParaRPr>
          </a:p>
        </p:txBody>
      </p:sp>
      <p:sp>
        <p:nvSpPr>
          <p:cNvPr id="8" name="Text Placeholder 17">
            <a:extLst>
              <a:ext uri="{FF2B5EF4-FFF2-40B4-BE49-F238E27FC236}">
                <a16:creationId xmlns:a16="http://schemas.microsoft.com/office/drawing/2014/main" id="{4E814CF0-3259-14A7-E507-5949F673612F}"/>
              </a:ext>
            </a:extLst>
          </p:cNvPr>
          <p:cNvSpPr>
            <a:spLocks noGrp="1"/>
          </p:cNvSpPr>
          <p:nvPr>
            <p:ph type="body" sz="quarter" idx="14" hasCustomPrompt="1"/>
          </p:nvPr>
        </p:nvSpPr>
        <p:spPr>
          <a:xfrm>
            <a:off x="3967053" y="228719"/>
            <a:ext cx="8204662" cy="357794"/>
          </a:xfrm>
        </p:spPr>
        <p:txBody>
          <a:bodyPr/>
          <a:lstStyle>
            <a:lvl1pPr marL="0" indent="0">
              <a:buNone/>
              <a:defRPr sz="2000">
                <a:latin typeface="Arial" panose="020B0604020202020204" pitchFamily="34" charset="0"/>
                <a:cs typeface="Arial" panose="020B0604020202020204" pitchFamily="34" charset="0"/>
              </a:defRPr>
            </a:lvl1pPr>
            <a:lvl2pPr marL="457200" indent="0">
              <a:buNone/>
              <a:defRPr/>
            </a:lvl2pPr>
          </a:lstStyle>
          <a:p>
            <a:pPr lvl="0"/>
            <a:r>
              <a:rPr lang="en-US"/>
              <a:t>Deal Name</a:t>
            </a:r>
          </a:p>
        </p:txBody>
      </p:sp>
      <p:sp>
        <p:nvSpPr>
          <p:cNvPr id="11" name="Picture Placeholder 10">
            <a:extLst>
              <a:ext uri="{FF2B5EF4-FFF2-40B4-BE49-F238E27FC236}">
                <a16:creationId xmlns:a16="http://schemas.microsoft.com/office/drawing/2014/main" id="{2D3D1D8C-B6D2-46CF-5094-8E6F871C6323}"/>
              </a:ext>
            </a:extLst>
          </p:cNvPr>
          <p:cNvSpPr>
            <a:spLocks noGrp="1"/>
          </p:cNvSpPr>
          <p:nvPr>
            <p:ph type="pic" sz="quarter" idx="15" hasCustomPrompt="1"/>
          </p:nvPr>
        </p:nvSpPr>
        <p:spPr>
          <a:xfrm>
            <a:off x="6935788" y="994315"/>
            <a:ext cx="5235575" cy="5291138"/>
          </a:xfrm>
        </p:spPr>
        <p:txBody>
          <a:bodyPr>
            <a:normAutofit/>
          </a:bodyPr>
          <a:lstStyle>
            <a:lvl1pPr>
              <a:defRPr sz="1000" b="0" u="none">
                <a:latin typeface="Arial" panose="020B0604020202020204" pitchFamily="34" charset="0"/>
                <a:cs typeface="Arial" panose="020B0604020202020204" pitchFamily="34" charset="0"/>
              </a:defRPr>
            </a:lvl1pPr>
          </a:lstStyle>
          <a:p>
            <a:r>
              <a:rPr lang="en-US" sz="1000"/>
              <a:t>Map</a:t>
            </a:r>
          </a:p>
        </p:txBody>
      </p:sp>
      <p:sp>
        <p:nvSpPr>
          <p:cNvPr id="12" name="Table Placeholder 24">
            <a:extLst>
              <a:ext uri="{FF2B5EF4-FFF2-40B4-BE49-F238E27FC236}">
                <a16:creationId xmlns:a16="http://schemas.microsoft.com/office/drawing/2014/main" id="{D4E3CA29-B075-98AF-3112-2330664AA72C}"/>
              </a:ext>
            </a:extLst>
          </p:cNvPr>
          <p:cNvSpPr>
            <a:spLocks noGrp="1"/>
          </p:cNvSpPr>
          <p:nvPr>
            <p:ph type="tbl" sz="quarter" idx="16" hasCustomPrompt="1"/>
          </p:nvPr>
        </p:nvSpPr>
        <p:spPr>
          <a:xfrm>
            <a:off x="392114" y="3985404"/>
            <a:ext cx="6370995" cy="2300049"/>
          </a:xfrm>
        </p:spPr>
        <p:txBody>
          <a:bodyPr>
            <a:normAutofit/>
          </a:bodyPr>
          <a:lstStyle>
            <a:lvl1pPr>
              <a:defRPr sz="1000">
                <a:latin typeface="Arial" panose="020B0604020202020204" pitchFamily="34" charset="0"/>
                <a:cs typeface="Arial" panose="020B0604020202020204" pitchFamily="34" charset="0"/>
              </a:defRPr>
            </a:lvl1pPr>
          </a:lstStyle>
          <a:p>
            <a:r>
              <a:rPr lang="en-US" sz="1000">
                <a:latin typeface="Arial" panose="020B0604020202020204" pitchFamily="34" charset="0"/>
                <a:cs typeface="Arial" panose="020B0604020202020204" pitchFamily="34" charset="0"/>
              </a:rPr>
              <a:t>Table</a:t>
            </a:r>
            <a:endParaRPr lang="en-US"/>
          </a:p>
        </p:txBody>
      </p:sp>
      <p:sp>
        <p:nvSpPr>
          <p:cNvPr id="15" name="Text Placeholder 26">
            <a:extLst>
              <a:ext uri="{FF2B5EF4-FFF2-40B4-BE49-F238E27FC236}">
                <a16:creationId xmlns:a16="http://schemas.microsoft.com/office/drawing/2014/main" id="{7DFE5F9E-D14C-5337-73B7-874B1B0C6A69}"/>
              </a:ext>
            </a:extLst>
          </p:cNvPr>
          <p:cNvSpPr>
            <a:spLocks noGrp="1"/>
          </p:cNvSpPr>
          <p:nvPr>
            <p:ph type="body" sz="quarter" idx="13" hasCustomPrompt="1"/>
          </p:nvPr>
        </p:nvSpPr>
        <p:spPr>
          <a:xfrm>
            <a:off x="385134" y="1020194"/>
            <a:ext cx="6370995" cy="2766730"/>
          </a:xfrm>
        </p:spPr>
        <p:txBody>
          <a:bodyPr>
            <a:normAutofit/>
          </a:bodyPr>
          <a:lstStyle>
            <a:lvl1pPr>
              <a:defRPr sz="1000">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Text</a:t>
            </a:r>
          </a:p>
        </p:txBody>
      </p:sp>
    </p:spTree>
    <p:extLst>
      <p:ext uri="{BB962C8B-B14F-4D97-AF65-F5344CB8AC3E}">
        <p14:creationId xmlns:p14="http://schemas.microsoft.com/office/powerpoint/2010/main" val="29187046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E4DE5016-2788-DB03-A98B-AB1EFE97EFEA}"/>
              </a:ext>
            </a:extLst>
          </p:cNvPr>
          <p:cNvSpPr>
            <a:spLocks noGrp="1"/>
          </p:cNvSpPr>
          <p:nvPr>
            <p:ph type="body" sz="quarter" idx="12" hasCustomPrompt="1"/>
          </p:nvPr>
        </p:nvSpPr>
        <p:spPr>
          <a:xfrm>
            <a:off x="392114" y="6483933"/>
            <a:ext cx="10491166" cy="374650"/>
          </a:xfrm>
        </p:spPr>
        <p:txBody>
          <a:bodyPr anchor="t">
            <a:normAutofit/>
          </a:bodyPr>
          <a:lstStyle>
            <a:lvl1pPr marL="228600" indent="-228600">
              <a:lnSpc>
                <a:spcPct val="100000"/>
              </a:lnSpc>
              <a:spcBef>
                <a:spcPts val="0"/>
              </a:spcBef>
              <a:buFont typeface="+mj-lt"/>
              <a:buAutoNum type="arabicPeriod"/>
              <a:defRPr sz="800">
                <a:latin typeface="Arial" panose="020B0604020202020204" pitchFamily="34" charset="0"/>
                <a:cs typeface="Arial" panose="020B0604020202020204" pitchFamily="34" charset="0"/>
              </a:defRPr>
            </a:lvl1pPr>
          </a:lstStyle>
          <a:p>
            <a:pPr lvl="0"/>
            <a:r>
              <a:rPr lang="en-US"/>
              <a:t>Footer</a:t>
            </a:r>
          </a:p>
        </p:txBody>
      </p:sp>
      <p:sp>
        <p:nvSpPr>
          <p:cNvPr id="14" name="Rectangle 7">
            <a:extLst>
              <a:ext uri="{FF2B5EF4-FFF2-40B4-BE49-F238E27FC236}">
                <a16:creationId xmlns:a16="http://schemas.microsoft.com/office/drawing/2014/main" id="{97F4A706-0F4D-4706-A9FB-B9355F5842B6}"/>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D95C57-D0F9-4D39-81D4-8BE1F77E0553}"/>
              </a:ext>
            </a:extLst>
          </p:cNvPr>
          <p:cNvSpPr>
            <a:spLocks noGrp="1"/>
          </p:cNvSpPr>
          <p:nvPr>
            <p:ph type="title" hasCustomPrompt="1"/>
          </p:nvPr>
        </p:nvSpPr>
        <p:spPr>
          <a:xfrm>
            <a:off x="333375" y="105971"/>
            <a:ext cx="11125200" cy="496493"/>
          </a:xfrm>
          <a:prstGeom prst="rect">
            <a:avLst/>
          </a:prstGeom>
        </p:spPr>
        <p:txBody>
          <a:bodyPr anchor="ctr"/>
          <a:lstStyle>
            <a:lvl1pPr algn="l">
              <a:defRPr sz="2800" b="1">
                <a:solidFill>
                  <a:schemeClr val="tx1"/>
                </a:solidFill>
                <a:latin typeface="Arial" panose="020B0604020202020204" pitchFamily="34" charset="0"/>
                <a:cs typeface="Arial" panose="020B0604020202020204" pitchFamily="34" charset="0"/>
              </a:defRPr>
            </a:lvl1pPr>
          </a:lstStyle>
          <a:p>
            <a:r>
              <a:rPr lang="en-US"/>
              <a:t>Click to Edit</a:t>
            </a:r>
          </a:p>
        </p:txBody>
      </p:sp>
      <p:cxnSp>
        <p:nvCxnSpPr>
          <p:cNvPr id="9" name="Straight Connector 8">
            <a:extLst>
              <a:ext uri="{FF2B5EF4-FFF2-40B4-BE49-F238E27FC236}">
                <a16:creationId xmlns:a16="http://schemas.microsoft.com/office/drawing/2014/main" id="{5AEF7DA6-42FA-443D-82FD-DDB40A0BB056}"/>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3" name="Slide Number Placeholder 1">
            <a:extLst>
              <a:ext uri="{FF2B5EF4-FFF2-40B4-BE49-F238E27FC236}">
                <a16:creationId xmlns:a16="http://schemas.microsoft.com/office/drawing/2014/main" id="{C0264C16-D2DF-5B85-D3C4-B1B07C55B97B}"/>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19BDD-DD89-4CD9-A1F3-D76BEB018B7B}" type="slidenum">
              <a:rPr lang="en-US" sz="1000" smtClean="0">
                <a:latin typeface="Arial" panose="020B0604020202020204" pitchFamily="34" charset="0"/>
                <a:cs typeface="Arial" panose="020B0604020202020204" pitchFamily="34" charset="0"/>
              </a:rPr>
              <a:pPr/>
              <a:t>‹#›</a:t>
            </a:fld>
            <a:endParaRPr lang="en-US" sz="1000">
              <a:latin typeface="Arial" panose="020B0604020202020204" pitchFamily="34" charset="0"/>
              <a:cs typeface="Arial" panose="020B0604020202020204" pitchFamily="34" charset="0"/>
            </a:endParaRPr>
          </a:p>
        </p:txBody>
      </p:sp>
      <p:sp>
        <p:nvSpPr>
          <p:cNvPr id="4" name="Text Placeholder 5">
            <a:extLst>
              <a:ext uri="{FF2B5EF4-FFF2-40B4-BE49-F238E27FC236}">
                <a16:creationId xmlns:a16="http://schemas.microsoft.com/office/drawing/2014/main" id="{67327E0A-AA77-332B-50FA-A6E8C02501F8}"/>
              </a:ext>
            </a:extLst>
          </p:cNvPr>
          <p:cNvSpPr>
            <a:spLocks noGrp="1"/>
          </p:cNvSpPr>
          <p:nvPr>
            <p:ph type="body" sz="quarter" idx="13"/>
          </p:nvPr>
        </p:nvSpPr>
        <p:spPr>
          <a:xfrm>
            <a:off x="385134" y="1020194"/>
            <a:ext cx="6370995" cy="2766730"/>
          </a:xfrm>
        </p:spPr>
        <p:txBody>
          <a:bodyPr>
            <a:normAutofit/>
          </a:bodyPr>
          <a:lstStyle>
            <a:lvl1pPr>
              <a:defRPr sz="1000">
                <a:latin typeface="Arial" panose="020B0604020202020204" pitchFamily="34" charset="0"/>
                <a:cs typeface="Arial" panose="020B0604020202020204" pitchFamily="34" charset="0"/>
              </a:defRPr>
            </a:lvl1pPr>
          </a:lstStyle>
          <a:p>
            <a:endParaRPr lang="en-US"/>
          </a:p>
        </p:txBody>
      </p:sp>
    </p:spTree>
    <p:extLst>
      <p:ext uri="{BB962C8B-B14F-4D97-AF65-F5344CB8AC3E}">
        <p14:creationId xmlns:p14="http://schemas.microsoft.com/office/powerpoint/2010/main" val="30834183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ell Details">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E4DE5016-2788-DB03-A98B-AB1EFE97EFEA}"/>
              </a:ext>
            </a:extLst>
          </p:cNvPr>
          <p:cNvSpPr>
            <a:spLocks noGrp="1"/>
          </p:cNvSpPr>
          <p:nvPr>
            <p:ph type="body" sz="quarter" idx="12" hasCustomPrompt="1"/>
          </p:nvPr>
        </p:nvSpPr>
        <p:spPr>
          <a:xfrm>
            <a:off x="392114" y="6483933"/>
            <a:ext cx="10491166" cy="374650"/>
          </a:xfrm>
        </p:spPr>
        <p:txBody>
          <a:bodyPr anchor="t">
            <a:normAutofit/>
          </a:bodyPr>
          <a:lstStyle>
            <a:lvl1pPr marL="228600" indent="-228600">
              <a:lnSpc>
                <a:spcPct val="100000"/>
              </a:lnSpc>
              <a:spcBef>
                <a:spcPts val="0"/>
              </a:spcBef>
              <a:buFont typeface="+mj-lt"/>
              <a:buAutoNum type="arabicPeriod"/>
              <a:defRPr sz="800">
                <a:latin typeface="Arial" panose="020B0604020202020204" pitchFamily="34" charset="0"/>
                <a:cs typeface="Arial" panose="020B0604020202020204" pitchFamily="34" charset="0"/>
              </a:defRPr>
            </a:lvl1pPr>
          </a:lstStyle>
          <a:p>
            <a:pPr lvl="0"/>
            <a:r>
              <a:rPr lang="en-US"/>
              <a:t>Footer</a:t>
            </a:r>
          </a:p>
        </p:txBody>
      </p:sp>
      <p:sp>
        <p:nvSpPr>
          <p:cNvPr id="14" name="Rectangle 7">
            <a:extLst>
              <a:ext uri="{FF2B5EF4-FFF2-40B4-BE49-F238E27FC236}">
                <a16:creationId xmlns:a16="http://schemas.microsoft.com/office/drawing/2014/main" id="{97F4A706-0F4D-4706-A9FB-B9355F5842B6}"/>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AEF7DA6-42FA-443D-82FD-DDB40A0BB056}"/>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3" name="Slide Number Placeholder 1">
            <a:extLst>
              <a:ext uri="{FF2B5EF4-FFF2-40B4-BE49-F238E27FC236}">
                <a16:creationId xmlns:a16="http://schemas.microsoft.com/office/drawing/2014/main" id="{C0264C16-D2DF-5B85-D3C4-B1B07C55B97B}"/>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19BDD-DD89-4CD9-A1F3-D76BEB018B7B}" type="slidenum">
              <a:rPr lang="en-US" sz="1000" smtClean="0">
                <a:latin typeface="Arial" panose="020B0604020202020204" pitchFamily="34" charset="0"/>
                <a:cs typeface="Arial" panose="020B0604020202020204" pitchFamily="34" charset="0"/>
              </a:rPr>
              <a:pPr/>
              <a:t>‹#›</a:t>
            </a:fld>
            <a:endParaRPr lang="en-US" sz="1000">
              <a:latin typeface="Arial" panose="020B0604020202020204" pitchFamily="34" charset="0"/>
              <a:cs typeface="Arial" panose="020B0604020202020204" pitchFamily="34" charset="0"/>
            </a:endParaRPr>
          </a:p>
        </p:txBody>
      </p:sp>
      <p:sp>
        <p:nvSpPr>
          <p:cNvPr id="4" name="Rectangle 7">
            <a:extLst>
              <a:ext uri="{FF2B5EF4-FFF2-40B4-BE49-F238E27FC236}">
                <a16:creationId xmlns:a16="http://schemas.microsoft.com/office/drawing/2014/main" id="{64FA3D60-430C-AB99-ADFF-A7A254F13762}"/>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6F1D922F-995F-7FF0-F91E-30F742E8759E}"/>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B2526F0-0C04-4EEA-EA6D-BA066C6F8EC0}"/>
              </a:ext>
            </a:extLst>
          </p:cNvPr>
          <p:cNvSpPr txBox="1"/>
          <p:nvPr userDrawn="1"/>
        </p:nvSpPr>
        <p:spPr>
          <a:xfrm>
            <a:off x="333375" y="73388"/>
            <a:ext cx="2318770" cy="523220"/>
          </a:xfrm>
          <a:prstGeom prst="rect">
            <a:avLst/>
          </a:prstGeom>
          <a:noFill/>
        </p:spPr>
        <p:txBody>
          <a:bodyPr wrap="square" rtlCol="0">
            <a:spAutoFit/>
          </a:bodyPr>
          <a:lstStyle/>
          <a:p>
            <a:pPr algn="l"/>
            <a:r>
              <a:rPr lang="en-US" sz="2800" b="1">
                <a:solidFill>
                  <a:schemeClr val="tx1"/>
                </a:solidFill>
                <a:latin typeface="Arial" panose="020B0604020202020204" pitchFamily="34" charset="0"/>
                <a:cs typeface="Arial" panose="020B0604020202020204" pitchFamily="34" charset="0"/>
              </a:rPr>
              <a:t>Well Details</a:t>
            </a:r>
          </a:p>
        </p:txBody>
      </p:sp>
      <p:sp>
        <p:nvSpPr>
          <p:cNvPr id="7" name="TextBox 6">
            <a:extLst>
              <a:ext uri="{FF2B5EF4-FFF2-40B4-BE49-F238E27FC236}">
                <a16:creationId xmlns:a16="http://schemas.microsoft.com/office/drawing/2014/main" id="{C541EFD0-36A4-A450-E728-17FE6C7E6CEB}"/>
              </a:ext>
            </a:extLst>
          </p:cNvPr>
          <p:cNvSpPr txBox="1"/>
          <p:nvPr userDrawn="1"/>
        </p:nvSpPr>
        <p:spPr>
          <a:xfrm>
            <a:off x="2433487" y="169777"/>
            <a:ext cx="262371" cy="400110"/>
          </a:xfrm>
          <a:prstGeom prst="rect">
            <a:avLst/>
          </a:prstGeom>
          <a:noFill/>
        </p:spPr>
        <p:txBody>
          <a:bodyPr wrap="square" rtlCol="0">
            <a:spAutoFit/>
          </a:bodyPr>
          <a:lstStyle/>
          <a:p>
            <a:pPr algn="l"/>
            <a:r>
              <a:rPr lang="en-US" sz="2000" b="0">
                <a:latin typeface="Arial" panose="020B0604020202020204" pitchFamily="34" charset="0"/>
                <a:cs typeface="Arial" panose="020B0604020202020204" pitchFamily="34" charset="0"/>
              </a:rPr>
              <a:t>|</a:t>
            </a:r>
            <a:endParaRPr lang="en-US" sz="2000" b="1">
              <a:solidFill>
                <a:schemeClr val="tx1"/>
              </a:solidFill>
              <a:latin typeface="Arial" panose="020B0604020202020204" pitchFamily="34" charset="0"/>
              <a:cs typeface="Arial" panose="020B0604020202020204" pitchFamily="34" charset="0"/>
            </a:endParaRPr>
          </a:p>
        </p:txBody>
      </p:sp>
      <p:sp>
        <p:nvSpPr>
          <p:cNvPr id="8" name="Text Placeholder 17">
            <a:extLst>
              <a:ext uri="{FF2B5EF4-FFF2-40B4-BE49-F238E27FC236}">
                <a16:creationId xmlns:a16="http://schemas.microsoft.com/office/drawing/2014/main" id="{4E814CF0-3259-14A7-E507-5949F673612F}"/>
              </a:ext>
            </a:extLst>
          </p:cNvPr>
          <p:cNvSpPr>
            <a:spLocks noGrp="1"/>
          </p:cNvSpPr>
          <p:nvPr>
            <p:ph type="body" sz="quarter" idx="14" hasCustomPrompt="1"/>
          </p:nvPr>
        </p:nvSpPr>
        <p:spPr>
          <a:xfrm>
            <a:off x="2580865" y="228719"/>
            <a:ext cx="8204662" cy="357794"/>
          </a:xfrm>
        </p:spPr>
        <p:txBody>
          <a:bodyPr/>
          <a:lstStyle>
            <a:lvl1pPr marL="0" indent="0">
              <a:buNone/>
              <a:defRPr sz="2000">
                <a:latin typeface="Arial" panose="020B0604020202020204" pitchFamily="34" charset="0"/>
                <a:cs typeface="Arial" panose="020B0604020202020204" pitchFamily="34" charset="0"/>
              </a:defRPr>
            </a:lvl1pPr>
            <a:lvl2pPr marL="457200" indent="0">
              <a:buNone/>
              <a:defRPr/>
            </a:lvl2pPr>
          </a:lstStyle>
          <a:p>
            <a:pPr lvl="0"/>
            <a:r>
              <a:rPr lang="en-US"/>
              <a:t>Deal Name</a:t>
            </a:r>
          </a:p>
        </p:txBody>
      </p:sp>
      <p:sp>
        <p:nvSpPr>
          <p:cNvPr id="10" name="Picture Placeholder 10">
            <a:extLst>
              <a:ext uri="{FF2B5EF4-FFF2-40B4-BE49-F238E27FC236}">
                <a16:creationId xmlns:a16="http://schemas.microsoft.com/office/drawing/2014/main" id="{F2411997-20E4-9904-E10B-1FBF468BA801}"/>
              </a:ext>
            </a:extLst>
          </p:cNvPr>
          <p:cNvSpPr>
            <a:spLocks noGrp="1"/>
          </p:cNvSpPr>
          <p:nvPr>
            <p:ph type="pic" sz="quarter" idx="15" hasCustomPrompt="1"/>
          </p:nvPr>
        </p:nvSpPr>
        <p:spPr>
          <a:xfrm>
            <a:off x="8348870" y="994314"/>
            <a:ext cx="3041373" cy="2931639"/>
          </a:xfrm>
        </p:spPr>
        <p:txBody>
          <a:bodyPr>
            <a:normAutofit/>
          </a:bodyPr>
          <a:lstStyle>
            <a:lvl1pPr>
              <a:defRPr sz="1000">
                <a:latin typeface="Arial" panose="020B0604020202020204" pitchFamily="34" charset="0"/>
                <a:cs typeface="Arial" panose="020B0604020202020204" pitchFamily="34" charset="0"/>
              </a:defRPr>
            </a:lvl1pPr>
          </a:lstStyle>
          <a:p>
            <a:r>
              <a:rPr lang="en-US" sz="1000"/>
              <a:t>Map</a:t>
            </a:r>
            <a:endParaRPr lang="en-US"/>
          </a:p>
        </p:txBody>
      </p:sp>
      <p:sp>
        <p:nvSpPr>
          <p:cNvPr id="2" name="Table Placeholder 24">
            <a:extLst>
              <a:ext uri="{FF2B5EF4-FFF2-40B4-BE49-F238E27FC236}">
                <a16:creationId xmlns:a16="http://schemas.microsoft.com/office/drawing/2014/main" id="{1C334CB3-C4D5-4CA4-C89E-837C52AE85F7}"/>
              </a:ext>
            </a:extLst>
          </p:cNvPr>
          <p:cNvSpPr>
            <a:spLocks noGrp="1"/>
          </p:cNvSpPr>
          <p:nvPr>
            <p:ph type="tbl" sz="quarter" idx="16" hasCustomPrompt="1"/>
          </p:nvPr>
        </p:nvSpPr>
        <p:spPr>
          <a:xfrm>
            <a:off x="384163" y="4304852"/>
            <a:ext cx="11463280" cy="1893957"/>
          </a:xfrm>
        </p:spPr>
        <p:txBody>
          <a:bodyPr>
            <a:normAutofit/>
          </a:bodyPr>
          <a:lstStyle>
            <a:lvl1pPr>
              <a:defRPr sz="1000">
                <a:latin typeface="Arial" panose="020B0604020202020204" pitchFamily="34" charset="0"/>
                <a:cs typeface="Arial" panose="020B0604020202020204" pitchFamily="34" charset="0"/>
              </a:defRPr>
            </a:lvl1pPr>
          </a:lstStyle>
          <a:p>
            <a:r>
              <a:rPr lang="en-US" sz="1000">
                <a:latin typeface="Arial" panose="020B0604020202020204" pitchFamily="34" charset="0"/>
                <a:cs typeface="Arial" panose="020B0604020202020204" pitchFamily="34" charset="0"/>
              </a:rPr>
              <a:t>Table</a:t>
            </a:r>
            <a:endParaRPr lang="en-US"/>
          </a:p>
        </p:txBody>
      </p:sp>
      <p:sp>
        <p:nvSpPr>
          <p:cNvPr id="11" name="Table Placeholder 24">
            <a:extLst>
              <a:ext uri="{FF2B5EF4-FFF2-40B4-BE49-F238E27FC236}">
                <a16:creationId xmlns:a16="http://schemas.microsoft.com/office/drawing/2014/main" id="{D854AA18-C4BD-6481-92F2-4066C7C746D8}"/>
              </a:ext>
            </a:extLst>
          </p:cNvPr>
          <p:cNvSpPr>
            <a:spLocks noGrp="1"/>
          </p:cNvSpPr>
          <p:nvPr>
            <p:ph type="tbl" sz="quarter" idx="17" hasCustomPrompt="1"/>
          </p:nvPr>
        </p:nvSpPr>
        <p:spPr>
          <a:xfrm>
            <a:off x="392114" y="1143825"/>
            <a:ext cx="6227347" cy="2165905"/>
          </a:xfrm>
        </p:spPr>
        <p:txBody>
          <a:bodyPr>
            <a:normAutofit/>
          </a:bodyPr>
          <a:lstStyle>
            <a:lvl1pPr>
              <a:defRPr sz="1000">
                <a:latin typeface="Arial" panose="020B0604020202020204" pitchFamily="34" charset="0"/>
                <a:cs typeface="Arial" panose="020B0604020202020204" pitchFamily="34" charset="0"/>
              </a:defRPr>
            </a:lvl1pPr>
          </a:lstStyle>
          <a:p>
            <a:r>
              <a:rPr lang="en-US" sz="1000">
                <a:latin typeface="Arial" panose="020B0604020202020204" pitchFamily="34" charset="0"/>
                <a:cs typeface="Arial" panose="020B0604020202020204" pitchFamily="34" charset="0"/>
              </a:rPr>
              <a:t>Table</a:t>
            </a:r>
            <a:endParaRPr lang="en-US"/>
          </a:p>
        </p:txBody>
      </p:sp>
    </p:spTree>
    <p:extLst>
      <p:ext uri="{BB962C8B-B14F-4D97-AF65-F5344CB8AC3E}">
        <p14:creationId xmlns:p14="http://schemas.microsoft.com/office/powerpoint/2010/main" val="2084633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eturn Sensitivities: DF">
    <p:spTree>
      <p:nvGrpSpPr>
        <p:cNvPr id="1" name=""/>
        <p:cNvGrpSpPr/>
        <p:nvPr/>
      </p:nvGrpSpPr>
      <p:grpSpPr>
        <a:xfrm>
          <a:off x="0" y="0"/>
          <a:ext cx="0" cy="0"/>
          <a:chOff x="0" y="0"/>
          <a:chExt cx="0" cy="0"/>
        </a:xfrm>
      </p:grpSpPr>
      <p:sp>
        <p:nvSpPr>
          <p:cNvPr id="7" name="Text Placeholder 12">
            <a:extLst>
              <a:ext uri="{FF2B5EF4-FFF2-40B4-BE49-F238E27FC236}">
                <a16:creationId xmlns:a16="http://schemas.microsoft.com/office/drawing/2014/main" id="{1C2ED53A-C13C-2EA5-4B3B-EA65F6C90C36}"/>
              </a:ext>
            </a:extLst>
          </p:cNvPr>
          <p:cNvSpPr>
            <a:spLocks noGrp="1"/>
          </p:cNvSpPr>
          <p:nvPr>
            <p:ph type="body" sz="quarter" idx="15" hasCustomPrompt="1"/>
          </p:nvPr>
        </p:nvSpPr>
        <p:spPr>
          <a:xfrm>
            <a:off x="392114" y="6483933"/>
            <a:ext cx="10491166" cy="374650"/>
          </a:xfrm>
        </p:spPr>
        <p:txBody>
          <a:bodyPr anchor="t">
            <a:normAutofit/>
          </a:bodyPr>
          <a:lstStyle>
            <a:lvl1pPr marL="228600" indent="-228600">
              <a:lnSpc>
                <a:spcPct val="100000"/>
              </a:lnSpc>
              <a:spcBef>
                <a:spcPts val="0"/>
              </a:spcBef>
              <a:buFont typeface="+mj-lt"/>
              <a:buAutoNum type="arabicPeriod"/>
              <a:defRPr sz="800">
                <a:latin typeface="Arial" panose="020B0604020202020204" pitchFamily="34" charset="0"/>
                <a:cs typeface="Arial" panose="020B0604020202020204" pitchFamily="34" charset="0"/>
              </a:defRPr>
            </a:lvl1pPr>
          </a:lstStyle>
          <a:p>
            <a:pPr lvl="0"/>
            <a:r>
              <a:rPr lang="en-US"/>
              <a:t>Footer</a:t>
            </a:r>
          </a:p>
        </p:txBody>
      </p:sp>
      <p:sp>
        <p:nvSpPr>
          <p:cNvPr id="25" name="Table Placeholder 24">
            <a:extLst>
              <a:ext uri="{FF2B5EF4-FFF2-40B4-BE49-F238E27FC236}">
                <a16:creationId xmlns:a16="http://schemas.microsoft.com/office/drawing/2014/main" id="{0DD40676-44B1-FA25-D951-70D1D559754A}"/>
              </a:ext>
            </a:extLst>
          </p:cNvPr>
          <p:cNvSpPr>
            <a:spLocks noGrp="1"/>
          </p:cNvSpPr>
          <p:nvPr>
            <p:ph type="tbl" sz="quarter" idx="12" hasCustomPrompt="1"/>
          </p:nvPr>
        </p:nvSpPr>
        <p:spPr>
          <a:xfrm>
            <a:off x="2968332" y="1296988"/>
            <a:ext cx="8878888" cy="1439251"/>
          </a:xfrm>
        </p:spPr>
        <p:txBody>
          <a:bodyPr>
            <a:normAutofit/>
          </a:bodyPr>
          <a:lstStyle>
            <a:lvl1pPr>
              <a:defRPr sz="1000">
                <a:latin typeface="Arial" panose="020B0604020202020204" pitchFamily="34" charset="0"/>
                <a:cs typeface="Arial" panose="020B0604020202020204" pitchFamily="34" charset="0"/>
              </a:defRPr>
            </a:lvl1pPr>
          </a:lstStyle>
          <a:p>
            <a:r>
              <a:rPr lang="en-US" sz="1000">
                <a:latin typeface="Arial" panose="020B0604020202020204" pitchFamily="34" charset="0"/>
                <a:cs typeface="Arial" panose="020B0604020202020204" pitchFamily="34" charset="0"/>
              </a:rPr>
              <a:t>Table</a:t>
            </a:r>
            <a:endParaRPr lang="en-US"/>
          </a:p>
        </p:txBody>
      </p:sp>
      <p:sp>
        <p:nvSpPr>
          <p:cNvPr id="14" name="Rectangle 7">
            <a:extLst>
              <a:ext uri="{FF2B5EF4-FFF2-40B4-BE49-F238E27FC236}">
                <a16:creationId xmlns:a16="http://schemas.microsoft.com/office/drawing/2014/main" id="{97F4A706-0F4D-4706-A9FB-B9355F5842B6}"/>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D95C57-D0F9-4D39-81D4-8BE1F77E0553}"/>
              </a:ext>
            </a:extLst>
          </p:cNvPr>
          <p:cNvSpPr>
            <a:spLocks noGrp="1"/>
          </p:cNvSpPr>
          <p:nvPr>
            <p:ph type="title" hasCustomPrompt="1"/>
          </p:nvPr>
        </p:nvSpPr>
        <p:spPr>
          <a:xfrm>
            <a:off x="3890357" y="105971"/>
            <a:ext cx="7568218" cy="496493"/>
          </a:xfrm>
          <a:prstGeom prst="rect">
            <a:avLst/>
          </a:prstGeom>
        </p:spPr>
        <p:txBody>
          <a:bodyPr anchor="ctr"/>
          <a:lstStyle>
            <a:lvl1pPr algn="l">
              <a:defRPr sz="2800" b="1">
                <a:solidFill>
                  <a:schemeClr val="tx1"/>
                </a:solidFill>
                <a:latin typeface="Arial" panose="020B0604020202020204" pitchFamily="34" charset="0"/>
                <a:cs typeface="Arial" panose="020B0604020202020204" pitchFamily="34" charset="0"/>
              </a:defRPr>
            </a:lvl1pPr>
          </a:lstStyle>
          <a:p>
            <a:r>
              <a:rPr lang="en-US"/>
              <a:t>Click to Edit</a:t>
            </a:r>
          </a:p>
        </p:txBody>
      </p:sp>
      <p:cxnSp>
        <p:nvCxnSpPr>
          <p:cNvPr id="9" name="Straight Connector 8">
            <a:extLst>
              <a:ext uri="{FF2B5EF4-FFF2-40B4-BE49-F238E27FC236}">
                <a16:creationId xmlns:a16="http://schemas.microsoft.com/office/drawing/2014/main" id="{5AEF7DA6-42FA-443D-82FD-DDB40A0BB056}"/>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3" name="Slide Number Placeholder 1">
            <a:extLst>
              <a:ext uri="{FF2B5EF4-FFF2-40B4-BE49-F238E27FC236}">
                <a16:creationId xmlns:a16="http://schemas.microsoft.com/office/drawing/2014/main" id="{C0264C16-D2DF-5B85-D3C4-B1B07C55B97B}"/>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19BDD-DD89-4CD9-A1F3-D76BEB018B7B}" type="slidenum">
              <a:rPr lang="en-US" sz="1000" smtClean="0">
                <a:latin typeface="Arial" panose="020B0604020202020204" pitchFamily="34" charset="0"/>
                <a:cs typeface="Arial" panose="020B0604020202020204" pitchFamily="34" charset="0"/>
              </a:rPr>
              <a:pPr/>
              <a:t>‹#›</a:t>
            </a:fld>
            <a:endParaRPr lang="en-US" sz="100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39043BE7-F5A8-E6FD-7EBD-E3589D056178}"/>
              </a:ext>
            </a:extLst>
          </p:cNvPr>
          <p:cNvSpPr txBox="1"/>
          <p:nvPr userDrawn="1"/>
        </p:nvSpPr>
        <p:spPr>
          <a:xfrm>
            <a:off x="333375" y="73388"/>
            <a:ext cx="3759654" cy="523220"/>
          </a:xfrm>
          <a:prstGeom prst="rect">
            <a:avLst/>
          </a:prstGeom>
          <a:noFill/>
        </p:spPr>
        <p:txBody>
          <a:bodyPr wrap="square" rtlCol="0">
            <a:spAutoFit/>
          </a:bodyPr>
          <a:lstStyle/>
          <a:p>
            <a:pPr algn="l"/>
            <a:r>
              <a:rPr lang="en-US" sz="2800" b="1">
                <a:solidFill>
                  <a:schemeClr val="tx1"/>
                </a:solidFill>
                <a:latin typeface="Arial" panose="020B0604020202020204" pitchFamily="34" charset="0"/>
                <a:cs typeface="Arial" panose="020B0604020202020204" pitchFamily="34" charset="0"/>
              </a:rPr>
              <a:t>Return Sensitivities:</a:t>
            </a:r>
          </a:p>
        </p:txBody>
      </p:sp>
      <p:graphicFrame>
        <p:nvGraphicFramePr>
          <p:cNvPr id="6" name="Table 5">
            <a:extLst>
              <a:ext uri="{FF2B5EF4-FFF2-40B4-BE49-F238E27FC236}">
                <a16:creationId xmlns:a16="http://schemas.microsoft.com/office/drawing/2014/main" id="{AA600B61-A6E3-FCB6-F3BB-B3D5E83B542E}"/>
              </a:ext>
            </a:extLst>
          </p:cNvPr>
          <p:cNvGraphicFramePr>
            <a:graphicFrameLocks noGrp="1"/>
          </p:cNvGraphicFramePr>
          <p:nvPr userDrawn="1">
            <p:extLst>
              <p:ext uri="{D42A27DB-BD31-4B8C-83A1-F6EECF244321}">
                <p14:modId xmlns:p14="http://schemas.microsoft.com/office/powerpoint/2010/main" val="3610496751"/>
              </p:ext>
            </p:extLst>
          </p:nvPr>
        </p:nvGraphicFramePr>
        <p:xfrm>
          <a:off x="2968332" y="970149"/>
          <a:ext cx="8878717" cy="283464"/>
        </p:xfrm>
        <a:graphic>
          <a:graphicData uri="http://schemas.openxmlformats.org/drawingml/2006/table">
            <a:tbl>
              <a:tblPr firstRow="1" bandRow="1">
                <a:tableStyleId>{5C22544A-7EE6-4342-B048-85BDC9FD1C3A}</a:tableStyleId>
              </a:tblPr>
              <a:tblGrid>
                <a:gridCol w="8878717">
                  <a:extLst>
                    <a:ext uri="{9D8B030D-6E8A-4147-A177-3AD203B41FA5}">
                      <a16:colId xmlns:a16="http://schemas.microsoft.com/office/drawing/2014/main" val="809247573"/>
                    </a:ext>
                  </a:extLst>
                </a:gridCol>
              </a:tblGrid>
              <a:tr h="159698">
                <a:tc>
                  <a:txBody>
                    <a:bodyPr/>
                    <a:lstStyle/>
                    <a:p>
                      <a:r>
                        <a:rPr lang="en-US" sz="1200" baseline="0">
                          <a:solidFill>
                            <a:schemeClr val="tx1"/>
                          </a:solidFill>
                          <a:latin typeface="Arial" panose="020B0604020202020204" pitchFamily="34" charset="0"/>
                          <a:cs typeface="Arial" panose="020B0604020202020204" pitchFamily="34" charset="0"/>
                        </a:rPr>
                        <a:t>Heads Up</a:t>
                      </a:r>
                      <a:endParaRPr lang="en-US" sz="1200">
                        <a:solidFill>
                          <a:schemeClr val="tx1"/>
                        </a:solidFill>
                        <a:latin typeface="Arial" panose="020B0604020202020204" pitchFamily="34" charset="0"/>
                        <a:cs typeface="Arial" panose="020B0604020202020204" pitchFamily="34" charset="0"/>
                      </a:endParaRPr>
                    </a:p>
                  </a:txBody>
                  <a:tcPr marL="0" marB="54864"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7620600"/>
                  </a:ext>
                </a:extLst>
              </a:tr>
            </a:tbl>
          </a:graphicData>
        </a:graphic>
      </p:graphicFrame>
      <p:sp>
        <p:nvSpPr>
          <p:cNvPr id="27" name="Text Placeholder 26">
            <a:extLst>
              <a:ext uri="{FF2B5EF4-FFF2-40B4-BE49-F238E27FC236}">
                <a16:creationId xmlns:a16="http://schemas.microsoft.com/office/drawing/2014/main" id="{E09B1F68-8BED-557E-ADDF-1603F95D0E0A}"/>
              </a:ext>
            </a:extLst>
          </p:cNvPr>
          <p:cNvSpPr>
            <a:spLocks noGrp="1"/>
          </p:cNvSpPr>
          <p:nvPr>
            <p:ph type="body" sz="quarter" idx="13" hasCustomPrompt="1"/>
          </p:nvPr>
        </p:nvSpPr>
        <p:spPr>
          <a:xfrm>
            <a:off x="333375" y="1296988"/>
            <a:ext cx="2443162" cy="5162550"/>
          </a:xfrm>
        </p:spPr>
        <p:txBody>
          <a:bodyPr>
            <a:normAutofit/>
          </a:bodyPr>
          <a:lstStyle>
            <a:lvl1pPr>
              <a:defRPr sz="1000">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Assumptions</a:t>
            </a:r>
          </a:p>
        </p:txBody>
      </p:sp>
      <p:sp>
        <p:nvSpPr>
          <p:cNvPr id="30" name="Table Placeholder 24">
            <a:extLst>
              <a:ext uri="{FF2B5EF4-FFF2-40B4-BE49-F238E27FC236}">
                <a16:creationId xmlns:a16="http://schemas.microsoft.com/office/drawing/2014/main" id="{DC8FCA1D-6D2F-CEDC-69D7-8988FD4B2359}"/>
              </a:ext>
            </a:extLst>
          </p:cNvPr>
          <p:cNvSpPr>
            <a:spLocks noGrp="1"/>
          </p:cNvSpPr>
          <p:nvPr>
            <p:ph type="tbl" sz="quarter" idx="14" hasCustomPrompt="1"/>
          </p:nvPr>
        </p:nvSpPr>
        <p:spPr>
          <a:xfrm>
            <a:off x="2968332" y="3151913"/>
            <a:ext cx="8878888" cy="1439251"/>
          </a:xfrm>
        </p:spPr>
        <p:txBody>
          <a:bodyPr>
            <a:normAutofit/>
          </a:bodyPr>
          <a:lstStyle>
            <a:lvl1pPr>
              <a:defRPr sz="1000">
                <a:latin typeface="Arial" panose="020B0604020202020204" pitchFamily="34" charset="0"/>
                <a:cs typeface="Arial" panose="020B0604020202020204" pitchFamily="34" charset="0"/>
              </a:defRPr>
            </a:lvl1pPr>
          </a:lstStyle>
          <a:p>
            <a:r>
              <a:rPr lang="en-US" sz="1000">
                <a:latin typeface="Arial" panose="020B0604020202020204" pitchFamily="34" charset="0"/>
                <a:cs typeface="Arial" panose="020B0604020202020204" pitchFamily="34" charset="0"/>
              </a:rPr>
              <a:t>Table</a:t>
            </a:r>
            <a:endParaRPr lang="en-US"/>
          </a:p>
        </p:txBody>
      </p:sp>
      <p:graphicFrame>
        <p:nvGraphicFramePr>
          <p:cNvPr id="31" name="Table 30">
            <a:extLst>
              <a:ext uri="{FF2B5EF4-FFF2-40B4-BE49-F238E27FC236}">
                <a16:creationId xmlns:a16="http://schemas.microsoft.com/office/drawing/2014/main" id="{C8A8C0C1-ADD1-14E1-2CEA-1DFB6D747EDD}"/>
              </a:ext>
            </a:extLst>
          </p:cNvPr>
          <p:cNvGraphicFramePr>
            <a:graphicFrameLocks noGrp="1"/>
          </p:cNvGraphicFramePr>
          <p:nvPr userDrawn="1">
            <p:extLst>
              <p:ext uri="{D42A27DB-BD31-4B8C-83A1-F6EECF244321}">
                <p14:modId xmlns:p14="http://schemas.microsoft.com/office/powerpoint/2010/main" val="2354229375"/>
              </p:ext>
            </p:extLst>
          </p:nvPr>
        </p:nvGraphicFramePr>
        <p:xfrm>
          <a:off x="2968332" y="2835340"/>
          <a:ext cx="8878717" cy="283464"/>
        </p:xfrm>
        <a:graphic>
          <a:graphicData uri="http://schemas.openxmlformats.org/drawingml/2006/table">
            <a:tbl>
              <a:tblPr firstRow="1" bandRow="1">
                <a:tableStyleId>{5C22544A-7EE6-4342-B048-85BDC9FD1C3A}</a:tableStyleId>
              </a:tblPr>
              <a:tblGrid>
                <a:gridCol w="8878717">
                  <a:extLst>
                    <a:ext uri="{9D8B030D-6E8A-4147-A177-3AD203B41FA5}">
                      <a16:colId xmlns:a16="http://schemas.microsoft.com/office/drawing/2014/main" val="809247573"/>
                    </a:ext>
                  </a:extLst>
                </a:gridCol>
              </a:tblGrid>
              <a:tr h="159698">
                <a:tc>
                  <a:txBody>
                    <a:bodyPr/>
                    <a:lstStyle/>
                    <a:p>
                      <a:r>
                        <a:rPr lang="en-US" sz="1200" baseline="0">
                          <a:solidFill>
                            <a:schemeClr val="tx1"/>
                          </a:solidFill>
                          <a:latin typeface="Arial" panose="020B0604020202020204" pitchFamily="34" charset="0"/>
                          <a:cs typeface="Arial" panose="020B0604020202020204" pitchFamily="34" charset="0"/>
                        </a:rPr>
                        <a:t>Drilling Fund</a:t>
                      </a:r>
                      <a:endParaRPr lang="en-US" sz="1200">
                        <a:solidFill>
                          <a:schemeClr val="tx1"/>
                        </a:solidFill>
                        <a:latin typeface="Arial" panose="020B0604020202020204" pitchFamily="34" charset="0"/>
                        <a:cs typeface="Arial" panose="020B0604020202020204" pitchFamily="34" charset="0"/>
                      </a:endParaRPr>
                    </a:p>
                  </a:txBody>
                  <a:tcPr marL="0" marB="54864"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7620600"/>
                  </a:ext>
                </a:extLst>
              </a:tr>
            </a:tbl>
          </a:graphicData>
        </a:graphic>
      </p:graphicFrame>
      <p:graphicFrame>
        <p:nvGraphicFramePr>
          <p:cNvPr id="34" name="Table 33">
            <a:extLst>
              <a:ext uri="{FF2B5EF4-FFF2-40B4-BE49-F238E27FC236}">
                <a16:creationId xmlns:a16="http://schemas.microsoft.com/office/drawing/2014/main" id="{6AA70ACA-1F25-8CC9-4086-3C44580249F5}"/>
              </a:ext>
            </a:extLst>
          </p:cNvPr>
          <p:cNvGraphicFramePr>
            <a:graphicFrameLocks noGrp="1"/>
          </p:cNvGraphicFramePr>
          <p:nvPr userDrawn="1">
            <p:extLst>
              <p:ext uri="{D42A27DB-BD31-4B8C-83A1-F6EECF244321}">
                <p14:modId xmlns:p14="http://schemas.microsoft.com/office/powerpoint/2010/main" val="1636437699"/>
              </p:ext>
            </p:extLst>
          </p:nvPr>
        </p:nvGraphicFramePr>
        <p:xfrm>
          <a:off x="333375" y="970149"/>
          <a:ext cx="2347195" cy="283464"/>
        </p:xfrm>
        <a:graphic>
          <a:graphicData uri="http://schemas.openxmlformats.org/drawingml/2006/table">
            <a:tbl>
              <a:tblPr firstRow="1" bandRow="1">
                <a:tableStyleId>{5C22544A-7EE6-4342-B048-85BDC9FD1C3A}</a:tableStyleId>
              </a:tblPr>
              <a:tblGrid>
                <a:gridCol w="2347195">
                  <a:extLst>
                    <a:ext uri="{9D8B030D-6E8A-4147-A177-3AD203B41FA5}">
                      <a16:colId xmlns:a16="http://schemas.microsoft.com/office/drawing/2014/main" val="809247573"/>
                    </a:ext>
                  </a:extLst>
                </a:gridCol>
              </a:tblGrid>
              <a:tr h="159698">
                <a:tc>
                  <a:txBody>
                    <a:bodyPr/>
                    <a:lstStyle/>
                    <a:p>
                      <a:r>
                        <a:rPr lang="en-US" sz="1200" baseline="0">
                          <a:solidFill>
                            <a:schemeClr val="tx1"/>
                          </a:solidFill>
                          <a:latin typeface="Arial" panose="020B0604020202020204" pitchFamily="34" charset="0"/>
                          <a:cs typeface="Arial" panose="020B0604020202020204" pitchFamily="34" charset="0"/>
                        </a:rPr>
                        <a:t>Assumptions</a:t>
                      </a:r>
                      <a:endParaRPr lang="en-US" sz="1200">
                        <a:solidFill>
                          <a:schemeClr val="tx1"/>
                        </a:solidFill>
                        <a:latin typeface="Arial" panose="020B0604020202020204" pitchFamily="34" charset="0"/>
                        <a:cs typeface="Arial" panose="020B0604020202020204" pitchFamily="34" charset="0"/>
                      </a:endParaRPr>
                    </a:p>
                  </a:txBody>
                  <a:tcPr marL="0" marB="54864"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7620600"/>
                  </a:ext>
                </a:extLst>
              </a:tr>
            </a:tbl>
          </a:graphicData>
        </a:graphic>
      </p:graphicFrame>
    </p:spTree>
    <p:extLst>
      <p:ext uri="{BB962C8B-B14F-4D97-AF65-F5344CB8AC3E}">
        <p14:creationId xmlns:p14="http://schemas.microsoft.com/office/powerpoint/2010/main" val="27825884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eturn Sensitivities: QOZ">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B8B9BD7F-36C2-D6BA-034C-24BF26F9F9F8}"/>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 Placeholder 12">
            <a:extLst>
              <a:ext uri="{FF2B5EF4-FFF2-40B4-BE49-F238E27FC236}">
                <a16:creationId xmlns:a16="http://schemas.microsoft.com/office/drawing/2014/main" id="{16541F7B-4F60-C854-A3B5-F972BD25E2A2}"/>
              </a:ext>
            </a:extLst>
          </p:cNvPr>
          <p:cNvSpPr>
            <a:spLocks noGrp="1"/>
          </p:cNvSpPr>
          <p:nvPr>
            <p:ph type="body" sz="quarter" idx="16" hasCustomPrompt="1"/>
          </p:nvPr>
        </p:nvSpPr>
        <p:spPr>
          <a:xfrm>
            <a:off x="392114" y="6483933"/>
            <a:ext cx="10491166" cy="374650"/>
          </a:xfrm>
        </p:spPr>
        <p:txBody>
          <a:bodyPr anchor="t">
            <a:normAutofit/>
          </a:bodyPr>
          <a:lstStyle>
            <a:lvl1pPr marL="228600" indent="-228600">
              <a:lnSpc>
                <a:spcPct val="100000"/>
              </a:lnSpc>
              <a:spcBef>
                <a:spcPts val="0"/>
              </a:spcBef>
              <a:buFont typeface="+mj-lt"/>
              <a:buAutoNum type="arabicPeriod"/>
              <a:defRPr sz="800">
                <a:latin typeface="Arial" panose="020B0604020202020204" pitchFamily="34" charset="0"/>
                <a:cs typeface="Arial" panose="020B0604020202020204" pitchFamily="34" charset="0"/>
              </a:defRPr>
            </a:lvl1pPr>
          </a:lstStyle>
          <a:p>
            <a:pPr lvl="0"/>
            <a:r>
              <a:rPr lang="en-US"/>
              <a:t>Footer</a:t>
            </a:r>
          </a:p>
        </p:txBody>
      </p:sp>
      <p:sp>
        <p:nvSpPr>
          <p:cNvPr id="25" name="Table Placeholder 24">
            <a:extLst>
              <a:ext uri="{FF2B5EF4-FFF2-40B4-BE49-F238E27FC236}">
                <a16:creationId xmlns:a16="http://schemas.microsoft.com/office/drawing/2014/main" id="{0DD40676-44B1-FA25-D951-70D1D559754A}"/>
              </a:ext>
            </a:extLst>
          </p:cNvPr>
          <p:cNvSpPr>
            <a:spLocks noGrp="1"/>
          </p:cNvSpPr>
          <p:nvPr>
            <p:ph type="tbl" sz="quarter" idx="12" hasCustomPrompt="1"/>
          </p:nvPr>
        </p:nvSpPr>
        <p:spPr>
          <a:xfrm>
            <a:off x="2968332" y="1296988"/>
            <a:ext cx="8878888" cy="1439251"/>
          </a:xfrm>
        </p:spPr>
        <p:txBody>
          <a:bodyPr>
            <a:normAutofit/>
          </a:bodyPr>
          <a:lstStyle>
            <a:lvl1pPr>
              <a:defRPr sz="1000">
                <a:latin typeface="Arial" panose="020B0604020202020204" pitchFamily="34" charset="0"/>
                <a:cs typeface="Arial" panose="020B0604020202020204" pitchFamily="34" charset="0"/>
              </a:defRPr>
            </a:lvl1pPr>
          </a:lstStyle>
          <a:p>
            <a:r>
              <a:rPr lang="en-US" sz="1000">
                <a:latin typeface="Arial" panose="020B0604020202020204" pitchFamily="34" charset="0"/>
                <a:cs typeface="Arial" panose="020B0604020202020204" pitchFamily="34" charset="0"/>
              </a:rPr>
              <a:t>Table</a:t>
            </a:r>
            <a:endParaRPr lang="en-US"/>
          </a:p>
        </p:txBody>
      </p:sp>
      <p:sp>
        <p:nvSpPr>
          <p:cNvPr id="14" name="Rectangle 7">
            <a:extLst>
              <a:ext uri="{FF2B5EF4-FFF2-40B4-BE49-F238E27FC236}">
                <a16:creationId xmlns:a16="http://schemas.microsoft.com/office/drawing/2014/main" id="{97F4A706-0F4D-4706-A9FB-B9355F5842B6}"/>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D95C57-D0F9-4D39-81D4-8BE1F77E0553}"/>
              </a:ext>
            </a:extLst>
          </p:cNvPr>
          <p:cNvSpPr>
            <a:spLocks noGrp="1"/>
          </p:cNvSpPr>
          <p:nvPr>
            <p:ph type="title" hasCustomPrompt="1"/>
          </p:nvPr>
        </p:nvSpPr>
        <p:spPr>
          <a:xfrm>
            <a:off x="3890357" y="105971"/>
            <a:ext cx="7568218" cy="496493"/>
          </a:xfrm>
          <a:prstGeom prst="rect">
            <a:avLst/>
          </a:prstGeom>
        </p:spPr>
        <p:txBody>
          <a:bodyPr anchor="ctr"/>
          <a:lstStyle>
            <a:lvl1pPr algn="l">
              <a:defRPr sz="2800" b="1">
                <a:solidFill>
                  <a:schemeClr val="tx1"/>
                </a:solidFill>
                <a:latin typeface="Arial" panose="020B0604020202020204" pitchFamily="34" charset="0"/>
                <a:cs typeface="Arial" panose="020B0604020202020204" pitchFamily="34" charset="0"/>
              </a:defRPr>
            </a:lvl1pPr>
          </a:lstStyle>
          <a:p>
            <a:r>
              <a:rPr lang="en-US"/>
              <a:t>Click to Edit</a:t>
            </a:r>
          </a:p>
        </p:txBody>
      </p:sp>
      <p:cxnSp>
        <p:nvCxnSpPr>
          <p:cNvPr id="9" name="Straight Connector 8">
            <a:extLst>
              <a:ext uri="{FF2B5EF4-FFF2-40B4-BE49-F238E27FC236}">
                <a16:creationId xmlns:a16="http://schemas.microsoft.com/office/drawing/2014/main" id="{5AEF7DA6-42FA-443D-82FD-DDB40A0BB056}"/>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3" name="Slide Number Placeholder 1">
            <a:extLst>
              <a:ext uri="{FF2B5EF4-FFF2-40B4-BE49-F238E27FC236}">
                <a16:creationId xmlns:a16="http://schemas.microsoft.com/office/drawing/2014/main" id="{C0264C16-D2DF-5B85-D3C4-B1B07C55B97B}"/>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19BDD-DD89-4CD9-A1F3-D76BEB018B7B}" type="slidenum">
              <a:rPr lang="en-US" sz="1000" smtClean="0">
                <a:latin typeface="Arial" panose="020B0604020202020204" pitchFamily="34" charset="0"/>
                <a:cs typeface="Arial" panose="020B0604020202020204" pitchFamily="34" charset="0"/>
              </a:rPr>
              <a:pPr/>
              <a:t>‹#›</a:t>
            </a:fld>
            <a:endParaRPr lang="en-US" sz="100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39043BE7-F5A8-E6FD-7EBD-E3589D056178}"/>
              </a:ext>
            </a:extLst>
          </p:cNvPr>
          <p:cNvSpPr txBox="1"/>
          <p:nvPr userDrawn="1"/>
        </p:nvSpPr>
        <p:spPr>
          <a:xfrm>
            <a:off x="333375" y="73388"/>
            <a:ext cx="3759654" cy="523220"/>
          </a:xfrm>
          <a:prstGeom prst="rect">
            <a:avLst/>
          </a:prstGeom>
          <a:noFill/>
        </p:spPr>
        <p:txBody>
          <a:bodyPr wrap="square" rtlCol="0">
            <a:spAutoFit/>
          </a:bodyPr>
          <a:lstStyle/>
          <a:p>
            <a:pPr algn="l"/>
            <a:r>
              <a:rPr lang="en-US" sz="2800" b="1">
                <a:solidFill>
                  <a:schemeClr val="tx1"/>
                </a:solidFill>
                <a:latin typeface="Arial" panose="020B0604020202020204" pitchFamily="34" charset="0"/>
                <a:cs typeface="Arial" panose="020B0604020202020204" pitchFamily="34" charset="0"/>
              </a:rPr>
              <a:t>Return Sensitivities:</a:t>
            </a:r>
          </a:p>
        </p:txBody>
      </p:sp>
      <p:graphicFrame>
        <p:nvGraphicFramePr>
          <p:cNvPr id="6" name="Table 5">
            <a:extLst>
              <a:ext uri="{FF2B5EF4-FFF2-40B4-BE49-F238E27FC236}">
                <a16:creationId xmlns:a16="http://schemas.microsoft.com/office/drawing/2014/main" id="{AA600B61-A6E3-FCB6-F3BB-B3D5E83B542E}"/>
              </a:ext>
            </a:extLst>
          </p:cNvPr>
          <p:cNvGraphicFramePr>
            <a:graphicFrameLocks noGrp="1"/>
          </p:cNvGraphicFramePr>
          <p:nvPr userDrawn="1">
            <p:extLst>
              <p:ext uri="{D42A27DB-BD31-4B8C-83A1-F6EECF244321}">
                <p14:modId xmlns:p14="http://schemas.microsoft.com/office/powerpoint/2010/main" val="3610496751"/>
              </p:ext>
            </p:extLst>
          </p:nvPr>
        </p:nvGraphicFramePr>
        <p:xfrm>
          <a:off x="2968332" y="970149"/>
          <a:ext cx="8878717" cy="283464"/>
        </p:xfrm>
        <a:graphic>
          <a:graphicData uri="http://schemas.openxmlformats.org/drawingml/2006/table">
            <a:tbl>
              <a:tblPr firstRow="1" bandRow="1">
                <a:tableStyleId>{5C22544A-7EE6-4342-B048-85BDC9FD1C3A}</a:tableStyleId>
              </a:tblPr>
              <a:tblGrid>
                <a:gridCol w="8878717">
                  <a:extLst>
                    <a:ext uri="{9D8B030D-6E8A-4147-A177-3AD203B41FA5}">
                      <a16:colId xmlns:a16="http://schemas.microsoft.com/office/drawing/2014/main" val="809247573"/>
                    </a:ext>
                  </a:extLst>
                </a:gridCol>
              </a:tblGrid>
              <a:tr h="159698">
                <a:tc>
                  <a:txBody>
                    <a:bodyPr/>
                    <a:lstStyle/>
                    <a:p>
                      <a:r>
                        <a:rPr lang="en-US" sz="1200" baseline="0">
                          <a:solidFill>
                            <a:schemeClr val="tx1"/>
                          </a:solidFill>
                          <a:latin typeface="Arial" panose="020B0604020202020204" pitchFamily="34" charset="0"/>
                          <a:cs typeface="Arial" panose="020B0604020202020204" pitchFamily="34" charset="0"/>
                        </a:rPr>
                        <a:t>Heads Up</a:t>
                      </a:r>
                      <a:endParaRPr lang="en-US" sz="1200">
                        <a:solidFill>
                          <a:schemeClr val="tx1"/>
                        </a:solidFill>
                        <a:latin typeface="Arial" panose="020B0604020202020204" pitchFamily="34" charset="0"/>
                        <a:cs typeface="Arial" panose="020B0604020202020204" pitchFamily="34" charset="0"/>
                      </a:endParaRPr>
                    </a:p>
                  </a:txBody>
                  <a:tcPr marL="0" marB="54864"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7620600"/>
                  </a:ext>
                </a:extLst>
              </a:tr>
            </a:tbl>
          </a:graphicData>
        </a:graphic>
      </p:graphicFrame>
      <p:sp>
        <p:nvSpPr>
          <p:cNvPr id="27" name="Text Placeholder 26">
            <a:extLst>
              <a:ext uri="{FF2B5EF4-FFF2-40B4-BE49-F238E27FC236}">
                <a16:creationId xmlns:a16="http://schemas.microsoft.com/office/drawing/2014/main" id="{E09B1F68-8BED-557E-ADDF-1603F95D0E0A}"/>
              </a:ext>
            </a:extLst>
          </p:cNvPr>
          <p:cNvSpPr>
            <a:spLocks noGrp="1"/>
          </p:cNvSpPr>
          <p:nvPr>
            <p:ph type="body" sz="quarter" idx="13" hasCustomPrompt="1"/>
          </p:nvPr>
        </p:nvSpPr>
        <p:spPr>
          <a:xfrm>
            <a:off x="333375" y="1296988"/>
            <a:ext cx="2443162" cy="5162550"/>
          </a:xfrm>
        </p:spPr>
        <p:txBody>
          <a:bodyPr>
            <a:normAutofit/>
          </a:bodyPr>
          <a:lstStyle>
            <a:lvl1pPr>
              <a:defRPr sz="1000">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Assumptions</a:t>
            </a:r>
          </a:p>
        </p:txBody>
      </p:sp>
      <p:sp>
        <p:nvSpPr>
          <p:cNvPr id="30" name="Table Placeholder 24">
            <a:extLst>
              <a:ext uri="{FF2B5EF4-FFF2-40B4-BE49-F238E27FC236}">
                <a16:creationId xmlns:a16="http://schemas.microsoft.com/office/drawing/2014/main" id="{DC8FCA1D-6D2F-CEDC-69D7-8988FD4B2359}"/>
              </a:ext>
            </a:extLst>
          </p:cNvPr>
          <p:cNvSpPr>
            <a:spLocks noGrp="1"/>
          </p:cNvSpPr>
          <p:nvPr>
            <p:ph type="tbl" sz="quarter" idx="14" hasCustomPrompt="1"/>
          </p:nvPr>
        </p:nvSpPr>
        <p:spPr>
          <a:xfrm>
            <a:off x="2968332" y="3151913"/>
            <a:ext cx="8878888" cy="1439251"/>
          </a:xfrm>
        </p:spPr>
        <p:txBody>
          <a:bodyPr>
            <a:normAutofit/>
          </a:bodyPr>
          <a:lstStyle>
            <a:lvl1pPr>
              <a:defRPr sz="1000">
                <a:latin typeface="Arial" panose="020B0604020202020204" pitchFamily="34" charset="0"/>
                <a:cs typeface="Arial" panose="020B0604020202020204" pitchFamily="34" charset="0"/>
              </a:defRPr>
            </a:lvl1pPr>
          </a:lstStyle>
          <a:p>
            <a:r>
              <a:rPr lang="en-US" sz="1000">
                <a:latin typeface="Arial" panose="020B0604020202020204" pitchFamily="34" charset="0"/>
                <a:cs typeface="Arial" panose="020B0604020202020204" pitchFamily="34" charset="0"/>
              </a:rPr>
              <a:t>Table</a:t>
            </a:r>
            <a:endParaRPr lang="en-US"/>
          </a:p>
        </p:txBody>
      </p:sp>
      <p:graphicFrame>
        <p:nvGraphicFramePr>
          <p:cNvPr id="31" name="Table 30">
            <a:extLst>
              <a:ext uri="{FF2B5EF4-FFF2-40B4-BE49-F238E27FC236}">
                <a16:creationId xmlns:a16="http://schemas.microsoft.com/office/drawing/2014/main" id="{C8A8C0C1-ADD1-14E1-2CEA-1DFB6D747EDD}"/>
              </a:ext>
            </a:extLst>
          </p:cNvPr>
          <p:cNvGraphicFramePr>
            <a:graphicFrameLocks noGrp="1"/>
          </p:cNvGraphicFramePr>
          <p:nvPr userDrawn="1">
            <p:extLst>
              <p:ext uri="{D42A27DB-BD31-4B8C-83A1-F6EECF244321}">
                <p14:modId xmlns:p14="http://schemas.microsoft.com/office/powerpoint/2010/main" val="2354229375"/>
              </p:ext>
            </p:extLst>
          </p:nvPr>
        </p:nvGraphicFramePr>
        <p:xfrm>
          <a:off x="2968332" y="2835340"/>
          <a:ext cx="8878717" cy="283464"/>
        </p:xfrm>
        <a:graphic>
          <a:graphicData uri="http://schemas.openxmlformats.org/drawingml/2006/table">
            <a:tbl>
              <a:tblPr firstRow="1" bandRow="1">
                <a:tableStyleId>{5C22544A-7EE6-4342-B048-85BDC9FD1C3A}</a:tableStyleId>
              </a:tblPr>
              <a:tblGrid>
                <a:gridCol w="8878717">
                  <a:extLst>
                    <a:ext uri="{9D8B030D-6E8A-4147-A177-3AD203B41FA5}">
                      <a16:colId xmlns:a16="http://schemas.microsoft.com/office/drawing/2014/main" val="809247573"/>
                    </a:ext>
                  </a:extLst>
                </a:gridCol>
              </a:tblGrid>
              <a:tr h="159698">
                <a:tc>
                  <a:txBody>
                    <a:bodyPr/>
                    <a:lstStyle/>
                    <a:p>
                      <a:r>
                        <a:rPr lang="en-US" sz="1200" baseline="0">
                          <a:solidFill>
                            <a:schemeClr val="tx1"/>
                          </a:solidFill>
                          <a:latin typeface="Arial" panose="020B0604020202020204" pitchFamily="34" charset="0"/>
                          <a:cs typeface="Arial" panose="020B0604020202020204" pitchFamily="34" charset="0"/>
                        </a:rPr>
                        <a:t>Drilling Fund</a:t>
                      </a:r>
                      <a:endParaRPr lang="en-US" sz="1200">
                        <a:solidFill>
                          <a:schemeClr val="tx1"/>
                        </a:solidFill>
                        <a:latin typeface="Arial" panose="020B0604020202020204" pitchFamily="34" charset="0"/>
                        <a:cs typeface="Arial" panose="020B0604020202020204" pitchFamily="34" charset="0"/>
                      </a:endParaRPr>
                    </a:p>
                  </a:txBody>
                  <a:tcPr marL="0" marB="54864"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7620600"/>
                  </a:ext>
                </a:extLst>
              </a:tr>
            </a:tbl>
          </a:graphicData>
        </a:graphic>
      </p:graphicFrame>
      <p:sp>
        <p:nvSpPr>
          <p:cNvPr id="32" name="Table Placeholder 24">
            <a:extLst>
              <a:ext uri="{FF2B5EF4-FFF2-40B4-BE49-F238E27FC236}">
                <a16:creationId xmlns:a16="http://schemas.microsoft.com/office/drawing/2014/main" id="{D72D2AB2-A32E-1B4D-4EE0-5ED74053DBE8}"/>
              </a:ext>
            </a:extLst>
          </p:cNvPr>
          <p:cNvSpPr>
            <a:spLocks noGrp="1"/>
          </p:cNvSpPr>
          <p:nvPr>
            <p:ph type="tbl" sz="quarter" idx="15" hasCustomPrompt="1"/>
          </p:nvPr>
        </p:nvSpPr>
        <p:spPr>
          <a:xfrm>
            <a:off x="2968332" y="5010013"/>
            <a:ext cx="8878888" cy="1439251"/>
          </a:xfrm>
        </p:spPr>
        <p:txBody>
          <a:bodyPr>
            <a:normAutofit/>
          </a:bodyPr>
          <a:lstStyle>
            <a:lvl1pPr>
              <a:defRPr sz="1000">
                <a:latin typeface="Arial" panose="020B0604020202020204" pitchFamily="34" charset="0"/>
                <a:cs typeface="Arial" panose="020B0604020202020204" pitchFamily="34" charset="0"/>
              </a:defRPr>
            </a:lvl1pPr>
          </a:lstStyle>
          <a:p>
            <a:r>
              <a:rPr lang="en-US" sz="1000">
                <a:latin typeface="Arial" panose="020B0604020202020204" pitchFamily="34" charset="0"/>
                <a:cs typeface="Arial" panose="020B0604020202020204" pitchFamily="34" charset="0"/>
              </a:rPr>
              <a:t>Table</a:t>
            </a:r>
            <a:endParaRPr lang="en-US"/>
          </a:p>
        </p:txBody>
      </p:sp>
      <p:graphicFrame>
        <p:nvGraphicFramePr>
          <p:cNvPr id="33" name="Table 32">
            <a:extLst>
              <a:ext uri="{FF2B5EF4-FFF2-40B4-BE49-F238E27FC236}">
                <a16:creationId xmlns:a16="http://schemas.microsoft.com/office/drawing/2014/main" id="{5A79C200-708A-E1FB-5DAC-3B4F0F4ACBD0}"/>
              </a:ext>
            </a:extLst>
          </p:cNvPr>
          <p:cNvGraphicFramePr>
            <a:graphicFrameLocks noGrp="1"/>
          </p:cNvGraphicFramePr>
          <p:nvPr userDrawn="1">
            <p:extLst>
              <p:ext uri="{D42A27DB-BD31-4B8C-83A1-F6EECF244321}">
                <p14:modId xmlns:p14="http://schemas.microsoft.com/office/powerpoint/2010/main" val="1824550773"/>
              </p:ext>
            </p:extLst>
          </p:nvPr>
        </p:nvGraphicFramePr>
        <p:xfrm>
          <a:off x="2968332" y="4690257"/>
          <a:ext cx="8878717" cy="283464"/>
        </p:xfrm>
        <a:graphic>
          <a:graphicData uri="http://schemas.openxmlformats.org/drawingml/2006/table">
            <a:tbl>
              <a:tblPr firstRow="1" bandRow="1">
                <a:tableStyleId>{5C22544A-7EE6-4342-B048-85BDC9FD1C3A}</a:tableStyleId>
              </a:tblPr>
              <a:tblGrid>
                <a:gridCol w="8878717">
                  <a:extLst>
                    <a:ext uri="{9D8B030D-6E8A-4147-A177-3AD203B41FA5}">
                      <a16:colId xmlns:a16="http://schemas.microsoft.com/office/drawing/2014/main" val="809247573"/>
                    </a:ext>
                  </a:extLst>
                </a:gridCol>
              </a:tblGrid>
              <a:tr h="159698">
                <a:tc>
                  <a:txBody>
                    <a:bodyPr/>
                    <a:lstStyle/>
                    <a:p>
                      <a:r>
                        <a:rPr lang="en-US" sz="1200" baseline="0">
                          <a:solidFill>
                            <a:schemeClr val="tx1"/>
                          </a:solidFill>
                          <a:latin typeface="Arial" panose="020B0604020202020204" pitchFamily="34" charset="0"/>
                          <a:cs typeface="Arial" panose="020B0604020202020204" pitchFamily="34" charset="0"/>
                        </a:rPr>
                        <a:t>QOZ</a:t>
                      </a:r>
                      <a:endParaRPr lang="en-US" sz="1200">
                        <a:solidFill>
                          <a:schemeClr val="tx1"/>
                        </a:solidFill>
                        <a:latin typeface="Arial" panose="020B0604020202020204" pitchFamily="34" charset="0"/>
                        <a:cs typeface="Arial" panose="020B0604020202020204" pitchFamily="34" charset="0"/>
                      </a:endParaRPr>
                    </a:p>
                  </a:txBody>
                  <a:tcPr marL="0" marB="54864"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7620600"/>
                  </a:ext>
                </a:extLst>
              </a:tr>
            </a:tbl>
          </a:graphicData>
        </a:graphic>
      </p:graphicFrame>
      <p:graphicFrame>
        <p:nvGraphicFramePr>
          <p:cNvPr id="34" name="Table 33">
            <a:extLst>
              <a:ext uri="{FF2B5EF4-FFF2-40B4-BE49-F238E27FC236}">
                <a16:creationId xmlns:a16="http://schemas.microsoft.com/office/drawing/2014/main" id="{6AA70ACA-1F25-8CC9-4086-3C44580249F5}"/>
              </a:ext>
            </a:extLst>
          </p:cNvPr>
          <p:cNvGraphicFramePr>
            <a:graphicFrameLocks noGrp="1"/>
          </p:cNvGraphicFramePr>
          <p:nvPr userDrawn="1">
            <p:extLst>
              <p:ext uri="{D42A27DB-BD31-4B8C-83A1-F6EECF244321}">
                <p14:modId xmlns:p14="http://schemas.microsoft.com/office/powerpoint/2010/main" val="1636437699"/>
              </p:ext>
            </p:extLst>
          </p:nvPr>
        </p:nvGraphicFramePr>
        <p:xfrm>
          <a:off x="333375" y="970149"/>
          <a:ext cx="2347195" cy="283464"/>
        </p:xfrm>
        <a:graphic>
          <a:graphicData uri="http://schemas.openxmlformats.org/drawingml/2006/table">
            <a:tbl>
              <a:tblPr firstRow="1" bandRow="1">
                <a:tableStyleId>{5C22544A-7EE6-4342-B048-85BDC9FD1C3A}</a:tableStyleId>
              </a:tblPr>
              <a:tblGrid>
                <a:gridCol w="2347195">
                  <a:extLst>
                    <a:ext uri="{9D8B030D-6E8A-4147-A177-3AD203B41FA5}">
                      <a16:colId xmlns:a16="http://schemas.microsoft.com/office/drawing/2014/main" val="809247573"/>
                    </a:ext>
                  </a:extLst>
                </a:gridCol>
              </a:tblGrid>
              <a:tr h="159698">
                <a:tc>
                  <a:txBody>
                    <a:bodyPr/>
                    <a:lstStyle/>
                    <a:p>
                      <a:r>
                        <a:rPr lang="en-US" sz="1200" baseline="0">
                          <a:solidFill>
                            <a:schemeClr val="tx1"/>
                          </a:solidFill>
                          <a:latin typeface="Arial" panose="020B0604020202020204" pitchFamily="34" charset="0"/>
                          <a:cs typeface="Arial" panose="020B0604020202020204" pitchFamily="34" charset="0"/>
                        </a:rPr>
                        <a:t>Assumptions</a:t>
                      </a:r>
                      <a:endParaRPr lang="en-US" sz="1200">
                        <a:solidFill>
                          <a:schemeClr val="tx1"/>
                        </a:solidFill>
                        <a:latin typeface="Arial" panose="020B0604020202020204" pitchFamily="34" charset="0"/>
                        <a:cs typeface="Arial" panose="020B0604020202020204" pitchFamily="34" charset="0"/>
                      </a:endParaRPr>
                    </a:p>
                  </a:txBody>
                  <a:tcPr marL="0" marB="54864"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7620600"/>
                  </a:ext>
                </a:extLst>
              </a:tr>
            </a:tbl>
          </a:graphicData>
        </a:graphic>
      </p:graphicFrame>
    </p:spTree>
    <p:extLst>
      <p:ext uri="{BB962C8B-B14F-4D97-AF65-F5344CB8AC3E}">
        <p14:creationId xmlns:p14="http://schemas.microsoft.com/office/powerpoint/2010/main" val="29985376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ructure">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E4DE5016-2788-DB03-A98B-AB1EFE97EFEA}"/>
              </a:ext>
            </a:extLst>
          </p:cNvPr>
          <p:cNvSpPr>
            <a:spLocks noGrp="1"/>
          </p:cNvSpPr>
          <p:nvPr>
            <p:ph type="body" sz="quarter" idx="12" hasCustomPrompt="1"/>
          </p:nvPr>
        </p:nvSpPr>
        <p:spPr>
          <a:xfrm>
            <a:off x="392114" y="6483933"/>
            <a:ext cx="10491166" cy="374650"/>
          </a:xfrm>
        </p:spPr>
        <p:txBody>
          <a:bodyPr anchor="t">
            <a:normAutofit/>
          </a:bodyPr>
          <a:lstStyle>
            <a:lvl1pPr marL="228600" indent="-228600">
              <a:lnSpc>
                <a:spcPct val="100000"/>
              </a:lnSpc>
              <a:spcBef>
                <a:spcPts val="0"/>
              </a:spcBef>
              <a:buFont typeface="+mj-lt"/>
              <a:buAutoNum type="arabicPeriod"/>
              <a:defRPr sz="800">
                <a:latin typeface="Arial" panose="020B0604020202020204" pitchFamily="34" charset="0"/>
                <a:cs typeface="Arial" panose="020B0604020202020204" pitchFamily="34" charset="0"/>
              </a:defRPr>
            </a:lvl1pPr>
          </a:lstStyle>
          <a:p>
            <a:pPr lvl="0"/>
            <a:r>
              <a:rPr lang="en-US"/>
              <a:t>Footer</a:t>
            </a:r>
          </a:p>
        </p:txBody>
      </p:sp>
      <p:sp>
        <p:nvSpPr>
          <p:cNvPr id="14" name="Rectangle 7">
            <a:extLst>
              <a:ext uri="{FF2B5EF4-FFF2-40B4-BE49-F238E27FC236}">
                <a16:creationId xmlns:a16="http://schemas.microsoft.com/office/drawing/2014/main" id="{97F4A706-0F4D-4706-A9FB-B9355F5842B6}"/>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AEF7DA6-42FA-443D-82FD-DDB40A0BB056}"/>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3" name="Slide Number Placeholder 1">
            <a:extLst>
              <a:ext uri="{FF2B5EF4-FFF2-40B4-BE49-F238E27FC236}">
                <a16:creationId xmlns:a16="http://schemas.microsoft.com/office/drawing/2014/main" id="{C0264C16-D2DF-5B85-D3C4-B1B07C55B97B}"/>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19BDD-DD89-4CD9-A1F3-D76BEB018B7B}" type="slidenum">
              <a:rPr lang="en-US" sz="1000" smtClean="0">
                <a:latin typeface="Arial" panose="020B0604020202020204" pitchFamily="34" charset="0"/>
                <a:cs typeface="Arial" panose="020B0604020202020204" pitchFamily="34" charset="0"/>
              </a:rPr>
              <a:pPr/>
              <a:t>‹#›</a:t>
            </a:fld>
            <a:endParaRPr lang="en-US" sz="1000">
              <a:latin typeface="Arial" panose="020B0604020202020204" pitchFamily="34" charset="0"/>
              <a:cs typeface="Arial" panose="020B0604020202020204" pitchFamily="34" charset="0"/>
            </a:endParaRPr>
          </a:p>
        </p:txBody>
      </p:sp>
      <p:sp>
        <p:nvSpPr>
          <p:cNvPr id="4" name="Rectangle 7">
            <a:extLst>
              <a:ext uri="{FF2B5EF4-FFF2-40B4-BE49-F238E27FC236}">
                <a16:creationId xmlns:a16="http://schemas.microsoft.com/office/drawing/2014/main" id="{64FA3D60-430C-AB99-ADFF-A7A254F13762}"/>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6F1D922F-995F-7FF0-F91E-30F742E8759E}"/>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B2526F0-0C04-4EEA-EA6D-BA066C6F8EC0}"/>
              </a:ext>
            </a:extLst>
          </p:cNvPr>
          <p:cNvSpPr txBox="1"/>
          <p:nvPr userDrawn="1"/>
        </p:nvSpPr>
        <p:spPr>
          <a:xfrm>
            <a:off x="333375" y="73388"/>
            <a:ext cx="1789040" cy="523220"/>
          </a:xfrm>
          <a:prstGeom prst="rect">
            <a:avLst/>
          </a:prstGeom>
          <a:noFill/>
        </p:spPr>
        <p:txBody>
          <a:bodyPr wrap="square" rtlCol="0">
            <a:spAutoFit/>
          </a:bodyPr>
          <a:lstStyle/>
          <a:p>
            <a:pPr algn="l"/>
            <a:r>
              <a:rPr lang="en-US" sz="2800" b="1">
                <a:solidFill>
                  <a:schemeClr val="tx1"/>
                </a:solidFill>
                <a:latin typeface="Arial" panose="020B0604020202020204" pitchFamily="34" charset="0"/>
                <a:cs typeface="Arial" panose="020B0604020202020204" pitchFamily="34" charset="0"/>
              </a:rPr>
              <a:t>Structure</a:t>
            </a:r>
          </a:p>
        </p:txBody>
      </p:sp>
      <p:sp>
        <p:nvSpPr>
          <p:cNvPr id="7" name="TextBox 6">
            <a:extLst>
              <a:ext uri="{FF2B5EF4-FFF2-40B4-BE49-F238E27FC236}">
                <a16:creationId xmlns:a16="http://schemas.microsoft.com/office/drawing/2014/main" id="{C541EFD0-36A4-A450-E728-17FE6C7E6CEB}"/>
              </a:ext>
            </a:extLst>
          </p:cNvPr>
          <p:cNvSpPr txBox="1"/>
          <p:nvPr userDrawn="1"/>
        </p:nvSpPr>
        <p:spPr>
          <a:xfrm>
            <a:off x="2016040" y="169777"/>
            <a:ext cx="262371" cy="400110"/>
          </a:xfrm>
          <a:prstGeom prst="rect">
            <a:avLst/>
          </a:prstGeom>
          <a:noFill/>
        </p:spPr>
        <p:txBody>
          <a:bodyPr wrap="square" rtlCol="0">
            <a:spAutoFit/>
          </a:bodyPr>
          <a:lstStyle/>
          <a:p>
            <a:pPr algn="l"/>
            <a:r>
              <a:rPr lang="en-US" sz="2000" b="0">
                <a:latin typeface="Arial" panose="020B0604020202020204" pitchFamily="34" charset="0"/>
                <a:cs typeface="Arial" panose="020B0604020202020204" pitchFamily="34" charset="0"/>
              </a:rPr>
              <a:t>|</a:t>
            </a:r>
            <a:endParaRPr lang="en-US" sz="2000" b="1">
              <a:solidFill>
                <a:schemeClr val="tx1"/>
              </a:solidFill>
              <a:latin typeface="Arial" panose="020B0604020202020204" pitchFamily="34" charset="0"/>
              <a:cs typeface="Arial" panose="020B0604020202020204" pitchFamily="34" charset="0"/>
            </a:endParaRPr>
          </a:p>
        </p:txBody>
      </p:sp>
      <p:sp>
        <p:nvSpPr>
          <p:cNvPr id="8" name="Text Placeholder 17">
            <a:extLst>
              <a:ext uri="{FF2B5EF4-FFF2-40B4-BE49-F238E27FC236}">
                <a16:creationId xmlns:a16="http://schemas.microsoft.com/office/drawing/2014/main" id="{4E814CF0-3259-14A7-E507-5949F673612F}"/>
              </a:ext>
            </a:extLst>
          </p:cNvPr>
          <p:cNvSpPr>
            <a:spLocks noGrp="1"/>
          </p:cNvSpPr>
          <p:nvPr>
            <p:ph type="body" sz="quarter" idx="14" hasCustomPrompt="1"/>
          </p:nvPr>
        </p:nvSpPr>
        <p:spPr>
          <a:xfrm>
            <a:off x="2163418" y="228719"/>
            <a:ext cx="8204662" cy="357794"/>
          </a:xfrm>
        </p:spPr>
        <p:txBody>
          <a:bodyPr/>
          <a:lstStyle>
            <a:lvl1pPr marL="0" indent="0">
              <a:buNone/>
              <a:defRPr sz="2000">
                <a:latin typeface="Arial" panose="020B0604020202020204" pitchFamily="34" charset="0"/>
                <a:cs typeface="Arial" panose="020B0604020202020204" pitchFamily="34" charset="0"/>
              </a:defRPr>
            </a:lvl1pPr>
            <a:lvl2pPr marL="457200" indent="0">
              <a:buNone/>
              <a:defRPr/>
            </a:lvl2pPr>
          </a:lstStyle>
          <a:p>
            <a:pPr lvl="0"/>
            <a:r>
              <a:rPr lang="en-US"/>
              <a:t>Deal Name</a:t>
            </a:r>
          </a:p>
        </p:txBody>
      </p:sp>
      <p:sp>
        <p:nvSpPr>
          <p:cNvPr id="15" name="Text Placeholder 26">
            <a:extLst>
              <a:ext uri="{FF2B5EF4-FFF2-40B4-BE49-F238E27FC236}">
                <a16:creationId xmlns:a16="http://schemas.microsoft.com/office/drawing/2014/main" id="{7DFE5F9E-D14C-5337-73B7-874B1B0C6A69}"/>
              </a:ext>
            </a:extLst>
          </p:cNvPr>
          <p:cNvSpPr>
            <a:spLocks noGrp="1"/>
          </p:cNvSpPr>
          <p:nvPr>
            <p:ph type="body" sz="quarter" idx="13" hasCustomPrompt="1"/>
          </p:nvPr>
        </p:nvSpPr>
        <p:spPr>
          <a:xfrm>
            <a:off x="239215" y="994315"/>
            <a:ext cx="5710866" cy="5265259"/>
          </a:xfrm>
        </p:spPr>
        <p:txBody>
          <a:bodyPr>
            <a:normAutofit/>
          </a:bodyPr>
          <a:lstStyle>
            <a:lvl1pPr>
              <a:defRPr sz="1000">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Text</a:t>
            </a:r>
          </a:p>
        </p:txBody>
      </p:sp>
      <p:sp>
        <p:nvSpPr>
          <p:cNvPr id="10" name="Picture Placeholder 10">
            <a:extLst>
              <a:ext uri="{FF2B5EF4-FFF2-40B4-BE49-F238E27FC236}">
                <a16:creationId xmlns:a16="http://schemas.microsoft.com/office/drawing/2014/main" id="{F2411997-20E4-9904-E10B-1FBF468BA801}"/>
              </a:ext>
            </a:extLst>
          </p:cNvPr>
          <p:cNvSpPr>
            <a:spLocks noGrp="1"/>
          </p:cNvSpPr>
          <p:nvPr>
            <p:ph type="pic" sz="quarter" idx="15" hasCustomPrompt="1"/>
          </p:nvPr>
        </p:nvSpPr>
        <p:spPr>
          <a:xfrm>
            <a:off x="6420678" y="994315"/>
            <a:ext cx="5506279" cy="5291138"/>
          </a:xfrm>
        </p:spPr>
        <p:txBody>
          <a:bodyPr>
            <a:normAutofit/>
          </a:bodyPr>
          <a:lstStyle>
            <a:lvl1pPr>
              <a:defRPr sz="1000">
                <a:latin typeface="Arial" panose="020B0604020202020204" pitchFamily="34" charset="0"/>
                <a:cs typeface="Arial" panose="020B0604020202020204" pitchFamily="34" charset="0"/>
              </a:defRPr>
            </a:lvl1pPr>
          </a:lstStyle>
          <a:p>
            <a:r>
              <a:rPr lang="en-US" sz="1000"/>
              <a:t>Map</a:t>
            </a:r>
            <a:endParaRPr lang="en-US"/>
          </a:p>
        </p:txBody>
      </p:sp>
    </p:spTree>
    <p:extLst>
      <p:ext uri="{BB962C8B-B14F-4D97-AF65-F5344CB8AC3E}">
        <p14:creationId xmlns:p14="http://schemas.microsoft.com/office/powerpoint/2010/main" val="971248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ype Lo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82721E68-FD60-69D8-A1AA-E9360BACE8D2}"/>
              </a:ext>
            </a:extLst>
          </p:cNvPr>
          <p:cNvSpPr>
            <a:spLocks noGrp="1"/>
          </p:cNvSpPr>
          <p:nvPr>
            <p:ph type="pic" sz="quarter" idx="16"/>
          </p:nvPr>
        </p:nvSpPr>
        <p:spPr>
          <a:xfrm>
            <a:off x="239843" y="993774"/>
            <a:ext cx="5715000" cy="5266944"/>
          </a:xfrm>
        </p:spPr>
        <p:txBody>
          <a:bodyPr>
            <a:normAutofit/>
          </a:bodyPr>
          <a:lstStyle>
            <a:lvl1pPr>
              <a:defRPr sz="1000">
                <a:latin typeface="Arial" panose="020B0604020202020204" pitchFamily="34" charset="0"/>
                <a:cs typeface="Arial" panose="020B0604020202020204" pitchFamily="34" charset="0"/>
              </a:defRPr>
            </a:lvl1pPr>
          </a:lstStyle>
          <a:p>
            <a:endParaRPr lang="en-US"/>
          </a:p>
        </p:txBody>
      </p:sp>
      <p:sp>
        <p:nvSpPr>
          <p:cNvPr id="13" name="Text Placeholder 12">
            <a:extLst>
              <a:ext uri="{FF2B5EF4-FFF2-40B4-BE49-F238E27FC236}">
                <a16:creationId xmlns:a16="http://schemas.microsoft.com/office/drawing/2014/main" id="{E4DE5016-2788-DB03-A98B-AB1EFE97EFEA}"/>
              </a:ext>
            </a:extLst>
          </p:cNvPr>
          <p:cNvSpPr>
            <a:spLocks noGrp="1"/>
          </p:cNvSpPr>
          <p:nvPr>
            <p:ph type="body" sz="quarter" idx="12" hasCustomPrompt="1"/>
          </p:nvPr>
        </p:nvSpPr>
        <p:spPr>
          <a:xfrm>
            <a:off x="392114" y="6483933"/>
            <a:ext cx="10491166" cy="374650"/>
          </a:xfrm>
        </p:spPr>
        <p:txBody>
          <a:bodyPr anchor="t">
            <a:normAutofit/>
          </a:bodyPr>
          <a:lstStyle>
            <a:lvl1pPr marL="228600" indent="-228600">
              <a:lnSpc>
                <a:spcPct val="100000"/>
              </a:lnSpc>
              <a:spcBef>
                <a:spcPts val="0"/>
              </a:spcBef>
              <a:buFont typeface="+mj-lt"/>
              <a:buAutoNum type="arabicPeriod"/>
              <a:defRPr sz="800">
                <a:latin typeface="Arial" panose="020B0604020202020204" pitchFamily="34" charset="0"/>
                <a:cs typeface="Arial" panose="020B0604020202020204" pitchFamily="34" charset="0"/>
              </a:defRPr>
            </a:lvl1pPr>
          </a:lstStyle>
          <a:p>
            <a:pPr lvl="0"/>
            <a:r>
              <a:rPr lang="en-US"/>
              <a:t>Footer</a:t>
            </a:r>
          </a:p>
        </p:txBody>
      </p:sp>
      <p:sp>
        <p:nvSpPr>
          <p:cNvPr id="14" name="Rectangle 7">
            <a:extLst>
              <a:ext uri="{FF2B5EF4-FFF2-40B4-BE49-F238E27FC236}">
                <a16:creationId xmlns:a16="http://schemas.microsoft.com/office/drawing/2014/main" id="{97F4A706-0F4D-4706-A9FB-B9355F5842B6}"/>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AEF7DA6-42FA-443D-82FD-DDB40A0BB056}"/>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3" name="Slide Number Placeholder 1">
            <a:extLst>
              <a:ext uri="{FF2B5EF4-FFF2-40B4-BE49-F238E27FC236}">
                <a16:creationId xmlns:a16="http://schemas.microsoft.com/office/drawing/2014/main" id="{C0264C16-D2DF-5B85-D3C4-B1B07C55B97B}"/>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19BDD-DD89-4CD9-A1F3-D76BEB018B7B}" type="slidenum">
              <a:rPr lang="en-US" sz="1000" smtClean="0">
                <a:latin typeface="Arial" panose="020B0604020202020204" pitchFamily="34" charset="0"/>
                <a:cs typeface="Arial" panose="020B0604020202020204" pitchFamily="34" charset="0"/>
              </a:rPr>
              <a:pPr/>
              <a:t>‹#›</a:t>
            </a:fld>
            <a:endParaRPr lang="en-US" sz="1000">
              <a:latin typeface="Arial" panose="020B0604020202020204" pitchFamily="34" charset="0"/>
              <a:cs typeface="Arial" panose="020B0604020202020204" pitchFamily="34" charset="0"/>
            </a:endParaRPr>
          </a:p>
        </p:txBody>
      </p:sp>
      <p:sp>
        <p:nvSpPr>
          <p:cNvPr id="4" name="Rectangle 7">
            <a:extLst>
              <a:ext uri="{FF2B5EF4-FFF2-40B4-BE49-F238E27FC236}">
                <a16:creationId xmlns:a16="http://schemas.microsoft.com/office/drawing/2014/main" id="{64FA3D60-430C-AB99-ADFF-A7A254F13762}"/>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6F1D922F-995F-7FF0-F91E-30F742E8759E}"/>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B2526F0-0C04-4EEA-EA6D-BA066C6F8EC0}"/>
              </a:ext>
            </a:extLst>
          </p:cNvPr>
          <p:cNvSpPr txBox="1"/>
          <p:nvPr userDrawn="1"/>
        </p:nvSpPr>
        <p:spPr>
          <a:xfrm>
            <a:off x="333375" y="73388"/>
            <a:ext cx="1789040" cy="523220"/>
          </a:xfrm>
          <a:prstGeom prst="rect">
            <a:avLst/>
          </a:prstGeom>
          <a:noFill/>
        </p:spPr>
        <p:txBody>
          <a:bodyPr wrap="square" rtlCol="0">
            <a:spAutoFit/>
          </a:bodyPr>
          <a:lstStyle/>
          <a:p>
            <a:pPr algn="l"/>
            <a:r>
              <a:rPr lang="en-US" sz="2800" b="1">
                <a:solidFill>
                  <a:schemeClr val="tx1"/>
                </a:solidFill>
                <a:latin typeface="Arial" panose="020B0604020202020204" pitchFamily="34" charset="0"/>
                <a:cs typeface="Arial" panose="020B0604020202020204" pitchFamily="34" charset="0"/>
              </a:rPr>
              <a:t>Type Log</a:t>
            </a:r>
          </a:p>
        </p:txBody>
      </p:sp>
      <p:sp>
        <p:nvSpPr>
          <p:cNvPr id="7" name="TextBox 6">
            <a:extLst>
              <a:ext uri="{FF2B5EF4-FFF2-40B4-BE49-F238E27FC236}">
                <a16:creationId xmlns:a16="http://schemas.microsoft.com/office/drawing/2014/main" id="{C541EFD0-36A4-A450-E728-17FE6C7E6CEB}"/>
              </a:ext>
            </a:extLst>
          </p:cNvPr>
          <p:cNvSpPr txBox="1"/>
          <p:nvPr userDrawn="1"/>
        </p:nvSpPr>
        <p:spPr>
          <a:xfrm>
            <a:off x="1999414" y="169777"/>
            <a:ext cx="262371" cy="400110"/>
          </a:xfrm>
          <a:prstGeom prst="rect">
            <a:avLst/>
          </a:prstGeom>
          <a:noFill/>
        </p:spPr>
        <p:txBody>
          <a:bodyPr wrap="square" rtlCol="0">
            <a:spAutoFit/>
          </a:bodyPr>
          <a:lstStyle/>
          <a:p>
            <a:pPr algn="l"/>
            <a:r>
              <a:rPr lang="en-US" sz="2000" b="0">
                <a:latin typeface="Arial" panose="020B0604020202020204" pitchFamily="34" charset="0"/>
                <a:cs typeface="Arial" panose="020B0604020202020204" pitchFamily="34" charset="0"/>
              </a:rPr>
              <a:t>|</a:t>
            </a:r>
            <a:endParaRPr lang="en-US" sz="2000" b="1">
              <a:solidFill>
                <a:schemeClr val="tx1"/>
              </a:solidFill>
              <a:latin typeface="Arial" panose="020B0604020202020204" pitchFamily="34" charset="0"/>
              <a:cs typeface="Arial" panose="020B0604020202020204" pitchFamily="34" charset="0"/>
            </a:endParaRPr>
          </a:p>
        </p:txBody>
      </p:sp>
      <p:sp>
        <p:nvSpPr>
          <p:cNvPr id="8" name="Text Placeholder 17">
            <a:extLst>
              <a:ext uri="{FF2B5EF4-FFF2-40B4-BE49-F238E27FC236}">
                <a16:creationId xmlns:a16="http://schemas.microsoft.com/office/drawing/2014/main" id="{4E814CF0-3259-14A7-E507-5949F673612F}"/>
              </a:ext>
            </a:extLst>
          </p:cNvPr>
          <p:cNvSpPr>
            <a:spLocks noGrp="1"/>
          </p:cNvSpPr>
          <p:nvPr>
            <p:ph type="body" sz="quarter" idx="14" hasCustomPrompt="1"/>
          </p:nvPr>
        </p:nvSpPr>
        <p:spPr>
          <a:xfrm>
            <a:off x="2146792" y="228719"/>
            <a:ext cx="8204662" cy="357794"/>
          </a:xfrm>
        </p:spPr>
        <p:txBody>
          <a:bodyPr/>
          <a:lstStyle>
            <a:lvl1pPr marL="0" indent="0">
              <a:buNone/>
              <a:defRPr sz="2000">
                <a:latin typeface="Arial" panose="020B0604020202020204" pitchFamily="34" charset="0"/>
                <a:cs typeface="Arial" panose="020B0604020202020204" pitchFamily="34" charset="0"/>
              </a:defRPr>
            </a:lvl1pPr>
            <a:lvl2pPr marL="457200" indent="0">
              <a:buNone/>
              <a:defRPr/>
            </a:lvl2pPr>
          </a:lstStyle>
          <a:p>
            <a:pPr lvl="0"/>
            <a:r>
              <a:rPr lang="en-US"/>
              <a:t>Deal Name</a:t>
            </a:r>
          </a:p>
        </p:txBody>
      </p:sp>
      <p:sp>
        <p:nvSpPr>
          <p:cNvPr id="11" name="Picture Placeholder 10">
            <a:extLst>
              <a:ext uri="{FF2B5EF4-FFF2-40B4-BE49-F238E27FC236}">
                <a16:creationId xmlns:a16="http://schemas.microsoft.com/office/drawing/2014/main" id="{2D3D1D8C-B6D2-46CF-5094-8E6F871C6323}"/>
              </a:ext>
            </a:extLst>
          </p:cNvPr>
          <p:cNvSpPr>
            <a:spLocks noGrp="1"/>
          </p:cNvSpPr>
          <p:nvPr>
            <p:ph type="pic" sz="quarter" idx="15" hasCustomPrompt="1"/>
          </p:nvPr>
        </p:nvSpPr>
        <p:spPr>
          <a:xfrm>
            <a:off x="6420678" y="994315"/>
            <a:ext cx="5506279" cy="5291138"/>
          </a:xfrm>
        </p:spPr>
        <p:txBody>
          <a:bodyPr>
            <a:normAutofit/>
          </a:bodyPr>
          <a:lstStyle>
            <a:lvl1pPr>
              <a:defRPr sz="1000">
                <a:latin typeface="Arial" panose="020B0604020202020204" pitchFamily="34" charset="0"/>
                <a:cs typeface="Arial" panose="020B0604020202020204" pitchFamily="34" charset="0"/>
              </a:defRPr>
            </a:lvl1pPr>
          </a:lstStyle>
          <a:p>
            <a:r>
              <a:rPr lang="en-US" sz="1000"/>
              <a:t>Map</a:t>
            </a:r>
            <a:endParaRPr lang="en-US"/>
          </a:p>
        </p:txBody>
      </p:sp>
    </p:spTree>
    <p:extLst>
      <p:ext uri="{BB962C8B-B14F-4D97-AF65-F5344CB8AC3E}">
        <p14:creationId xmlns:p14="http://schemas.microsoft.com/office/powerpoint/2010/main" val="7489541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ross Section">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E4DE5016-2788-DB03-A98B-AB1EFE97EFEA}"/>
              </a:ext>
            </a:extLst>
          </p:cNvPr>
          <p:cNvSpPr>
            <a:spLocks noGrp="1"/>
          </p:cNvSpPr>
          <p:nvPr>
            <p:ph type="body" sz="quarter" idx="12" hasCustomPrompt="1"/>
          </p:nvPr>
        </p:nvSpPr>
        <p:spPr>
          <a:xfrm>
            <a:off x="392114" y="6483933"/>
            <a:ext cx="10491166" cy="374650"/>
          </a:xfrm>
        </p:spPr>
        <p:txBody>
          <a:bodyPr anchor="t">
            <a:normAutofit/>
          </a:bodyPr>
          <a:lstStyle>
            <a:lvl1pPr marL="228600" indent="-228600">
              <a:lnSpc>
                <a:spcPct val="100000"/>
              </a:lnSpc>
              <a:spcBef>
                <a:spcPts val="0"/>
              </a:spcBef>
              <a:buFont typeface="+mj-lt"/>
              <a:buAutoNum type="arabicPeriod"/>
              <a:defRPr sz="800">
                <a:latin typeface="Arial" panose="020B0604020202020204" pitchFamily="34" charset="0"/>
                <a:cs typeface="Arial" panose="020B0604020202020204" pitchFamily="34" charset="0"/>
              </a:defRPr>
            </a:lvl1pPr>
          </a:lstStyle>
          <a:p>
            <a:pPr lvl="0"/>
            <a:r>
              <a:rPr lang="en-US"/>
              <a:t>Footer</a:t>
            </a:r>
          </a:p>
        </p:txBody>
      </p:sp>
      <p:sp>
        <p:nvSpPr>
          <p:cNvPr id="14" name="Rectangle 7">
            <a:extLst>
              <a:ext uri="{FF2B5EF4-FFF2-40B4-BE49-F238E27FC236}">
                <a16:creationId xmlns:a16="http://schemas.microsoft.com/office/drawing/2014/main" id="{97F4A706-0F4D-4706-A9FB-B9355F5842B6}"/>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AEF7DA6-42FA-443D-82FD-DDB40A0BB056}"/>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3" name="Slide Number Placeholder 1">
            <a:extLst>
              <a:ext uri="{FF2B5EF4-FFF2-40B4-BE49-F238E27FC236}">
                <a16:creationId xmlns:a16="http://schemas.microsoft.com/office/drawing/2014/main" id="{C0264C16-D2DF-5B85-D3C4-B1B07C55B97B}"/>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19BDD-DD89-4CD9-A1F3-D76BEB018B7B}" type="slidenum">
              <a:rPr lang="en-US" sz="1000" smtClean="0">
                <a:latin typeface="Arial" panose="020B0604020202020204" pitchFamily="34" charset="0"/>
                <a:cs typeface="Arial" panose="020B0604020202020204" pitchFamily="34" charset="0"/>
              </a:rPr>
              <a:pPr/>
              <a:t>‹#›</a:t>
            </a:fld>
            <a:endParaRPr lang="en-US" sz="1000">
              <a:latin typeface="Arial" panose="020B0604020202020204" pitchFamily="34" charset="0"/>
              <a:cs typeface="Arial" panose="020B0604020202020204" pitchFamily="34" charset="0"/>
            </a:endParaRPr>
          </a:p>
        </p:txBody>
      </p:sp>
      <p:sp>
        <p:nvSpPr>
          <p:cNvPr id="4" name="Rectangle 7">
            <a:extLst>
              <a:ext uri="{FF2B5EF4-FFF2-40B4-BE49-F238E27FC236}">
                <a16:creationId xmlns:a16="http://schemas.microsoft.com/office/drawing/2014/main" id="{64FA3D60-430C-AB99-ADFF-A7A254F13762}"/>
              </a:ext>
            </a:extLst>
          </p:cNvPr>
          <p:cNvSpPr/>
          <p:nvPr userDrawn="1"/>
        </p:nvSpPr>
        <p:spPr>
          <a:xfrm>
            <a:off x="0" y="673298"/>
            <a:ext cx="10491849" cy="23515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6F1D922F-995F-7FF0-F91E-30F742E8759E}"/>
              </a:ext>
            </a:extLst>
          </p:cNvPr>
          <p:cNvCxnSpPr/>
          <p:nvPr userDrawn="1"/>
        </p:nvCxnSpPr>
        <p:spPr>
          <a:xfrm>
            <a:off x="0" y="623328"/>
            <a:ext cx="12192000" cy="0"/>
          </a:xfrm>
          <a:prstGeom prst="line">
            <a:avLst/>
          </a:prstGeom>
          <a:ln w="28575">
            <a:solidFill>
              <a:srgbClr val="34364C"/>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B2526F0-0C04-4EEA-EA6D-BA066C6F8EC0}"/>
              </a:ext>
            </a:extLst>
          </p:cNvPr>
          <p:cNvSpPr txBox="1"/>
          <p:nvPr userDrawn="1"/>
        </p:nvSpPr>
        <p:spPr>
          <a:xfrm>
            <a:off x="333374" y="73388"/>
            <a:ext cx="3257723" cy="523220"/>
          </a:xfrm>
          <a:prstGeom prst="rect">
            <a:avLst/>
          </a:prstGeom>
          <a:noFill/>
        </p:spPr>
        <p:txBody>
          <a:bodyPr wrap="square" rtlCol="0">
            <a:spAutoFit/>
          </a:bodyPr>
          <a:lstStyle/>
          <a:p>
            <a:pPr algn="l"/>
            <a:r>
              <a:rPr lang="en-US" sz="2800" b="1">
                <a:solidFill>
                  <a:schemeClr val="tx1"/>
                </a:solidFill>
                <a:latin typeface="Arial" panose="020B0604020202020204" pitchFamily="34" charset="0"/>
                <a:cs typeface="Arial" panose="020B0604020202020204" pitchFamily="34" charset="0"/>
              </a:rPr>
              <a:t>Cross Section</a:t>
            </a:r>
          </a:p>
        </p:txBody>
      </p:sp>
      <p:sp>
        <p:nvSpPr>
          <p:cNvPr id="7" name="TextBox 6">
            <a:extLst>
              <a:ext uri="{FF2B5EF4-FFF2-40B4-BE49-F238E27FC236}">
                <a16:creationId xmlns:a16="http://schemas.microsoft.com/office/drawing/2014/main" id="{C541EFD0-36A4-A450-E728-17FE6C7E6CEB}"/>
              </a:ext>
            </a:extLst>
          </p:cNvPr>
          <p:cNvSpPr txBox="1"/>
          <p:nvPr userDrawn="1"/>
        </p:nvSpPr>
        <p:spPr>
          <a:xfrm>
            <a:off x="2822377" y="169777"/>
            <a:ext cx="262371" cy="400110"/>
          </a:xfrm>
          <a:prstGeom prst="rect">
            <a:avLst/>
          </a:prstGeom>
          <a:noFill/>
        </p:spPr>
        <p:txBody>
          <a:bodyPr wrap="square" rtlCol="0">
            <a:spAutoFit/>
          </a:bodyPr>
          <a:lstStyle/>
          <a:p>
            <a:pPr algn="l"/>
            <a:r>
              <a:rPr lang="en-US" sz="2000" b="0">
                <a:latin typeface="Arial" panose="020B0604020202020204" pitchFamily="34" charset="0"/>
                <a:cs typeface="Arial" panose="020B0604020202020204" pitchFamily="34" charset="0"/>
              </a:rPr>
              <a:t>|</a:t>
            </a:r>
            <a:endParaRPr lang="en-US" sz="2000" b="1">
              <a:solidFill>
                <a:schemeClr val="tx1"/>
              </a:solidFill>
              <a:latin typeface="Arial" panose="020B0604020202020204" pitchFamily="34" charset="0"/>
              <a:cs typeface="Arial" panose="020B0604020202020204" pitchFamily="34" charset="0"/>
            </a:endParaRPr>
          </a:p>
        </p:txBody>
      </p:sp>
      <p:sp>
        <p:nvSpPr>
          <p:cNvPr id="8" name="Text Placeholder 17">
            <a:extLst>
              <a:ext uri="{FF2B5EF4-FFF2-40B4-BE49-F238E27FC236}">
                <a16:creationId xmlns:a16="http://schemas.microsoft.com/office/drawing/2014/main" id="{4E814CF0-3259-14A7-E507-5949F673612F}"/>
              </a:ext>
            </a:extLst>
          </p:cNvPr>
          <p:cNvSpPr>
            <a:spLocks noGrp="1"/>
          </p:cNvSpPr>
          <p:nvPr>
            <p:ph type="body" sz="quarter" idx="14" hasCustomPrompt="1"/>
          </p:nvPr>
        </p:nvSpPr>
        <p:spPr>
          <a:xfrm>
            <a:off x="2969755" y="228719"/>
            <a:ext cx="8204662" cy="357794"/>
          </a:xfrm>
        </p:spPr>
        <p:txBody>
          <a:bodyPr/>
          <a:lstStyle>
            <a:lvl1pPr marL="0" indent="0">
              <a:buNone/>
              <a:defRPr sz="2000">
                <a:latin typeface="Arial" panose="020B0604020202020204" pitchFamily="34" charset="0"/>
                <a:cs typeface="Arial" panose="020B0604020202020204" pitchFamily="34" charset="0"/>
              </a:defRPr>
            </a:lvl1pPr>
            <a:lvl2pPr marL="457200" indent="0">
              <a:buNone/>
              <a:defRPr/>
            </a:lvl2pPr>
          </a:lstStyle>
          <a:p>
            <a:pPr lvl="0"/>
            <a:r>
              <a:rPr lang="en-US"/>
              <a:t>Deal Name</a:t>
            </a:r>
          </a:p>
        </p:txBody>
      </p:sp>
      <p:sp>
        <p:nvSpPr>
          <p:cNvPr id="15" name="Text Placeholder 26">
            <a:extLst>
              <a:ext uri="{FF2B5EF4-FFF2-40B4-BE49-F238E27FC236}">
                <a16:creationId xmlns:a16="http://schemas.microsoft.com/office/drawing/2014/main" id="{7DFE5F9E-D14C-5337-73B7-874B1B0C6A69}"/>
              </a:ext>
            </a:extLst>
          </p:cNvPr>
          <p:cNvSpPr>
            <a:spLocks noGrp="1"/>
          </p:cNvSpPr>
          <p:nvPr>
            <p:ph type="body" sz="quarter" idx="13" hasCustomPrompt="1"/>
          </p:nvPr>
        </p:nvSpPr>
        <p:spPr>
          <a:xfrm>
            <a:off x="239215" y="994315"/>
            <a:ext cx="5710866" cy="5265259"/>
          </a:xfrm>
        </p:spPr>
        <p:txBody>
          <a:bodyPr>
            <a:normAutofit/>
          </a:bodyPr>
          <a:lstStyle>
            <a:lvl1pPr>
              <a:defRPr sz="1000">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Text</a:t>
            </a:r>
          </a:p>
        </p:txBody>
      </p:sp>
      <p:sp>
        <p:nvSpPr>
          <p:cNvPr id="10" name="Picture Placeholder 10">
            <a:extLst>
              <a:ext uri="{FF2B5EF4-FFF2-40B4-BE49-F238E27FC236}">
                <a16:creationId xmlns:a16="http://schemas.microsoft.com/office/drawing/2014/main" id="{F2411997-20E4-9904-E10B-1FBF468BA801}"/>
              </a:ext>
            </a:extLst>
          </p:cNvPr>
          <p:cNvSpPr>
            <a:spLocks noGrp="1"/>
          </p:cNvSpPr>
          <p:nvPr>
            <p:ph type="pic" sz="quarter" idx="15" hasCustomPrompt="1"/>
          </p:nvPr>
        </p:nvSpPr>
        <p:spPr>
          <a:xfrm>
            <a:off x="6420678" y="994315"/>
            <a:ext cx="5506279" cy="5291138"/>
          </a:xfrm>
        </p:spPr>
        <p:txBody>
          <a:bodyPr>
            <a:normAutofit/>
          </a:bodyPr>
          <a:lstStyle>
            <a:lvl1pPr>
              <a:defRPr sz="1000">
                <a:latin typeface="Arial" panose="020B0604020202020204" pitchFamily="34" charset="0"/>
                <a:cs typeface="Arial" panose="020B0604020202020204" pitchFamily="34" charset="0"/>
              </a:defRPr>
            </a:lvl1pPr>
          </a:lstStyle>
          <a:p>
            <a:r>
              <a:rPr lang="en-US" sz="1000"/>
              <a:t>Map</a:t>
            </a:r>
            <a:endParaRPr lang="en-US"/>
          </a:p>
        </p:txBody>
      </p:sp>
    </p:spTree>
    <p:extLst>
      <p:ext uri="{BB962C8B-B14F-4D97-AF65-F5344CB8AC3E}">
        <p14:creationId xmlns:p14="http://schemas.microsoft.com/office/powerpoint/2010/main" val="38170985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ppendix">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46DA4467-B558-C455-2222-1A51892B51BA}"/>
              </a:ext>
            </a:extLst>
          </p:cNvPr>
          <p:cNvGrpSpPr/>
          <p:nvPr userDrawn="1"/>
        </p:nvGrpSpPr>
        <p:grpSpPr>
          <a:xfrm>
            <a:off x="29244" y="-1157667"/>
            <a:ext cx="12057062" cy="8658722"/>
            <a:chOff x="29244" y="-1157667"/>
            <a:chExt cx="12057062" cy="8658722"/>
          </a:xfrm>
        </p:grpSpPr>
        <p:pic>
          <p:nvPicPr>
            <p:cNvPr id="2" name="Picture 1">
              <a:extLst>
                <a:ext uri="{FF2B5EF4-FFF2-40B4-BE49-F238E27FC236}">
                  <a16:creationId xmlns:a16="http://schemas.microsoft.com/office/drawing/2014/main" id="{B23138A7-356C-7233-C0BA-C53ABABF2745}"/>
                </a:ext>
              </a:extLst>
            </p:cNvPr>
            <p:cNvPicPr>
              <a:picLocks noChangeAspect="1"/>
            </p:cNvPicPr>
            <p:nvPr userDrawn="1"/>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p:blipFill>
          <p:spPr>
            <a:xfrm flipH="1">
              <a:off x="48264" y="519137"/>
              <a:ext cx="6096000" cy="3841422"/>
            </a:xfrm>
            <a:prstGeom prst="rect">
              <a:avLst/>
            </a:prstGeom>
            <a:ln w="28575">
              <a:solidFill>
                <a:schemeClr val="bg1"/>
              </a:solidFill>
            </a:ln>
          </p:spPr>
        </p:pic>
        <p:sp>
          <p:nvSpPr>
            <p:cNvPr id="3" name="Rectangle 20">
              <a:extLst>
                <a:ext uri="{FF2B5EF4-FFF2-40B4-BE49-F238E27FC236}">
                  <a16:creationId xmlns:a16="http://schemas.microsoft.com/office/drawing/2014/main" id="{F5117944-024C-3778-0DD7-BF32BCC8BA87}"/>
                </a:ext>
              </a:extLst>
            </p:cNvPr>
            <p:cNvSpPr/>
            <p:nvPr userDrawn="1"/>
          </p:nvSpPr>
          <p:spPr>
            <a:xfrm rot="3632735" flipH="1">
              <a:off x="2508876" y="1843778"/>
              <a:ext cx="8658722" cy="2655832"/>
            </a:xfrm>
            <a:custGeom>
              <a:avLst/>
              <a:gdLst>
                <a:gd name="connsiteX0" fmla="*/ 0 w 8658722"/>
                <a:gd name="connsiteY0" fmla="*/ 0 h 2653396"/>
                <a:gd name="connsiteX1" fmla="*/ 8658722 w 8658722"/>
                <a:gd name="connsiteY1" fmla="*/ 0 h 2653396"/>
                <a:gd name="connsiteX2" fmla="*/ 8658722 w 8658722"/>
                <a:gd name="connsiteY2" fmla="*/ 2653396 h 2653396"/>
                <a:gd name="connsiteX3" fmla="*/ 0 w 8658722"/>
                <a:gd name="connsiteY3" fmla="*/ 2653396 h 2653396"/>
                <a:gd name="connsiteX4" fmla="*/ 0 w 8658722"/>
                <a:gd name="connsiteY4" fmla="*/ 0 h 2653396"/>
                <a:gd name="connsiteX0" fmla="*/ 0 w 8658722"/>
                <a:gd name="connsiteY0" fmla="*/ 2436 h 2655832"/>
                <a:gd name="connsiteX1" fmla="*/ 6733490 w 8658722"/>
                <a:gd name="connsiteY1" fmla="*/ 0 h 2655832"/>
                <a:gd name="connsiteX2" fmla="*/ 8658722 w 8658722"/>
                <a:gd name="connsiteY2" fmla="*/ 2655832 h 2655832"/>
                <a:gd name="connsiteX3" fmla="*/ 0 w 8658722"/>
                <a:gd name="connsiteY3" fmla="*/ 2655832 h 2655832"/>
                <a:gd name="connsiteX4" fmla="*/ 0 w 8658722"/>
                <a:gd name="connsiteY4" fmla="*/ 2436 h 2655832"/>
                <a:gd name="connsiteX0" fmla="*/ 0 w 8658722"/>
                <a:gd name="connsiteY0" fmla="*/ 2436 h 2655832"/>
                <a:gd name="connsiteX1" fmla="*/ 6733490 w 8658722"/>
                <a:gd name="connsiteY1" fmla="*/ 0 h 2655832"/>
                <a:gd name="connsiteX2" fmla="*/ 8658722 w 8658722"/>
                <a:gd name="connsiteY2" fmla="*/ 2655832 h 2655832"/>
                <a:gd name="connsiteX3" fmla="*/ 924880 w 8658722"/>
                <a:gd name="connsiteY3" fmla="*/ 2036340 h 2655832"/>
                <a:gd name="connsiteX4" fmla="*/ 0 w 8658722"/>
                <a:gd name="connsiteY4" fmla="*/ 2436 h 2655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58722" h="2655832">
                  <a:moveTo>
                    <a:pt x="0" y="2436"/>
                  </a:moveTo>
                  <a:lnTo>
                    <a:pt x="6733490" y="0"/>
                  </a:lnTo>
                  <a:lnTo>
                    <a:pt x="8658722" y="2655832"/>
                  </a:lnTo>
                  <a:lnTo>
                    <a:pt x="924880" y="2036340"/>
                  </a:lnTo>
                  <a:lnTo>
                    <a:pt x="0" y="2436"/>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7951F7E-5247-EB27-6C13-3DF9EB4C51FD}"/>
                </a:ext>
              </a:extLst>
            </p:cNvPr>
            <p:cNvSpPr/>
            <p:nvPr userDrawn="1"/>
          </p:nvSpPr>
          <p:spPr>
            <a:xfrm>
              <a:off x="29244" y="87461"/>
              <a:ext cx="7369078" cy="18582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2">
              <a:extLst>
                <a:ext uri="{FF2B5EF4-FFF2-40B4-BE49-F238E27FC236}">
                  <a16:creationId xmlns:a16="http://schemas.microsoft.com/office/drawing/2014/main" id="{663CF42C-A0D9-565C-647D-27021FCF1E87}"/>
                </a:ext>
              </a:extLst>
            </p:cNvPr>
            <p:cNvSpPr/>
            <p:nvPr userDrawn="1"/>
          </p:nvSpPr>
          <p:spPr>
            <a:xfrm flipH="1">
              <a:off x="32100" y="3897769"/>
              <a:ext cx="8493064" cy="1172995"/>
            </a:xfrm>
            <a:custGeom>
              <a:avLst/>
              <a:gdLst>
                <a:gd name="connsiteX0" fmla="*/ 0 w 8033468"/>
                <a:gd name="connsiteY0" fmla="*/ 0 h 1184745"/>
                <a:gd name="connsiteX1" fmla="*/ 8033468 w 8033468"/>
                <a:gd name="connsiteY1" fmla="*/ 0 h 1184745"/>
                <a:gd name="connsiteX2" fmla="*/ 8033468 w 8033468"/>
                <a:gd name="connsiteY2" fmla="*/ 1184745 h 1184745"/>
                <a:gd name="connsiteX3" fmla="*/ 0 w 8033468"/>
                <a:gd name="connsiteY3" fmla="*/ 1184745 h 1184745"/>
                <a:gd name="connsiteX4" fmla="*/ 0 w 8033468"/>
                <a:gd name="connsiteY4" fmla="*/ 0 h 1184745"/>
                <a:gd name="connsiteX0" fmla="*/ 771276 w 8804744"/>
                <a:gd name="connsiteY0" fmla="*/ 0 h 1184745"/>
                <a:gd name="connsiteX1" fmla="*/ 8804744 w 8804744"/>
                <a:gd name="connsiteY1" fmla="*/ 0 h 1184745"/>
                <a:gd name="connsiteX2" fmla="*/ 8804744 w 8804744"/>
                <a:gd name="connsiteY2" fmla="*/ 1184745 h 1184745"/>
                <a:gd name="connsiteX3" fmla="*/ 0 w 8804744"/>
                <a:gd name="connsiteY3" fmla="*/ 1184745 h 1184745"/>
                <a:gd name="connsiteX4" fmla="*/ 771276 w 8804744"/>
                <a:gd name="connsiteY4" fmla="*/ 0 h 118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04744" h="1184745">
                  <a:moveTo>
                    <a:pt x="771276" y="0"/>
                  </a:moveTo>
                  <a:lnTo>
                    <a:pt x="8804744" y="0"/>
                  </a:lnTo>
                  <a:lnTo>
                    <a:pt x="8804744" y="1184745"/>
                  </a:lnTo>
                  <a:lnTo>
                    <a:pt x="0" y="1184745"/>
                  </a:lnTo>
                  <a:lnTo>
                    <a:pt x="771276" y="0"/>
                  </a:lnTo>
                  <a:close/>
                </a:path>
              </a:pathLst>
            </a:custGeom>
            <a:solidFill>
              <a:srgbClr val="02042E"/>
            </a:solidFill>
            <a:ln w="38100"/>
          </p:spPr>
          <p:style>
            <a:lnRef idx="3">
              <a:schemeClr val="lt1"/>
            </a:lnRef>
            <a:fillRef idx="1">
              <a:schemeClr val="accent4"/>
            </a:fillRef>
            <a:effectRef idx="1">
              <a:schemeClr val="accent4"/>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pic>
          <p:nvPicPr>
            <p:cNvPr id="8" name="Picture 7">
              <a:extLst>
                <a:ext uri="{FF2B5EF4-FFF2-40B4-BE49-F238E27FC236}">
                  <a16:creationId xmlns:a16="http://schemas.microsoft.com/office/drawing/2014/main" id="{78467818-08E7-C5EC-A2BE-85D9D7A7F9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144000" y="6253534"/>
              <a:ext cx="2942306" cy="517005"/>
            </a:xfrm>
            <a:prstGeom prst="rect">
              <a:avLst/>
            </a:prstGeom>
          </p:spPr>
        </p:pic>
      </p:grpSp>
      <p:sp>
        <p:nvSpPr>
          <p:cNvPr id="6" name="TextBox 5">
            <a:extLst>
              <a:ext uri="{FF2B5EF4-FFF2-40B4-BE49-F238E27FC236}">
                <a16:creationId xmlns:a16="http://schemas.microsoft.com/office/drawing/2014/main" id="{127A6148-8856-D0A3-B5FD-2AC785D53131}"/>
              </a:ext>
            </a:extLst>
          </p:cNvPr>
          <p:cNvSpPr txBox="1"/>
          <p:nvPr userDrawn="1"/>
        </p:nvSpPr>
        <p:spPr>
          <a:xfrm>
            <a:off x="228213" y="4112486"/>
            <a:ext cx="7061362" cy="492443"/>
          </a:xfrm>
          <a:prstGeom prst="rect">
            <a:avLst/>
          </a:prstGeom>
          <a:noFill/>
        </p:spPr>
        <p:txBody>
          <a:bodyPr wrap="square" rtlCol="0">
            <a:spAutoFit/>
          </a:bodyPr>
          <a:lstStyle/>
          <a:p>
            <a:r>
              <a:rPr lang="en-US" sz="2600" b="1" i="1">
                <a:solidFill>
                  <a:schemeClr val="bg1"/>
                </a:solidFill>
                <a:latin typeface="Arial" panose="020B0604020202020204" pitchFamily="34" charset="0"/>
                <a:cs typeface="Arial" panose="020B0604020202020204" pitchFamily="34" charset="0"/>
              </a:rPr>
              <a:t>Appendix</a:t>
            </a:r>
            <a:endParaRPr lang="en-US" sz="1600" b="1" i="1">
              <a:solidFill>
                <a:schemeClr val="bg1"/>
              </a:solidFill>
              <a:latin typeface="Arial" panose="020B0604020202020204" pitchFamily="34" charset="0"/>
              <a:cs typeface="Arial" panose="020B0604020202020204" pitchFamily="34" charset="0"/>
            </a:endParaRPr>
          </a:p>
        </p:txBody>
      </p:sp>
      <p:sp>
        <p:nvSpPr>
          <p:cNvPr id="14" name="Text Placeholder 4">
            <a:extLst>
              <a:ext uri="{FF2B5EF4-FFF2-40B4-BE49-F238E27FC236}">
                <a16:creationId xmlns:a16="http://schemas.microsoft.com/office/drawing/2014/main" id="{325F22EE-6988-8920-37F7-4AEFC82FF28A}"/>
              </a:ext>
            </a:extLst>
          </p:cNvPr>
          <p:cNvSpPr>
            <a:spLocks noGrp="1"/>
          </p:cNvSpPr>
          <p:nvPr>
            <p:ph type="body" sz="quarter" idx="12" hasCustomPrompt="1"/>
          </p:nvPr>
        </p:nvSpPr>
        <p:spPr>
          <a:xfrm>
            <a:off x="319108" y="4539913"/>
            <a:ext cx="6408738" cy="435120"/>
          </a:xfrm>
        </p:spPr>
        <p:txBody>
          <a:bodyPr lIns="0" rIns="0">
            <a:normAutofit/>
          </a:bodyPr>
          <a:lstStyle>
            <a:lvl1pPr marL="0" indent="0">
              <a:buNone/>
              <a:defRPr sz="1600" b="1" i="1">
                <a:solidFill>
                  <a:schemeClr val="bg1"/>
                </a:solidFill>
                <a:latin typeface="Arial" panose="020B0604020202020204" pitchFamily="34" charset="0"/>
                <a:cs typeface="Arial" panose="020B0604020202020204" pitchFamily="34" charset="0"/>
              </a:defRPr>
            </a:lvl1pPr>
          </a:lstStyle>
          <a:p>
            <a:pPr lvl="0"/>
            <a:r>
              <a:rPr lang="en-US"/>
              <a:t>Deal Name Prospect</a:t>
            </a:r>
          </a:p>
        </p:txBody>
      </p:sp>
    </p:spTree>
    <p:extLst>
      <p:ext uri="{BB962C8B-B14F-4D97-AF65-F5344CB8AC3E}">
        <p14:creationId xmlns:p14="http://schemas.microsoft.com/office/powerpoint/2010/main" val="716927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54ACC5-FEFF-47F1-9A5C-F771A6C0BB73}"/>
              </a:ext>
            </a:extLst>
          </p:cNvPr>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0A34A8-9056-48C8-AAD4-AAB047B3B9FA}"/>
              </a:ext>
            </a:extLst>
          </p:cNvPr>
          <p:cNvSpPr>
            <a:spLocks noGrp="1"/>
          </p:cNvSpPr>
          <p:nvPr>
            <p:ph type="dt" sz="half" idx="10"/>
          </p:nvPr>
        </p:nvSpPr>
        <p:spPr/>
        <p:txBody>
          <a:bodyPr/>
          <a:lstStyle/>
          <a:p>
            <a:fld id="{8092ACDE-C7C6-4CFA-AF77-ED922F5854A5}" type="datetime1">
              <a:rPr lang="en-US" smtClean="0"/>
              <a:t>6/23/2026</a:t>
            </a:fld>
            <a:endParaRPr lang="en-US"/>
          </a:p>
        </p:txBody>
      </p:sp>
      <p:sp>
        <p:nvSpPr>
          <p:cNvPr id="5" name="Footer Placeholder 4">
            <a:extLst>
              <a:ext uri="{FF2B5EF4-FFF2-40B4-BE49-F238E27FC236}">
                <a16:creationId xmlns:a16="http://schemas.microsoft.com/office/drawing/2014/main" id="{49E800B5-BE38-4C5F-9F05-2E82FDE4F26F}"/>
              </a:ext>
            </a:extLst>
          </p:cNvPr>
          <p:cNvSpPr>
            <a:spLocks noGrp="1"/>
          </p:cNvSpPr>
          <p:nvPr>
            <p:ph type="ftr" sz="quarter" idx="11"/>
          </p:nvPr>
        </p:nvSpPr>
        <p:spPr/>
        <p:txBody>
          <a:bodyPr/>
          <a:lstStyle/>
          <a:p>
            <a:endParaRPr lang="en-US"/>
          </a:p>
        </p:txBody>
      </p:sp>
      <p:sp>
        <p:nvSpPr>
          <p:cNvPr id="10" name="Rectangle 9">
            <a:extLst>
              <a:ext uri="{FF2B5EF4-FFF2-40B4-BE49-F238E27FC236}">
                <a16:creationId xmlns:a16="http://schemas.microsoft.com/office/drawing/2014/main" id="{70EDCF7F-D9AF-4363-BF01-F3F582841D47}"/>
              </a:ext>
            </a:extLst>
          </p:cNvPr>
          <p:cNvSpPr/>
          <p:nvPr userDrawn="1"/>
        </p:nvSpPr>
        <p:spPr>
          <a:xfrm>
            <a:off x="47627" y="136526"/>
            <a:ext cx="12106274" cy="686586"/>
          </a:xfrm>
          <a:prstGeom prst="rect">
            <a:avLst/>
          </a:prstGeom>
          <a:solidFill>
            <a:schemeClr val="accent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4458AC83-71D9-4199-8C05-56947B9B2290}"/>
              </a:ext>
            </a:extLst>
          </p:cNvPr>
          <p:cNvSpPr>
            <a:spLocks noGrp="1"/>
          </p:cNvSpPr>
          <p:nvPr>
            <p:ph type="sldNum" sz="quarter" idx="12"/>
          </p:nvPr>
        </p:nvSpPr>
        <p:spPr/>
        <p:txBody>
          <a:bodyPr/>
          <a:lstStyle/>
          <a:p>
            <a:fld id="{19B19BDD-DD89-4CD9-A1F3-D76BEB018B7B}" type="slidenum">
              <a:rPr lang="en-US" smtClean="0"/>
              <a:t>‹#›</a:t>
            </a:fld>
            <a:endParaRPr lang="en-US"/>
          </a:p>
        </p:txBody>
      </p:sp>
      <p:sp>
        <p:nvSpPr>
          <p:cNvPr id="8" name="Rectangle 7">
            <a:extLst>
              <a:ext uri="{FF2B5EF4-FFF2-40B4-BE49-F238E27FC236}">
                <a16:creationId xmlns:a16="http://schemas.microsoft.com/office/drawing/2014/main" id="{E5CA9E0E-4C92-465B-A58A-D336DB61E32C}"/>
              </a:ext>
            </a:extLst>
          </p:cNvPr>
          <p:cNvSpPr/>
          <p:nvPr userDrawn="1"/>
        </p:nvSpPr>
        <p:spPr>
          <a:xfrm>
            <a:off x="45275" y="839786"/>
            <a:ext cx="10629900" cy="365125"/>
          </a:xfrm>
          <a:custGeom>
            <a:avLst/>
            <a:gdLst>
              <a:gd name="connsiteX0" fmla="*/ 0 w 10629900"/>
              <a:gd name="connsiteY0" fmla="*/ 0 h 365125"/>
              <a:gd name="connsiteX1" fmla="*/ 10629900 w 10629900"/>
              <a:gd name="connsiteY1" fmla="*/ 0 h 365125"/>
              <a:gd name="connsiteX2" fmla="*/ 10629900 w 10629900"/>
              <a:gd name="connsiteY2" fmla="*/ 365125 h 365125"/>
              <a:gd name="connsiteX3" fmla="*/ 0 w 10629900"/>
              <a:gd name="connsiteY3" fmla="*/ 365125 h 365125"/>
              <a:gd name="connsiteX4" fmla="*/ 0 w 10629900"/>
              <a:gd name="connsiteY4" fmla="*/ 0 h 365125"/>
              <a:gd name="connsiteX0" fmla="*/ 0 w 10629900"/>
              <a:gd name="connsiteY0" fmla="*/ 0 h 365125"/>
              <a:gd name="connsiteX1" fmla="*/ 10629900 w 10629900"/>
              <a:gd name="connsiteY1" fmla="*/ 0 h 365125"/>
              <a:gd name="connsiteX2" fmla="*/ 10077450 w 10629900"/>
              <a:gd name="connsiteY2" fmla="*/ 355600 h 365125"/>
              <a:gd name="connsiteX3" fmla="*/ 0 w 10629900"/>
              <a:gd name="connsiteY3" fmla="*/ 365125 h 365125"/>
              <a:gd name="connsiteX4" fmla="*/ 0 w 10629900"/>
              <a:gd name="connsiteY4" fmla="*/ 0 h 365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29900" h="365125">
                <a:moveTo>
                  <a:pt x="0" y="0"/>
                </a:moveTo>
                <a:lnTo>
                  <a:pt x="10629900" y="0"/>
                </a:lnTo>
                <a:lnTo>
                  <a:pt x="10077450" y="355600"/>
                </a:lnTo>
                <a:lnTo>
                  <a:pt x="0" y="365125"/>
                </a:lnTo>
                <a:lnTo>
                  <a:pt x="0" y="0"/>
                </a:lnTo>
                <a:close/>
              </a:path>
            </a:pathLst>
          </a:custGeom>
          <a:solidFill>
            <a:schemeClr val="accent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D95C57-D0F9-4D39-81D4-8BE1F77E0553}"/>
              </a:ext>
            </a:extLst>
          </p:cNvPr>
          <p:cNvSpPr>
            <a:spLocks noGrp="1"/>
          </p:cNvSpPr>
          <p:nvPr>
            <p:ph type="title" hasCustomPrompt="1"/>
          </p:nvPr>
        </p:nvSpPr>
        <p:spPr>
          <a:xfrm>
            <a:off x="333375" y="221843"/>
            <a:ext cx="11125200" cy="496493"/>
          </a:xfrm>
          <a:prstGeom prst="rect">
            <a:avLst/>
          </a:prstGeom>
        </p:spPr>
        <p:txBody>
          <a:bodyPr anchor="ctr"/>
          <a:lstStyle>
            <a:lvl1pPr algn="l">
              <a:defRPr sz="2800" b="1">
                <a:solidFill>
                  <a:schemeClr val="bg1"/>
                </a:solidFill>
                <a:latin typeface="Arial" panose="020B0604020202020204" pitchFamily="34" charset="0"/>
                <a:cs typeface="Arial" panose="020B0604020202020204" pitchFamily="34" charset="0"/>
              </a:defRPr>
            </a:lvl1pPr>
          </a:lstStyle>
          <a:p>
            <a:r>
              <a:rPr lang="en-US"/>
              <a:t>Click to Edit</a:t>
            </a:r>
          </a:p>
        </p:txBody>
      </p:sp>
      <p:sp>
        <p:nvSpPr>
          <p:cNvPr id="13" name="Text Placeholder 12">
            <a:extLst>
              <a:ext uri="{FF2B5EF4-FFF2-40B4-BE49-F238E27FC236}">
                <a16:creationId xmlns:a16="http://schemas.microsoft.com/office/drawing/2014/main" id="{A0A3237C-43C4-48F4-A70B-CB3BDFBA9E0E}"/>
              </a:ext>
            </a:extLst>
          </p:cNvPr>
          <p:cNvSpPr>
            <a:spLocks noGrp="1"/>
          </p:cNvSpPr>
          <p:nvPr>
            <p:ph type="body" sz="quarter" idx="13" hasCustomPrompt="1"/>
          </p:nvPr>
        </p:nvSpPr>
        <p:spPr>
          <a:xfrm>
            <a:off x="419100" y="868363"/>
            <a:ext cx="9201150" cy="365125"/>
          </a:xfrm>
        </p:spPr>
        <p:txBody>
          <a:bodyPr anchor="ctr">
            <a:noAutofit/>
          </a:bodyPr>
          <a:lstStyle>
            <a:lvl1pPr>
              <a:defRPr lang="en-US" sz="1800" b="1" dirty="0">
                <a:solidFill>
                  <a:schemeClr val="bg1"/>
                </a:solidFill>
                <a:latin typeface="Arial" panose="020B0604020202020204" pitchFamily="34" charset="0"/>
                <a:ea typeface="+mj-ea"/>
                <a:cs typeface="Arial" panose="020B0604020202020204" pitchFamily="34" charset="0"/>
              </a:defRPr>
            </a:lvl1pPr>
          </a:lstStyle>
          <a:p>
            <a:pPr lvl="0">
              <a:spcBef>
                <a:spcPct val="0"/>
              </a:spcBef>
              <a:buNone/>
            </a:pPr>
            <a:r>
              <a:rPr lang="en-US"/>
              <a:t>Edit Main Point</a:t>
            </a:r>
          </a:p>
        </p:txBody>
      </p:sp>
    </p:spTree>
    <p:extLst>
      <p:ext uri="{BB962C8B-B14F-4D97-AF65-F5344CB8AC3E}">
        <p14:creationId xmlns:p14="http://schemas.microsoft.com/office/powerpoint/2010/main" val="35469425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E1D64-6816-46DF-BFA9-076A2404C5DE}"/>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B108BA2E-B854-4E37-AE1E-3B7B4464588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D1F2610-2C07-443C-847A-89DBAC6734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945CD6A-98F8-4470-B87E-5E1D40ED0851}"/>
              </a:ext>
            </a:extLst>
          </p:cNvPr>
          <p:cNvSpPr>
            <a:spLocks noGrp="1"/>
          </p:cNvSpPr>
          <p:nvPr>
            <p:ph type="dt" sz="half" idx="10"/>
          </p:nvPr>
        </p:nvSpPr>
        <p:spPr/>
        <p:txBody>
          <a:bodyPr/>
          <a:lstStyle/>
          <a:p>
            <a:fld id="{38A0F43C-C2DE-4D34-9A4E-CE0E7A68DA0B}" type="datetime1">
              <a:rPr lang="en-US" smtClean="0"/>
              <a:t>6/23/2026</a:t>
            </a:fld>
            <a:endParaRPr lang="en-US"/>
          </a:p>
        </p:txBody>
      </p:sp>
      <p:sp>
        <p:nvSpPr>
          <p:cNvPr id="6" name="Footer Placeholder 5">
            <a:extLst>
              <a:ext uri="{FF2B5EF4-FFF2-40B4-BE49-F238E27FC236}">
                <a16:creationId xmlns:a16="http://schemas.microsoft.com/office/drawing/2014/main" id="{CFD56CF6-5B1D-4ED0-86B6-2DBC8A8457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F22142-D681-4814-9FBE-B35E7E9FD527}"/>
              </a:ext>
            </a:extLst>
          </p:cNvPr>
          <p:cNvSpPr>
            <a:spLocks noGrp="1"/>
          </p:cNvSpPr>
          <p:nvPr>
            <p:ph type="sldNum" sz="quarter" idx="12"/>
          </p:nvPr>
        </p:nvSpPr>
        <p:spPr/>
        <p:txBody>
          <a:bodyPr/>
          <a:lstStyle/>
          <a:p>
            <a:fld id="{19B19BDD-DD89-4CD9-A1F3-D76BEB018B7B}" type="slidenum">
              <a:rPr lang="en-US" smtClean="0"/>
              <a:t>‹#›</a:t>
            </a:fld>
            <a:endParaRPr lang="en-US"/>
          </a:p>
        </p:txBody>
      </p:sp>
    </p:spTree>
    <p:extLst>
      <p:ext uri="{BB962C8B-B14F-4D97-AF65-F5344CB8AC3E}">
        <p14:creationId xmlns:p14="http://schemas.microsoft.com/office/powerpoint/2010/main" val="5201837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85958-38C5-4009-8D06-15D90C6603D3}"/>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2EA6E8CB-B275-411E-AE9A-ABC99CA389DE}"/>
              </a:ext>
            </a:extLst>
          </p:cNvPr>
          <p:cNvSpPr>
            <a:spLocks noGrp="1"/>
          </p:cNvSpPr>
          <p:nvPr>
            <p:ph type="dt" sz="half" idx="10"/>
          </p:nvPr>
        </p:nvSpPr>
        <p:spPr/>
        <p:txBody>
          <a:bodyPr/>
          <a:lstStyle/>
          <a:p>
            <a:fld id="{288073FD-B8C4-4FFD-B151-2217B68BCEB6}" type="datetime1">
              <a:rPr lang="en-US" smtClean="0"/>
              <a:t>6/23/2026</a:t>
            </a:fld>
            <a:endParaRPr lang="en-US"/>
          </a:p>
        </p:txBody>
      </p:sp>
      <p:sp>
        <p:nvSpPr>
          <p:cNvPr id="4" name="Footer Placeholder 3">
            <a:extLst>
              <a:ext uri="{FF2B5EF4-FFF2-40B4-BE49-F238E27FC236}">
                <a16:creationId xmlns:a16="http://schemas.microsoft.com/office/drawing/2014/main" id="{B1A31CA6-A94E-47A9-AF09-2066313D9CC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63ED772-5741-4F76-A57A-C4D41FD80BB0}"/>
              </a:ext>
            </a:extLst>
          </p:cNvPr>
          <p:cNvSpPr>
            <a:spLocks noGrp="1"/>
          </p:cNvSpPr>
          <p:nvPr>
            <p:ph type="sldNum" sz="quarter" idx="12"/>
          </p:nvPr>
        </p:nvSpPr>
        <p:spPr/>
        <p:txBody>
          <a:bodyPr/>
          <a:lstStyle/>
          <a:p>
            <a:fld id="{19B19BDD-DD89-4CD9-A1F3-D76BEB018B7B}" type="slidenum">
              <a:rPr lang="en-US" smtClean="0"/>
              <a:t>‹#›</a:t>
            </a:fld>
            <a:endParaRPr lang="en-US"/>
          </a:p>
        </p:txBody>
      </p:sp>
    </p:spTree>
    <p:extLst>
      <p:ext uri="{BB962C8B-B14F-4D97-AF65-F5344CB8AC3E}">
        <p14:creationId xmlns:p14="http://schemas.microsoft.com/office/powerpoint/2010/main" val="53664200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C08DD1-3FD4-47A5-8F58-A901A2427C0E}"/>
              </a:ext>
            </a:extLst>
          </p:cNvPr>
          <p:cNvSpPr>
            <a:spLocks noGrp="1"/>
          </p:cNvSpPr>
          <p:nvPr>
            <p:ph type="dt" sz="half" idx="10"/>
          </p:nvPr>
        </p:nvSpPr>
        <p:spPr/>
        <p:txBody>
          <a:bodyPr/>
          <a:lstStyle/>
          <a:p>
            <a:fld id="{6F366223-E6F6-490D-91FF-001304B3F757}" type="datetime1">
              <a:rPr lang="en-US" smtClean="0"/>
              <a:t>6/23/2026</a:t>
            </a:fld>
            <a:endParaRPr lang="en-US"/>
          </a:p>
        </p:txBody>
      </p:sp>
      <p:sp>
        <p:nvSpPr>
          <p:cNvPr id="3" name="Footer Placeholder 2">
            <a:extLst>
              <a:ext uri="{FF2B5EF4-FFF2-40B4-BE49-F238E27FC236}">
                <a16:creationId xmlns:a16="http://schemas.microsoft.com/office/drawing/2014/main" id="{A97CD59A-C81A-43E7-B842-83AE371040B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F08D556-6F58-4BBB-B7D3-75B90E70E4CA}"/>
              </a:ext>
            </a:extLst>
          </p:cNvPr>
          <p:cNvSpPr>
            <a:spLocks noGrp="1"/>
          </p:cNvSpPr>
          <p:nvPr>
            <p:ph type="sldNum" sz="quarter" idx="12"/>
          </p:nvPr>
        </p:nvSpPr>
        <p:spPr/>
        <p:txBody>
          <a:bodyPr/>
          <a:lstStyle/>
          <a:p>
            <a:fld id="{19B19BDD-DD89-4CD9-A1F3-D76BEB018B7B}" type="slidenum">
              <a:rPr lang="en-US" smtClean="0"/>
              <a:t>‹#›</a:t>
            </a:fld>
            <a:endParaRPr lang="en-US"/>
          </a:p>
        </p:txBody>
      </p:sp>
    </p:spTree>
    <p:extLst>
      <p:ext uri="{BB962C8B-B14F-4D97-AF65-F5344CB8AC3E}">
        <p14:creationId xmlns:p14="http://schemas.microsoft.com/office/powerpoint/2010/main" val="211139023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49432-C976-86DD-7BC6-032E0D2C8E7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42AD5AB4-92DE-2186-7AD3-6E10267EE275}"/>
              </a:ext>
            </a:extLst>
          </p:cNvPr>
          <p:cNvSpPr>
            <a:spLocks noGrp="1"/>
          </p:cNvSpPr>
          <p:nvPr>
            <p:ph type="dt" sz="half" idx="10"/>
          </p:nvPr>
        </p:nvSpPr>
        <p:spPr/>
        <p:txBody>
          <a:bodyPr/>
          <a:lstStyle/>
          <a:p>
            <a:fld id="{ABDD3A6C-2616-421F-8F95-034E9E7C50D1}" type="datetime1">
              <a:rPr lang="en-US" smtClean="0"/>
              <a:t>6/23/2026</a:t>
            </a:fld>
            <a:endParaRPr lang="en-US"/>
          </a:p>
        </p:txBody>
      </p:sp>
      <p:sp>
        <p:nvSpPr>
          <p:cNvPr id="4" name="Footer Placeholder 3">
            <a:extLst>
              <a:ext uri="{FF2B5EF4-FFF2-40B4-BE49-F238E27FC236}">
                <a16:creationId xmlns:a16="http://schemas.microsoft.com/office/drawing/2014/main" id="{837C1956-CA90-8273-95F9-2994450DEDA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53A3D4A-1E93-26E7-E76B-CC77EE0A8A02}"/>
              </a:ext>
            </a:extLst>
          </p:cNvPr>
          <p:cNvSpPr>
            <a:spLocks noGrp="1"/>
          </p:cNvSpPr>
          <p:nvPr>
            <p:ph type="sldNum" sz="quarter" idx="12"/>
          </p:nvPr>
        </p:nvSpPr>
        <p:spPr/>
        <p:txBody>
          <a:bodyPr/>
          <a:lstStyle/>
          <a:p>
            <a:fld id="{19B19BDD-DD89-4CD9-A1F3-D76BEB018B7B}" type="slidenum">
              <a:rPr lang="en-US" smtClean="0"/>
              <a:t>‹#›</a:t>
            </a:fld>
            <a:endParaRPr lang="en-US"/>
          </a:p>
        </p:txBody>
      </p:sp>
    </p:spTree>
    <p:extLst>
      <p:ext uri="{BB962C8B-B14F-4D97-AF65-F5344CB8AC3E}">
        <p14:creationId xmlns:p14="http://schemas.microsoft.com/office/powerpoint/2010/main" val="40739479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E79E96C-7E45-4C33-AE92-C8776A8DEE6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494E2-1882-4AAC-B5C9-257CBBB604A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BDD3A6C-2616-421F-8F95-034E9E7C50D1}" type="datetime1">
              <a:rPr lang="en-US" smtClean="0"/>
              <a:t>6/23/2026</a:t>
            </a:fld>
            <a:endParaRPr lang="en-US"/>
          </a:p>
        </p:txBody>
      </p:sp>
      <p:sp>
        <p:nvSpPr>
          <p:cNvPr id="5" name="Footer Placeholder 4">
            <a:extLst>
              <a:ext uri="{FF2B5EF4-FFF2-40B4-BE49-F238E27FC236}">
                <a16:creationId xmlns:a16="http://schemas.microsoft.com/office/drawing/2014/main" id="{ADB7D691-6932-4B15-958B-30541914349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B860E8F-C1C3-429D-BCE3-B253F95F9FE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9B19BDD-DD89-4CD9-A1F3-D76BEB018B7B}" type="slidenum">
              <a:rPr lang="en-US" smtClean="0"/>
              <a:t>‹#›</a:t>
            </a:fld>
            <a:endParaRPr lang="en-US"/>
          </a:p>
        </p:txBody>
      </p:sp>
      <p:sp>
        <p:nvSpPr>
          <p:cNvPr id="7" name="Text Placeholder 12">
            <a:extLst>
              <a:ext uri="{FF2B5EF4-FFF2-40B4-BE49-F238E27FC236}">
                <a16:creationId xmlns:a16="http://schemas.microsoft.com/office/drawing/2014/main" id="{89D54E95-889C-485A-AA83-30C404C1B2EB}"/>
              </a:ext>
            </a:extLst>
          </p:cNvPr>
          <p:cNvSpPr txBox="1">
            <a:spLocks/>
          </p:cNvSpPr>
          <p:nvPr userDrawn="1"/>
        </p:nvSpPr>
        <p:spPr>
          <a:xfrm>
            <a:off x="339313" y="682710"/>
            <a:ext cx="9201150" cy="225744"/>
          </a:xfrm>
          <a:prstGeom prst="rect">
            <a:avLst/>
          </a:prstGeom>
        </p:spPr>
        <p:txBody>
          <a:bodyPr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US" sz="1400" b="0" kern="1200" dirty="0">
                <a:solidFill>
                  <a:schemeClr val="bg1"/>
                </a:solidFill>
                <a:latin typeface="Arial" panose="020B0604020202020204" pitchFamily="34" charset="0"/>
                <a:ea typeface="+mj-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ct val="0"/>
              </a:spcBef>
              <a:buFont typeface="Arial" panose="020B0604020202020204" pitchFamily="34" charset="0"/>
              <a:buNone/>
            </a:pPr>
            <a:r>
              <a:rPr lang="en-US"/>
              <a:t>Laguna Grande Section 29-23S-23E – Eddy County</a:t>
            </a:r>
          </a:p>
        </p:txBody>
      </p:sp>
    </p:spTree>
    <p:extLst>
      <p:ext uri="{BB962C8B-B14F-4D97-AF65-F5344CB8AC3E}">
        <p14:creationId xmlns:p14="http://schemas.microsoft.com/office/powerpoint/2010/main" val="4225887755"/>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9" r:id="rId3"/>
    <p:sldLayoutId id="2147483661" r:id="rId4"/>
    <p:sldLayoutId id="2147483672" r:id="rId5"/>
    <p:sldLayoutId id="2147483668" r:id="rId6"/>
    <p:sldLayoutId id="2147483667" r:id="rId7"/>
    <p:sldLayoutId id="2147483670" r:id="rId8"/>
    <p:sldLayoutId id="2147483671" r:id="rId9"/>
    <p:sldLayoutId id="2147483673" r:id="rId10"/>
    <p:sldLayoutId id="2147483666" r:id="rId11"/>
    <p:sldLayoutId id="2147483660" r:id="rId12"/>
    <p:sldLayoutId id="2147483652" r:id="rId13"/>
    <p:sldLayoutId id="2147483654" r:id="rId14"/>
    <p:sldLayoutId id="2147483655" r:id="rId15"/>
    <p:sldLayoutId id="2147483665" r:id="rId1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wrap="square"/>
          <a:lstStyle/>
          <a:p>
            <a:r>
              <a:t>June 29, 2026</a:t>
            </a:r>
          </a:p>
        </p:txBody>
      </p:sp>
      <p:sp>
        <p:nvSpPr>
          <p:cNvPr id="3" name="Text Placeholder 2"/>
          <p:cNvSpPr>
            <a:spLocks noGrp="1"/>
          </p:cNvSpPr>
          <p:nvPr>
            <p:ph type="body" idx="11" sz="quarter"/>
          </p:nvPr>
        </p:nvSpPr>
        <p:spPr/>
        <p:txBody>
          <a:bodyPr wrap="square"/>
          <a:lstStyle/>
          <a:p>
            <a:r>
              <a:t>Central Utility Plant (CUP) — Co-Generation Project</a:t>
            </a:r>
          </a:p>
        </p:txBody>
      </p:sp>
      <p:sp>
        <p:nvSpPr>
          <p:cNvPr id="4" name="Text Placeholder 3"/>
          <p:cNvSpPr>
            <a:spLocks noGrp="1"/>
          </p:cNvSpPr>
          <p:nvPr>
            <p:ph type="body" idx="12" sz="quarter"/>
          </p:nvPr>
        </p:nvSpPr>
        <p:spPr/>
        <p:txBody>
          <a:bodyPr wrap="square"/>
          <a:lstStyle/>
          <a:p>
            <a:r>
              <a:t>Mammoth Hill  ·  Central City, Colorado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r>
              <a:rPr sz="1800">
                <a:solidFill>
                  <a:srgbClr val="292934"/>
                </a:solidFill>
              </a:rPr>
              <a:t>The Co-Gen Special Project Group as well as PDG have considered the recent delivery options as well as progress completed to date. Development of construction documents for the CUP is critical to completing the application and approval for the Xcel gas use application. We provide the following points for consideration by ownership to continue on our current path to include the CUP as part of the overall delivery of the Casino project.</a:t>
            </a:r>
          </a:p>
        </p:txBody>
      </p:sp>
      <p:sp>
        <p:nvSpPr>
          <p:cNvPr id="3" name="Title 2"/>
          <p:cNvSpPr>
            <a:spLocks noGrp="1"/>
          </p:cNvSpPr>
          <p:nvPr>
            <p:ph type="title"/>
          </p:nvPr>
        </p:nvSpPr>
        <p:spPr/>
        <p:txBody>
          <a:bodyPr wrap="square"/>
          <a:lstStyle/>
          <a:p>
            <a:r>
              <a:t>Project Overview</a:t>
            </a:r>
          </a:p>
        </p:txBody>
      </p:sp>
      <p:sp>
        <p:nvSpPr>
          <p:cNvPr id="4" name="Text Placeholder 3"/>
          <p:cNvSpPr>
            <a:spLocks noGrp="1"/>
          </p:cNvSpPr>
          <p:nvPr>
            <p:ph type="body" idx="13" sz="quarter"/>
          </p:nvPr>
        </p:nvSpPr>
        <p:spPr/>
        <p:txBody>
          <a:bodyPr wrap="square"/>
          <a:lstStyle/>
          <a:p>
            <a:r>
              <a:rPr>
                <a:solidFill>
                  <a:srgbClr val="AA2226"/>
                </a:solidFill>
              </a:rPr>
              <a:t>USGPD as Developer &amp; Operator of the Central Utility Plant (CUP)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1000"/>
              </a:spcAft>
            </a:pPr>
            <a:r>
              <a:rPr sz="1800">
                <a:solidFill>
                  <a:srgbClr val="292934"/>
                </a:solidFill>
              </a:rPr>
              <a:t>Primary Focus</a:t>
            </a:r>
          </a:p>
          <a:p>
            <a:pPr>
              <a:spcAft>
                <a:spcPts val="1000"/>
              </a:spcAft>
            </a:pPr>
            <a:r>
              <a:rPr sz="1800">
                <a:solidFill>
                  <a:srgbClr val="292934"/>
                </a:solidFill>
              </a:rPr>
              <a:t>Application Timeline</a:t>
            </a:r>
          </a:p>
          <a:p>
            <a:pPr>
              <a:spcAft>
                <a:spcPts val="1000"/>
              </a:spcAft>
            </a:pPr>
            <a:r>
              <a:rPr sz="1800">
                <a:solidFill>
                  <a:srgbClr val="292934"/>
                </a:solidFill>
              </a:rPr>
              <a:t>CUP Location</a:t>
            </a:r>
          </a:p>
          <a:p>
            <a:pPr>
              <a:spcAft>
                <a:spcPts val="1000"/>
              </a:spcAft>
            </a:pPr>
            <a:r>
              <a:rPr sz="1800">
                <a:solidFill>
                  <a:srgbClr val="292934"/>
                </a:solidFill>
              </a:rPr>
              <a:t>Alternate Delivery Sources</a:t>
            </a:r>
          </a:p>
          <a:p>
            <a:pPr>
              <a:spcAft>
                <a:spcPts val="1000"/>
              </a:spcAft>
            </a:pPr>
            <a:r>
              <a:rPr sz="1800">
                <a:solidFill>
                  <a:srgbClr val="292934"/>
                </a:solidFill>
              </a:rPr>
              <a:t>Utility Cost Control</a:t>
            </a:r>
          </a:p>
          <a:p>
            <a:pPr>
              <a:spcAft>
                <a:spcPts val="1000"/>
              </a:spcAft>
            </a:pPr>
            <a:r>
              <a:rPr sz="1800">
                <a:solidFill>
                  <a:srgbClr val="292934"/>
                </a:solidFill>
              </a:rPr>
              <a:t>Long-Term Economic Payback</a:t>
            </a:r>
          </a:p>
          <a:p>
            <a:pPr>
              <a:spcAft>
                <a:spcPts val="1000"/>
              </a:spcAft>
            </a:pPr>
            <a:r>
              <a:rPr sz="1800">
                <a:solidFill>
                  <a:srgbClr val="292934"/>
                </a:solidFill>
              </a:rPr>
              <a:t>Central City Mini-District Constraints</a:t>
            </a:r>
          </a:p>
        </p:txBody>
      </p:sp>
      <p:sp>
        <p:nvSpPr>
          <p:cNvPr id="3" name="Title 2"/>
          <p:cNvSpPr>
            <a:spLocks noGrp="1"/>
          </p:cNvSpPr>
          <p:nvPr>
            <p:ph type="title"/>
          </p:nvPr>
        </p:nvSpPr>
        <p:spPr/>
        <p:txBody>
          <a:bodyPr wrap="square"/>
          <a:lstStyle/>
          <a:p>
            <a:r>
              <a:t>Advantages of Developing, Owning &amp; Operating the CUP</a:t>
            </a:r>
          </a:p>
        </p:txBody>
      </p:sp>
      <p:sp>
        <p:nvSpPr>
          <p:cNvPr id="4" name="Text Placeholder 3"/>
          <p:cNvSpPr>
            <a:spLocks noGrp="1"/>
          </p:cNvSpPr>
          <p:nvPr>
            <p:ph type="body" idx="13" sz="quarter"/>
          </p:nvPr>
        </p:nvSpPr>
        <p:spPr/>
        <p:txBody>
          <a:bodyPr wrap="square"/>
          <a:lstStyle/>
          <a:p>
            <a:r>
              <a:rPr>
                <a:solidFill>
                  <a:srgbClr val="AA2226"/>
                </a:solidFill>
              </a:rPr>
              <a:t>Seven reasons to keep the CUP inside the Casino project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800"/>
              </a:spcAft>
            </a:pPr>
            <a:r>
              <a:rPr sz="1600">
                <a:solidFill>
                  <a:srgbClr val="292934"/>
                </a:solidFill>
              </a:rPr>
              <a:t>Our primary focus is the construction and operation of the Casino.</a:t>
            </a:r>
          </a:p>
          <a:p>
            <a:pPr>
              <a:spcAft>
                <a:spcPts val="800"/>
              </a:spcAft>
            </a:pPr>
            <a:r>
              <a:rPr sz="1600">
                <a:solidFill>
                  <a:srgbClr val="292934"/>
                </a:solidFill>
              </a:rPr>
              <a:t>The CUP is an essential part of the overall project delivery and long-term operation.</a:t>
            </a:r>
          </a:p>
          <a:p>
            <a:pPr>
              <a:spcAft>
                <a:spcPts val="800"/>
              </a:spcAft>
            </a:pPr>
            <a:r>
              <a:rPr sz="1600">
                <a:solidFill>
                  <a:srgbClr val="292934"/>
                </a:solidFill>
              </a:rPr>
              <a:t>Being one user in a larger district would transfer timely delivery and key decision-making to a separate entity.</a:t>
            </a:r>
          </a:p>
        </p:txBody>
      </p:sp>
      <p:sp>
        <p:nvSpPr>
          <p:cNvPr id="3" name="Title 2"/>
          <p:cNvSpPr>
            <a:spLocks noGrp="1"/>
          </p:cNvSpPr>
          <p:nvPr>
            <p:ph type="title"/>
          </p:nvPr>
        </p:nvSpPr>
        <p:spPr/>
        <p:txBody>
          <a:bodyPr wrap="square"/>
          <a:lstStyle/>
          <a:p>
            <a:r>
              <a:t>Primary Focus</a:t>
            </a:r>
          </a:p>
        </p:txBody>
      </p:sp>
      <p:sp>
        <p:nvSpPr>
          <p:cNvPr id="4" name="Text Placeholder 3"/>
          <p:cNvSpPr>
            <a:spLocks noGrp="1"/>
          </p:cNvSpPr>
          <p:nvPr>
            <p:ph type="body" idx="13" sz="quarter"/>
          </p:nvPr>
        </p:nvSpPr>
        <p:spPr/>
        <p:txBody>
          <a:bodyPr wrap="square"/>
          <a:lstStyle/>
          <a:p>
            <a:r>
              <a:rPr>
                <a:solidFill>
                  <a:srgbClr val="AA2226"/>
                </a:solidFill>
              </a:rPr>
              <a:t>The CUP is essential to the overall project delivery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800"/>
              </a:spcAft>
            </a:pPr>
            <a:r>
              <a:rPr sz="1500">
                <a:solidFill>
                  <a:srgbClr val="292934"/>
                </a:solidFill>
              </a:rPr>
              <a:t>A Co-Gen consultant was identified in early April for a Feasibility Study; the bid process completed in May and IMEG was selected.</a:t>
            </a:r>
          </a:p>
          <a:p>
            <a:pPr lvl="1">
              <a:spcAft>
                <a:spcPts val="800"/>
              </a:spcAft>
            </a:pPr>
            <a:r>
              <a:rPr sz="1400">
                <a:solidFill>
                  <a:srgbClr val="292934"/>
                </a:solidFill>
              </a:rPr>
              <a:t>IMEG Phase I — ROM &amp; Schedule:  6/5/26 → 6/19/26</a:t>
            </a:r>
          </a:p>
          <a:p>
            <a:pPr lvl="1">
              <a:spcAft>
                <a:spcPts val="800"/>
              </a:spcAft>
            </a:pPr>
            <a:r>
              <a:rPr sz="1400">
                <a:solidFill>
                  <a:srgbClr val="292934"/>
                </a:solidFill>
              </a:rPr>
              <a:t>IMEG Phase II — Equipment Selection, P&amp;ID, Floor Plan, Economic Payback Analysis:  6/19/26 → 8/3/26</a:t>
            </a:r>
          </a:p>
          <a:p>
            <a:pPr lvl="1">
              <a:spcAft>
                <a:spcPts val="800"/>
              </a:spcAft>
            </a:pPr>
            <a:r>
              <a:rPr sz="1400">
                <a:solidFill>
                  <a:srgbClr val="292934"/>
                </a:solidFill>
              </a:rPr>
              <a:t>Energy Modeling (IMEG or Group 14):  7/15/26 → 9/15/26</a:t>
            </a:r>
          </a:p>
          <a:p>
            <a:pPr lvl="1">
              <a:spcAft>
                <a:spcPts val="800"/>
              </a:spcAft>
            </a:pPr>
            <a:r>
              <a:rPr sz="1400">
                <a:solidFill>
                  <a:srgbClr val="292934"/>
                </a:solidFill>
              </a:rPr>
              <a:t>Prepare Construction Documents for the CUP:  8/3/26 → 10/30/26</a:t>
            </a:r>
          </a:p>
          <a:p>
            <a:pPr lvl="1">
              <a:spcAft>
                <a:spcPts val="800"/>
              </a:spcAft>
            </a:pPr>
            <a:r>
              <a:rPr sz="1400">
                <a:solidFill>
                  <a:srgbClr val="292934"/>
                </a:solidFill>
              </a:rPr>
              <a:t>Submit CDs &amp; Application to Xcel for approval:  11/2/26</a:t>
            </a:r>
          </a:p>
        </p:txBody>
      </p:sp>
      <p:sp>
        <p:nvSpPr>
          <p:cNvPr id="3" name="Title 2"/>
          <p:cNvSpPr>
            <a:spLocks noGrp="1"/>
          </p:cNvSpPr>
          <p:nvPr>
            <p:ph type="title"/>
          </p:nvPr>
        </p:nvSpPr>
        <p:spPr/>
        <p:txBody>
          <a:bodyPr wrap="square"/>
          <a:lstStyle/>
          <a:p>
            <a:r>
              <a:t>Application Timeline</a:t>
            </a:r>
          </a:p>
        </p:txBody>
      </p:sp>
      <p:sp>
        <p:nvSpPr>
          <p:cNvPr id="4" name="Text Placeholder 3"/>
          <p:cNvSpPr>
            <a:spLocks noGrp="1"/>
          </p:cNvSpPr>
          <p:nvPr>
            <p:ph type="body" idx="13" sz="quarter"/>
          </p:nvPr>
        </p:nvSpPr>
        <p:spPr/>
        <p:txBody>
          <a:bodyPr wrap="square"/>
          <a:lstStyle/>
          <a:p>
            <a:r>
              <a:rPr>
                <a:solidFill>
                  <a:srgbClr val="AA2226"/>
                </a:solidFill>
              </a:rPr>
              <a:t>IMEG selected (May) to deliver the Feasibility Study; Xcel approval path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48640" y="1554480"/>
            <a:ext cx="5486400" cy="4480560"/>
          </a:xfrm>
        </p:spPr>
        <p:txBody>
          <a:bodyPr wrap="square"/>
          <a:lstStyle/>
          <a:p>
            <a:pPr>
              <a:spcAft>
                <a:spcPts val="800"/>
              </a:spcAft>
            </a:pPr>
            <a:r>
              <a:rPr sz="1500">
                <a:solidFill>
                  <a:srgbClr val="292934"/>
                </a:solidFill>
              </a:rPr>
              <a:t>Proximity of the CUP to the Casino site maximizes reliability and minimizes risk.</a:t>
            </a:r>
          </a:p>
          <a:p>
            <a:pPr>
              <a:spcAft>
                <a:spcPts val="800"/>
              </a:spcAft>
            </a:pPr>
            <a:r>
              <a:rPr sz="1500">
                <a:solidFill>
                  <a:srgbClr val="292934"/>
                </a:solidFill>
              </a:rPr>
              <a:t>A steam / condensate pipe bridge delivers superheated steam to the Casino Mechanical Room and returns condensate to the CUP.</a:t>
            </a:r>
          </a:p>
          <a:p>
            <a:pPr>
              <a:spcAft>
                <a:spcPts val="800"/>
              </a:spcAft>
            </a:pPr>
            <a:r>
              <a:rPr sz="1500">
                <a:solidFill>
                  <a:srgbClr val="292934"/>
                </a:solidFill>
              </a:rPr>
              <a:t>Minimizing pipe-bridge length (pump transfer stations, traps, etc.) reduces maintenance, shutdown risk, service interruption and cost.</a:t>
            </a:r>
          </a:p>
          <a:p>
            <a:pPr>
              <a:spcAft>
                <a:spcPts val="800"/>
              </a:spcAft>
            </a:pPr>
            <a:r>
              <a:rPr sz="1500">
                <a:solidFill>
                  <a:srgbClr val="292934"/>
                </a:solidFill>
              </a:rPr>
              <a:t>Mammoth Hill is the primary location for the CUP site selection process.</a:t>
            </a:r>
          </a:p>
        </p:txBody>
      </p:sp>
      <p:sp>
        <p:nvSpPr>
          <p:cNvPr id="3" name="Title 2"/>
          <p:cNvSpPr>
            <a:spLocks noGrp="1"/>
          </p:cNvSpPr>
          <p:nvPr>
            <p:ph type="title"/>
          </p:nvPr>
        </p:nvSpPr>
        <p:spPr/>
        <p:txBody>
          <a:bodyPr wrap="square"/>
          <a:lstStyle/>
          <a:p>
            <a:r>
              <a:t>CUP Location</a:t>
            </a:r>
          </a:p>
        </p:txBody>
      </p:sp>
      <p:sp>
        <p:nvSpPr>
          <p:cNvPr id="4" name="Text Placeholder 3"/>
          <p:cNvSpPr>
            <a:spLocks noGrp="1"/>
          </p:cNvSpPr>
          <p:nvPr>
            <p:ph type="body" idx="13" sz="quarter"/>
          </p:nvPr>
        </p:nvSpPr>
        <p:spPr/>
        <p:txBody>
          <a:bodyPr wrap="square"/>
          <a:lstStyle/>
          <a:p>
            <a:r>
              <a:rPr>
                <a:solidFill>
                  <a:srgbClr val="AA2226"/>
                </a:solidFill>
              </a:rPr>
              <a:t>Mammoth Hill — proximity is key to reliability and cost</a:t>
            </a:r>
          </a:p>
        </p:txBody>
      </p:sp>
      <p:pic>
        <p:nvPicPr>
          <p:cNvPr id="5" name="Picture 4" descr="site_map.png"/>
          <p:cNvPicPr>
            <a:picLocks noChangeAspect="1"/>
          </p:cNvPicPr>
          <p:nvPr/>
        </p:nvPicPr>
        <p:blipFill>
          <a:blip r:embed="rId2"/>
          <a:stretch>
            <a:fillRect/>
          </a:stretch>
        </p:blipFill>
        <p:spPr>
          <a:xfrm>
            <a:off x="6309360" y="2076389"/>
            <a:ext cx="5486400" cy="3162422"/>
          </a:xfrm>
          <a:prstGeom prst="rect">
            <a:avLst/>
          </a:prstGeom>
          <a:ln w="9525">
            <a:solidFill>
              <a:srgbClr val="808DA0"/>
            </a:solidFill>
          </a:ln>
        </p:spPr>
      </p:pic>
      <p:sp>
        <p:nvSpPr>
          <p:cNvPr id="6" name="TextBox 5"/>
          <p:cNvSpPr txBox="1"/>
          <p:nvPr/>
        </p:nvSpPr>
        <p:spPr>
          <a:xfrm>
            <a:off x="6309360" y="5806440"/>
            <a:ext cx="5486400" cy="365760"/>
          </a:xfrm>
          <a:prstGeom prst="rect">
            <a:avLst/>
          </a:prstGeom>
          <a:noFill/>
        </p:spPr>
        <p:txBody>
          <a:bodyPr wrap="square">
            <a:spAutoFit/>
          </a:bodyPr>
          <a:lstStyle/>
          <a:p>
            <a:pPr algn="ctr"/>
            <a:r>
              <a:rPr sz="900">
                <a:solidFill>
                  <a:srgbClr val="808DA0"/>
                </a:solidFill>
              </a:rPr>
              <a:t>Schematic site context — Mammoth Hill CUP relative to the Casino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800"/>
              </a:spcAft>
            </a:pPr>
            <a:r>
              <a:rPr sz="1500">
                <a:solidFill>
                  <a:srgbClr val="292934"/>
                </a:solidFill>
              </a:rPr>
              <a:t>Special Projects met with Xcel on options for delivering electricity to the Casino project.</a:t>
            </a:r>
          </a:p>
          <a:p>
            <a:pPr>
              <a:spcAft>
                <a:spcPts val="800"/>
              </a:spcAft>
            </a:pPr>
            <a:r>
              <a:rPr sz="1500">
                <a:solidFill>
                  <a:srgbClr val="292934"/>
                </a:solidFill>
              </a:rPr>
              <a:t>Current connected load ≈ 8.5 MW;  regular operating load ≈ 5–6.5 MW.</a:t>
            </a:r>
          </a:p>
          <a:p>
            <a:pPr>
              <a:spcAft>
                <a:spcPts val="800"/>
              </a:spcAft>
            </a:pPr>
            <a:r>
              <a:rPr sz="1500">
                <a:solidFill>
                  <a:srgbClr val="292934"/>
                </a:solidFill>
              </a:rPr>
              <a:t>Xcel can provide 2.5 MW without improvements to the current grid infrastructure.</a:t>
            </a:r>
          </a:p>
          <a:p>
            <a:pPr>
              <a:spcAft>
                <a:spcPts val="800"/>
              </a:spcAft>
            </a:pPr>
            <a:r>
              <a:rPr sz="1500">
                <a:solidFill>
                  <a:srgbClr val="292934"/>
                </a:solidFill>
              </a:rPr>
              <a:t>Additional power could be run from Idaho Springs (underground or overhead) — adding maintenance, reliability concerns and outage risk.</a:t>
            </a:r>
          </a:p>
          <a:p>
            <a:pPr>
              <a:spcAft>
                <a:spcPts val="800"/>
              </a:spcAft>
            </a:pPr>
            <a:r>
              <a:rPr sz="1500">
                <a:solidFill>
                  <a:srgbClr val="292934"/>
                </a:solidFill>
              </a:rPr>
              <a:t>Xcel reported installation would require 5 years from application.</a:t>
            </a:r>
          </a:p>
        </p:txBody>
      </p:sp>
      <p:sp>
        <p:nvSpPr>
          <p:cNvPr id="3" name="Title 2"/>
          <p:cNvSpPr>
            <a:spLocks noGrp="1"/>
          </p:cNvSpPr>
          <p:nvPr>
            <p:ph type="title"/>
          </p:nvPr>
        </p:nvSpPr>
        <p:spPr/>
        <p:txBody>
          <a:bodyPr wrap="square"/>
          <a:lstStyle/>
          <a:p>
            <a:r>
              <a:t>Alternate Delivery Sources</a:t>
            </a:r>
          </a:p>
        </p:txBody>
      </p:sp>
      <p:sp>
        <p:nvSpPr>
          <p:cNvPr id="4" name="Text Placeholder 3"/>
          <p:cNvSpPr>
            <a:spLocks noGrp="1"/>
          </p:cNvSpPr>
          <p:nvPr>
            <p:ph type="body" idx="13" sz="quarter"/>
          </p:nvPr>
        </p:nvSpPr>
        <p:spPr/>
        <p:txBody>
          <a:bodyPr wrap="square"/>
          <a:lstStyle/>
          <a:p>
            <a:r>
              <a:rPr>
                <a:solidFill>
                  <a:srgbClr val="AA2226"/>
                </a:solidFill>
              </a:rPr>
              <a:t>Grid-only delivery adds maintenance, risk and a ~5-year Xcel timeline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800"/>
              </a:spcAft>
            </a:pPr>
            <a:r>
              <a:rPr sz="1600">
                <a:solidFill>
                  <a:srgbClr val="292934"/>
                </a:solidFill>
              </a:rPr>
              <a:t>Cost control of the generated electricity will be managed by USGPD.</a:t>
            </a:r>
          </a:p>
          <a:p>
            <a:pPr>
              <a:spcAft>
                <a:spcPts val="800"/>
              </a:spcAft>
            </a:pPr>
            <a:r>
              <a:rPr sz="1600">
                <a:solidFill>
                  <a:srgbClr val="292934"/>
                </a:solidFill>
              </a:rPr>
              <a:t>Market rate for electricity ≈ $0.07/kWh (region-dependent, excludes transmission);  natural gas ≈ $4.50/DTH.</a:t>
            </a:r>
          </a:p>
          <a:p>
            <a:pPr>
              <a:spcAft>
                <a:spcPts val="800"/>
              </a:spcAft>
            </a:pPr>
            <a:r>
              <a:rPr sz="1600">
                <a:solidFill>
                  <a:srgbClr val="292934"/>
                </a:solidFill>
              </a:rPr>
              <a:t>The CUP cost per kWh will be a cost-of-operation figure set by the economic payback analysis.</a:t>
            </a:r>
          </a:p>
          <a:p>
            <a:pPr>
              <a:spcAft>
                <a:spcPts val="800"/>
              </a:spcAft>
            </a:pPr>
            <a:r>
              <a:rPr sz="1600">
                <a:solidFill>
                  <a:srgbClr val="292934"/>
                </a:solidFill>
              </a:rPr>
              <a:t>Internal management of this cost — versus payments to a District in perpetuity — is an important factor in the decision.</a:t>
            </a:r>
          </a:p>
        </p:txBody>
      </p:sp>
      <p:sp>
        <p:nvSpPr>
          <p:cNvPr id="3" name="Title 2"/>
          <p:cNvSpPr>
            <a:spLocks noGrp="1"/>
          </p:cNvSpPr>
          <p:nvPr>
            <p:ph type="title"/>
          </p:nvPr>
        </p:nvSpPr>
        <p:spPr/>
        <p:txBody>
          <a:bodyPr wrap="square"/>
          <a:lstStyle/>
          <a:p>
            <a:r>
              <a:t>Utility Cost Control</a:t>
            </a:r>
          </a:p>
        </p:txBody>
      </p:sp>
      <p:sp>
        <p:nvSpPr>
          <p:cNvPr id="4" name="Text Placeholder 3"/>
          <p:cNvSpPr>
            <a:spLocks noGrp="1"/>
          </p:cNvSpPr>
          <p:nvPr>
            <p:ph type="body" idx="13" sz="quarter"/>
          </p:nvPr>
        </p:nvSpPr>
        <p:spPr/>
        <p:txBody>
          <a:bodyPr wrap="square"/>
          <a:lstStyle/>
          <a:p>
            <a:r>
              <a:rPr>
                <a:solidFill>
                  <a:srgbClr val="AA2226"/>
                </a:solidFill>
              </a:rPr>
              <a:t>Internal cost management vs. payments to a District in perpetuity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48640" y="1554480"/>
            <a:ext cx="5486400" cy="4480560"/>
          </a:xfrm>
        </p:spPr>
        <p:txBody>
          <a:bodyPr wrap="square"/>
          <a:lstStyle/>
          <a:p>
            <a:pPr>
              <a:spcAft>
                <a:spcPts val="800"/>
              </a:spcAft>
            </a:pPr>
            <a:r>
              <a:rPr sz="1500">
                <a:solidFill>
                  <a:srgbClr val="292934"/>
                </a:solidFill>
              </a:rPr>
              <a:t>The Casino will be the primary, if not sole, user of the thermal energy (superheated steam) generated by the CUP.</a:t>
            </a:r>
          </a:p>
          <a:p>
            <a:pPr>
              <a:spcAft>
                <a:spcPts val="800"/>
              </a:spcAft>
            </a:pPr>
            <a:r>
              <a:rPr sz="1500">
                <a:solidFill>
                  <a:srgbClr val="292934"/>
                </a:solidFill>
              </a:rPr>
              <a:t>This provides 'free heating and cooling' for the Resort by optimizing the turbine generators' high-temperature stack discharge.</a:t>
            </a:r>
          </a:p>
          <a:p>
            <a:pPr>
              <a:spcAft>
                <a:spcPts val="800"/>
              </a:spcAft>
            </a:pPr>
            <a:r>
              <a:rPr sz="1500">
                <a:solidFill>
                  <a:srgbClr val="292934"/>
                </a:solidFill>
              </a:rPr>
              <a:t>Overall cost of energy to operate the Casino will be determined in the IMEG Feasibility Study and Economic Payback Analysis.</a:t>
            </a:r>
          </a:p>
        </p:txBody>
      </p:sp>
      <p:sp>
        <p:nvSpPr>
          <p:cNvPr id="3" name="Title 2"/>
          <p:cNvSpPr>
            <a:spLocks noGrp="1"/>
          </p:cNvSpPr>
          <p:nvPr>
            <p:ph type="title"/>
          </p:nvPr>
        </p:nvSpPr>
        <p:spPr/>
        <p:txBody>
          <a:bodyPr wrap="square"/>
          <a:lstStyle/>
          <a:p>
            <a:r>
              <a:t>Long-Term Economic Payback</a:t>
            </a:r>
          </a:p>
        </p:txBody>
      </p:sp>
      <p:sp>
        <p:nvSpPr>
          <p:cNvPr id="4" name="Text Placeholder 3"/>
          <p:cNvSpPr>
            <a:spLocks noGrp="1"/>
          </p:cNvSpPr>
          <p:nvPr>
            <p:ph type="body" idx="13" sz="quarter"/>
          </p:nvPr>
        </p:nvSpPr>
        <p:spPr/>
        <p:txBody>
          <a:bodyPr wrap="square"/>
          <a:lstStyle/>
          <a:p>
            <a:r>
              <a:rPr>
                <a:solidFill>
                  <a:srgbClr val="AA2226"/>
                </a:solidFill>
              </a:rPr>
              <a:t>‘Free heating &amp; cooling’ from turbine stack discharge</a:t>
            </a:r>
          </a:p>
        </p:txBody>
      </p:sp>
      <p:pic>
        <p:nvPicPr>
          <p:cNvPr id="5" name="Picture 4" descr="combined_cycle.png"/>
          <p:cNvPicPr>
            <a:picLocks noChangeAspect="1"/>
          </p:cNvPicPr>
          <p:nvPr/>
        </p:nvPicPr>
        <p:blipFill>
          <a:blip r:embed="rId2"/>
          <a:stretch>
            <a:fillRect/>
          </a:stretch>
        </p:blipFill>
        <p:spPr>
          <a:xfrm>
            <a:off x="6309360" y="2157492"/>
            <a:ext cx="5486400" cy="3000215"/>
          </a:xfrm>
          <a:prstGeom prst="rect">
            <a:avLst/>
          </a:prstGeom>
          <a:ln w="9525">
            <a:solidFill>
              <a:srgbClr val="808DA0"/>
            </a:solidFill>
          </a:ln>
        </p:spPr>
      </p:pic>
      <p:sp>
        <p:nvSpPr>
          <p:cNvPr id="6" name="TextBox 5"/>
          <p:cNvSpPr txBox="1"/>
          <p:nvPr/>
        </p:nvSpPr>
        <p:spPr>
          <a:xfrm>
            <a:off x="6309360" y="5806440"/>
            <a:ext cx="5486400" cy="365760"/>
          </a:xfrm>
          <a:prstGeom prst="rect">
            <a:avLst/>
          </a:prstGeom>
          <a:noFill/>
        </p:spPr>
        <p:txBody>
          <a:bodyPr wrap="square">
            <a:spAutoFit/>
          </a:bodyPr>
          <a:lstStyle/>
          <a:p>
            <a:pPr algn="ctr"/>
            <a:r>
              <a:rPr sz="900">
                <a:solidFill>
                  <a:srgbClr val="808DA0"/>
                </a:solidFill>
              </a:rPr>
              <a:t>Combined-cycle co-generation: one fuel, electricity + thermal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800"/>
              </a:spcAft>
            </a:pPr>
            <a:r>
              <a:rPr sz="1600">
                <a:solidFill>
                  <a:srgbClr val="292934"/>
                </a:solidFill>
              </a:rPr>
              <a:t>Central City would most likely hire a third-party Developer/Operator.</a:t>
            </a:r>
          </a:p>
          <a:p>
            <a:pPr>
              <a:spcAft>
                <a:spcPts val="800"/>
              </a:spcAft>
            </a:pPr>
            <a:r>
              <a:rPr sz="1600">
                <a:solidFill>
                  <a:srgbClr val="292934"/>
                </a:solidFill>
              </a:rPr>
              <a:t>This would delay the construction-document and gas-application process.</a:t>
            </a:r>
          </a:p>
          <a:p>
            <a:pPr>
              <a:spcAft>
                <a:spcPts val="800"/>
              </a:spcAft>
            </a:pPr>
            <a:r>
              <a:rPr sz="1600">
                <a:solidFill>
                  <a:srgbClr val="292934"/>
                </a:solidFill>
              </a:rPr>
              <a:t>It would lead to negotiation of utility costs in perpetuity.</a:t>
            </a:r>
          </a:p>
          <a:p>
            <a:pPr>
              <a:spcAft>
                <a:spcPts val="800"/>
              </a:spcAft>
            </a:pPr>
            <a:r>
              <a:rPr sz="1600">
                <a:solidFill>
                  <a:srgbClr val="292934"/>
                </a:solidFill>
              </a:rPr>
              <a:t>A district plant farther from the Casino adds substantial cost (pipe-bridge length) and raises reliability and disruption risk.</a:t>
            </a:r>
          </a:p>
        </p:txBody>
      </p:sp>
      <p:sp>
        <p:nvSpPr>
          <p:cNvPr id="3" name="Title 2"/>
          <p:cNvSpPr>
            <a:spLocks noGrp="1"/>
          </p:cNvSpPr>
          <p:nvPr>
            <p:ph type="title"/>
          </p:nvPr>
        </p:nvSpPr>
        <p:spPr/>
        <p:txBody>
          <a:bodyPr wrap="square"/>
          <a:lstStyle/>
          <a:p>
            <a:r>
              <a:t>Central City Mini-District Constraints</a:t>
            </a:r>
          </a:p>
        </p:txBody>
      </p:sp>
      <p:sp>
        <p:nvSpPr>
          <p:cNvPr id="4" name="Text Placeholder 3"/>
          <p:cNvSpPr>
            <a:spLocks noGrp="1"/>
          </p:cNvSpPr>
          <p:nvPr>
            <p:ph type="body" idx="13" sz="quarter"/>
          </p:nvPr>
        </p:nvSpPr>
        <p:spPr/>
        <p:txBody>
          <a:bodyPr wrap="square"/>
          <a:lstStyle/>
          <a:p>
            <a:r>
              <a:rPr>
                <a:solidFill>
                  <a:srgbClr val="AA2226"/>
                </a:solidFill>
              </a:rPr>
              <a:t>A third-party district adds delay, perpetual cost and distance risk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1000"/>
              </a:spcAft>
            </a:pPr>
            <a:r>
              <a:rPr sz="1800">
                <a:solidFill>
                  <a:srgbClr val="292934"/>
                </a:solidFill>
              </a:rPr>
              <a:t>Time Value of Money</a:t>
            </a:r>
          </a:p>
        </p:txBody>
      </p:sp>
      <p:sp>
        <p:nvSpPr>
          <p:cNvPr id="3" name="Title 2"/>
          <p:cNvSpPr>
            <a:spLocks noGrp="1"/>
          </p:cNvSpPr>
          <p:nvPr>
            <p:ph type="title"/>
          </p:nvPr>
        </p:nvSpPr>
        <p:spPr/>
        <p:txBody>
          <a:bodyPr wrap="square"/>
          <a:lstStyle/>
          <a:p>
            <a:r>
              <a:t>Disadvantage to Consider</a:t>
            </a:r>
          </a:p>
        </p:txBody>
      </p:sp>
      <p:sp>
        <p:nvSpPr>
          <p:cNvPr id="4" name="Text Placeholder 3"/>
          <p:cNvSpPr>
            <a:spLocks noGrp="1"/>
          </p:cNvSpPr>
          <p:nvPr>
            <p:ph type="body" idx="13" sz="quarter"/>
          </p:nvPr>
        </p:nvSpPr>
        <p:spPr/>
        <p:txBody>
          <a:bodyPr wrap="square"/>
          <a:lstStyle/>
          <a:p>
            <a:r>
              <a:rPr>
                <a:solidFill>
                  <a:srgbClr val="AA2226"/>
                </a:solidFill>
              </a:rPr>
              <a:t>The principal trade-off of owning and operating the CUP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800"/>
              </a:spcAft>
            </a:pPr>
            <a:r>
              <a:rPr sz="1600">
                <a:solidFill>
                  <a:srgbClr val="292934"/>
                </a:solidFill>
              </a:rPr>
              <a:t>The CUP is estimated to cost between $24M and $30M.</a:t>
            </a:r>
          </a:p>
          <a:p>
            <a:pPr>
              <a:spcAft>
                <a:spcPts val="800"/>
              </a:spcAft>
            </a:pPr>
            <a:r>
              <a:rPr sz="1600">
                <a:solidFill>
                  <a:srgbClr val="292934"/>
                </a:solidFill>
              </a:rPr>
              <a:t>An independent owner/operator could reduce the total funds USGPD raises through syndication and the interest due on funds prior to full operation and economic return of the CUP.</a:t>
            </a:r>
          </a:p>
          <a:p>
            <a:pPr>
              <a:spcAft>
                <a:spcPts val="800"/>
              </a:spcAft>
            </a:pPr>
            <a:r>
              <a:rPr sz="1600">
                <a:solidFill>
                  <a:srgbClr val="292934"/>
                </a:solidFill>
              </a:rPr>
              <a:t>The economic payback analysis (IMEG) is part of the overall feasibility analysis.</a:t>
            </a:r>
          </a:p>
        </p:txBody>
      </p:sp>
      <p:sp>
        <p:nvSpPr>
          <p:cNvPr id="3" name="Title 2"/>
          <p:cNvSpPr>
            <a:spLocks noGrp="1"/>
          </p:cNvSpPr>
          <p:nvPr>
            <p:ph type="title"/>
          </p:nvPr>
        </p:nvSpPr>
        <p:spPr/>
        <p:txBody>
          <a:bodyPr wrap="square"/>
          <a:lstStyle/>
          <a:p>
            <a:r>
              <a:t>Time Value of Money</a:t>
            </a:r>
          </a:p>
        </p:txBody>
      </p:sp>
      <p:sp>
        <p:nvSpPr>
          <p:cNvPr id="4" name="Text Placeholder 3"/>
          <p:cNvSpPr>
            <a:spLocks noGrp="1"/>
          </p:cNvSpPr>
          <p:nvPr>
            <p:ph type="body" idx="13" sz="quarter"/>
          </p:nvPr>
        </p:nvSpPr>
        <p:spPr/>
        <p:txBody>
          <a:bodyPr wrap="square"/>
          <a:lstStyle/>
          <a:p>
            <a:r>
              <a:rPr>
                <a:solidFill>
                  <a:srgbClr val="AA2226"/>
                </a:solidFill>
              </a:rPr>
              <a:t>A $24M–$30M CUP carries capital and interest before full operation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48640" y="1554480"/>
            <a:ext cx="5486400" cy="4480560"/>
          </a:xfrm>
        </p:spPr>
        <p:txBody>
          <a:bodyPr wrap="square"/>
          <a:lstStyle/>
          <a:p>
            <a:pPr>
              <a:spcAft>
                <a:spcPts val="800"/>
              </a:spcAft>
            </a:pPr>
            <a:r>
              <a:rPr sz="1400">
                <a:solidFill>
                  <a:srgbClr val="292934"/>
                </a:solidFill>
              </a:rPr>
              <a:t>Unused Caterpillar Cogeneration Natural Gas Generator System, 1.5 MW.</a:t>
            </a:r>
          </a:p>
          <a:p>
            <a:pPr>
              <a:spcAft>
                <a:spcPts val="800"/>
              </a:spcAft>
            </a:pPr>
            <a:r>
              <a:rPr sz="1400">
                <a:solidFill>
                  <a:srgbClr val="292934"/>
                </a:solidFill>
              </a:rPr>
              <a:t>CG170-16 engine rated 1,556 kW, 4160 V, 3-phase, 60 Hz at 0.8 PF.</a:t>
            </a:r>
          </a:p>
          <a:p>
            <a:pPr>
              <a:spcAft>
                <a:spcPts val="800"/>
              </a:spcAft>
            </a:pPr>
            <a:r>
              <a:rPr sz="1400">
                <a:solidFill>
                  <a:srgbClr val="292934"/>
                </a:solidFill>
              </a:rPr>
              <a:t>Pritchard Brown enclosure, Cannon boiler, Boulden radiator, WHR system, Stueler SCR system (outside enclosure), Caterpillar ISO aux cabinet.</a:t>
            </a:r>
          </a:p>
          <a:p>
            <a:pPr>
              <a:spcAft>
                <a:spcPts val="800"/>
              </a:spcAft>
            </a:pPr>
            <a:r>
              <a:rPr sz="1400">
                <a:solidFill>
                  <a:srgbClr val="292934"/>
                </a:solidFill>
              </a:rPr>
              <a:t>Built 2017;  80 hours of engineering support to site.  U.S.A. only.</a:t>
            </a:r>
          </a:p>
          <a:p>
            <a:pPr>
              <a:spcAft>
                <a:spcPts val="800"/>
              </a:spcAft>
            </a:pPr>
            <a:r>
              <a:rPr sz="1400">
                <a:solidFill>
                  <a:srgbClr val="292934"/>
                </a:solidFill>
              </a:rPr>
              <a:t>Item price:  $599,000.00 USD</a:t>
            </a:r>
          </a:p>
        </p:txBody>
      </p:sp>
      <p:sp>
        <p:nvSpPr>
          <p:cNvPr id="3" name="Title 2"/>
          <p:cNvSpPr>
            <a:spLocks noGrp="1"/>
          </p:cNvSpPr>
          <p:nvPr>
            <p:ph type="title"/>
          </p:nvPr>
        </p:nvSpPr>
        <p:spPr/>
        <p:txBody>
          <a:bodyPr wrap="square"/>
          <a:lstStyle/>
          <a:p>
            <a:r>
              <a:t>Proposed Equipment — Caterpillar CG170-16</a:t>
            </a:r>
          </a:p>
        </p:txBody>
      </p:sp>
      <p:sp>
        <p:nvSpPr>
          <p:cNvPr id="4" name="Text Placeholder 3"/>
          <p:cNvSpPr>
            <a:spLocks noGrp="1"/>
          </p:cNvSpPr>
          <p:nvPr>
            <p:ph type="body" idx="13" sz="quarter"/>
          </p:nvPr>
        </p:nvSpPr>
        <p:spPr/>
        <p:txBody>
          <a:bodyPr wrap="square"/>
          <a:lstStyle/>
          <a:p>
            <a:r>
              <a:rPr>
                <a:solidFill>
                  <a:srgbClr val="AA2226"/>
                </a:solidFill>
              </a:rPr>
              <a:t>Unused 1.5 MW natural-gas cogeneration generator set — $599,000</a:t>
            </a:r>
          </a:p>
        </p:txBody>
      </p:sp>
      <p:pic>
        <p:nvPicPr>
          <p:cNvPr id="5" name="Picture 4" descr="49ded102_image1.jpeg"/>
          <p:cNvPicPr>
            <a:picLocks noChangeAspect="1"/>
          </p:cNvPicPr>
          <p:nvPr/>
        </p:nvPicPr>
        <p:blipFill>
          <a:blip r:embed="rId2"/>
          <a:stretch>
            <a:fillRect/>
          </a:stretch>
        </p:blipFill>
        <p:spPr>
          <a:xfrm>
            <a:off x="6309360" y="1583741"/>
            <a:ext cx="5486400" cy="4147718"/>
          </a:xfrm>
          <a:prstGeom prst="rect">
            <a:avLst/>
          </a:prstGeom>
          <a:ln w="9525">
            <a:solidFill>
              <a:srgbClr val="808DA0"/>
            </a:solidFill>
          </a:ln>
        </p:spPr>
      </p:pic>
      <p:sp>
        <p:nvSpPr>
          <p:cNvPr id="6" name="TextBox 5"/>
          <p:cNvSpPr txBox="1"/>
          <p:nvPr/>
        </p:nvSpPr>
        <p:spPr>
          <a:xfrm>
            <a:off x="6309360" y="5806440"/>
            <a:ext cx="5486400" cy="365760"/>
          </a:xfrm>
          <a:prstGeom prst="rect">
            <a:avLst/>
          </a:prstGeom>
          <a:noFill/>
        </p:spPr>
        <p:txBody>
          <a:bodyPr wrap="square">
            <a:spAutoFit/>
          </a:bodyPr>
          <a:lstStyle/>
          <a:p>
            <a:pPr algn="ctr"/>
            <a:r>
              <a:rPr sz="900">
                <a:solidFill>
                  <a:srgbClr val="808DA0"/>
                </a:solidFill>
              </a:rPr>
              <a:t>Aaron Equipment — Stock #50477001 (Caterpillar CG170-16)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48640" y="1554480"/>
            <a:ext cx="5486400" cy="4480560"/>
          </a:xfrm>
        </p:spPr>
        <p:txBody>
          <a:bodyPr wrap="square"/>
          <a:lstStyle/>
          <a:p>
            <a:pPr>
              <a:spcAft>
                <a:spcPts val="800"/>
              </a:spcAft>
            </a:pPr>
            <a:r>
              <a:rPr sz="1400">
                <a:solidFill>
                  <a:srgbClr val="292934"/>
                </a:solidFill>
              </a:rPr>
              <a:t>The Stueler SCR system controls exhaust emissions from the gas engine.</a:t>
            </a:r>
          </a:p>
          <a:p>
            <a:pPr>
              <a:spcAft>
                <a:spcPts val="800"/>
              </a:spcAft>
            </a:pPr>
            <a:r>
              <a:rPr sz="1400">
                <a:solidFill>
                  <a:srgbClr val="292934"/>
                </a:solidFill>
              </a:rPr>
              <a:t>Stack discharge is the high-temperature heat source captured for the Casino's thermal load.</a:t>
            </a:r>
          </a:p>
          <a:p>
            <a:pPr>
              <a:spcAft>
                <a:spcPts val="800"/>
              </a:spcAft>
            </a:pPr>
            <a:r>
              <a:rPr sz="1400">
                <a:solidFill>
                  <a:srgbClr val="292934"/>
                </a:solidFill>
              </a:rPr>
              <a:t>Plume-concentration modeling (e.g., Greenheck CAPS-style analysis) confirms concentrations fall rapidly with downwind distance and height.</a:t>
            </a:r>
          </a:p>
          <a:p>
            <a:pPr>
              <a:spcAft>
                <a:spcPts val="800"/>
              </a:spcAft>
            </a:pPr>
            <a:r>
              <a:rPr sz="1400">
                <a:solidFill>
                  <a:srgbClr val="292934"/>
                </a:solidFill>
              </a:rPr>
              <a:t>Point of interest at 120 ft downwind / 10 ft high ≈ 1,392 PPM — used to site the stack and intakes.</a:t>
            </a:r>
          </a:p>
        </p:txBody>
      </p:sp>
      <p:sp>
        <p:nvSpPr>
          <p:cNvPr id="3" name="Title 2"/>
          <p:cNvSpPr>
            <a:spLocks noGrp="1"/>
          </p:cNvSpPr>
          <p:nvPr>
            <p:ph type="title"/>
          </p:nvPr>
        </p:nvSpPr>
        <p:spPr/>
        <p:txBody>
          <a:bodyPr wrap="square"/>
          <a:lstStyle/>
          <a:p>
            <a:r>
              <a:t>Emissions Control &amp; Exhaust Dilution</a:t>
            </a:r>
          </a:p>
        </p:txBody>
      </p:sp>
      <p:sp>
        <p:nvSpPr>
          <p:cNvPr id="4" name="Text Placeholder 3"/>
          <p:cNvSpPr>
            <a:spLocks noGrp="1"/>
          </p:cNvSpPr>
          <p:nvPr>
            <p:ph type="body" idx="13" sz="quarter"/>
          </p:nvPr>
        </p:nvSpPr>
        <p:spPr/>
        <p:txBody>
          <a:bodyPr wrap="square"/>
          <a:lstStyle/>
          <a:p>
            <a:r>
              <a:rPr>
                <a:solidFill>
                  <a:srgbClr val="AA2226"/>
                </a:solidFill>
              </a:rPr>
              <a:t>SCR-controlled stack discharge — plume dilution with downwind distance</a:t>
            </a:r>
          </a:p>
        </p:txBody>
      </p:sp>
      <p:pic>
        <p:nvPicPr>
          <p:cNvPr id="5" name="Picture 4" descr="plume.png"/>
          <p:cNvPicPr>
            <a:picLocks noChangeAspect="1"/>
          </p:cNvPicPr>
          <p:nvPr/>
        </p:nvPicPr>
        <p:blipFill>
          <a:blip r:embed="rId2"/>
          <a:stretch>
            <a:fillRect/>
          </a:stretch>
        </p:blipFill>
        <p:spPr>
          <a:xfrm>
            <a:off x="6309360" y="2274675"/>
            <a:ext cx="5486400" cy="2765850"/>
          </a:xfrm>
          <a:prstGeom prst="rect">
            <a:avLst/>
          </a:prstGeom>
          <a:ln w="9525">
            <a:solidFill>
              <a:srgbClr val="808DA0"/>
            </a:solidFill>
          </a:ln>
        </p:spPr>
      </p:pic>
      <p:sp>
        <p:nvSpPr>
          <p:cNvPr id="6" name="TextBox 5"/>
          <p:cNvSpPr txBox="1"/>
          <p:nvPr/>
        </p:nvSpPr>
        <p:spPr>
          <a:xfrm>
            <a:off x="6309360" y="5806440"/>
            <a:ext cx="5486400" cy="365760"/>
          </a:xfrm>
          <a:prstGeom prst="rect">
            <a:avLst/>
          </a:prstGeom>
          <a:noFill/>
        </p:spPr>
        <p:txBody>
          <a:bodyPr wrap="square">
            <a:spAutoFit/>
          </a:bodyPr>
          <a:lstStyle/>
          <a:p>
            <a:pPr algn="ctr"/>
            <a:r>
              <a:rPr sz="900">
                <a:solidFill>
                  <a:srgbClr val="808DA0"/>
                </a:solidFill>
              </a:rPr>
              <a:t>Illustrative exhaust-plume dilution (concentration bands)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800"/>
              </a:spcAft>
            </a:pPr>
            <a:r>
              <a:rPr sz="1600">
                <a:solidFill>
                  <a:srgbClr val="292934"/>
                </a:solidFill>
              </a:rPr>
              <a:t>USGPD and the design team (Martin &amp; Martin, OS, RTM) have been in discussions with Xcel to apply for gas and electric service.</a:t>
            </a:r>
          </a:p>
          <a:p>
            <a:pPr>
              <a:spcAft>
                <a:spcPts val="800"/>
              </a:spcAft>
            </a:pPr>
            <a:r>
              <a:rPr sz="1600">
                <a:solidFill>
                  <a:srgbClr val="292934"/>
                </a:solidFill>
              </a:rPr>
              <a:t>Xcel has communicated that 9 million cubic feet of gas and 2.5 MW of electricity are available for the Casino project (see Meeting Minutes).</a:t>
            </a:r>
          </a:p>
          <a:p>
            <a:pPr>
              <a:spcAft>
                <a:spcPts val="800"/>
              </a:spcAft>
            </a:pPr>
            <a:r>
              <a:rPr sz="1600">
                <a:solidFill>
                  <a:srgbClr val="292934"/>
                </a:solidFill>
              </a:rPr>
              <a:t>These quantities may be provided without improvements to area utility infrastructure.</a:t>
            </a:r>
          </a:p>
        </p:txBody>
      </p:sp>
      <p:sp>
        <p:nvSpPr>
          <p:cNvPr id="3" name="Title 2"/>
          <p:cNvSpPr>
            <a:spLocks noGrp="1"/>
          </p:cNvSpPr>
          <p:nvPr>
            <p:ph type="title"/>
          </p:nvPr>
        </p:nvSpPr>
        <p:spPr/>
        <p:txBody>
          <a:bodyPr wrap="square"/>
          <a:lstStyle/>
          <a:p>
            <a:r>
              <a:t>Project Update &amp; Status to Date</a:t>
            </a:r>
          </a:p>
        </p:txBody>
      </p:sp>
      <p:sp>
        <p:nvSpPr>
          <p:cNvPr id="4" name="Text Placeholder 3"/>
          <p:cNvSpPr>
            <a:spLocks noGrp="1"/>
          </p:cNvSpPr>
          <p:nvPr>
            <p:ph type="body" idx="13" sz="quarter"/>
          </p:nvPr>
        </p:nvSpPr>
        <p:spPr/>
        <p:txBody>
          <a:bodyPr wrap="square"/>
          <a:lstStyle/>
          <a:p>
            <a:r>
              <a:rPr>
                <a:solidFill>
                  <a:srgbClr val="AA2226"/>
                </a:solidFill>
              </a:rPr>
              <a:t>Xcel confirms gas and 2.5 MW available without infrastructure upgrades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800"/>
              </a:spcAft>
            </a:pPr>
            <a:r>
              <a:rPr sz="1600">
                <a:solidFill>
                  <a:srgbClr val="292934"/>
                </a:solidFill>
              </a:rPr>
              <a:t>On April 7th, USGPD issued an RFP to four Co-Gen specialist consultants for a Feasibility Study and Economic Payback Analysis.</a:t>
            </a:r>
          </a:p>
          <a:p>
            <a:pPr>
              <a:spcAft>
                <a:spcPts val="800"/>
              </a:spcAft>
            </a:pPr>
            <a:r>
              <a:rPr sz="1600">
                <a:solidFill>
                  <a:srgbClr val="292934"/>
                </a:solidFill>
              </a:rPr>
              <a:t>Proposals were received April 22nd.</a:t>
            </a:r>
          </a:p>
          <a:p>
            <a:pPr>
              <a:spcAft>
                <a:spcPts val="800"/>
              </a:spcAft>
            </a:pPr>
            <a:r>
              <a:rPr sz="1600">
                <a:solidFill>
                  <a:srgbClr val="292934"/>
                </a:solidFill>
              </a:rPr>
              <a:t>NOTE — Applications for electric and gas service have been submitted to Xcel. Xcel requires a complete set of Construction Documents before approving service and quantities — driving a 'fast-track' strategy.</a:t>
            </a:r>
          </a:p>
        </p:txBody>
      </p:sp>
      <p:sp>
        <p:nvSpPr>
          <p:cNvPr id="3" name="Title 2"/>
          <p:cNvSpPr>
            <a:spLocks noGrp="1"/>
          </p:cNvSpPr>
          <p:nvPr>
            <p:ph type="title"/>
          </p:nvPr>
        </p:nvSpPr>
        <p:spPr/>
        <p:txBody>
          <a:bodyPr wrap="square"/>
          <a:lstStyle/>
          <a:p>
            <a:r>
              <a:t>RFP &amp; Consultant Selection</a:t>
            </a:r>
          </a:p>
        </p:txBody>
      </p:sp>
      <p:sp>
        <p:nvSpPr>
          <p:cNvPr id="4" name="Text Placeholder 3"/>
          <p:cNvSpPr>
            <a:spLocks noGrp="1"/>
          </p:cNvSpPr>
          <p:nvPr>
            <p:ph type="body" idx="13" sz="quarter"/>
          </p:nvPr>
        </p:nvSpPr>
        <p:spPr/>
        <p:txBody>
          <a:bodyPr wrap="square"/>
          <a:lstStyle/>
          <a:p>
            <a:r>
              <a:rPr>
                <a:solidFill>
                  <a:srgbClr val="AA2226"/>
                </a:solidFill>
              </a:rPr>
              <a:t>Fast-track strategy: complete CDs required before Xcel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800"/>
              </a:spcAft>
            </a:pPr>
            <a:r>
              <a:rPr sz="1700">
                <a:solidFill>
                  <a:srgbClr val="292934"/>
                </a:solidFill>
              </a:rPr>
              <a:t>Central City and independent developers have expressed interest in owning and operating a Utility Mini-District to serve the Casino and future development.</a:t>
            </a:r>
          </a:p>
          <a:p>
            <a:pPr>
              <a:spcAft>
                <a:spcPts val="800"/>
              </a:spcAft>
            </a:pPr>
            <a:r>
              <a:rPr sz="1700">
                <a:solidFill>
                  <a:srgbClr val="292934"/>
                </a:solidFill>
              </a:rPr>
              <a:t>Due to the factors above — control, timeline, reliability, cost control and long-term thermal payback — the current recommendation is to develop, own and operate the CUP within the Casino project.</a:t>
            </a:r>
          </a:p>
          <a:p>
            <a:pPr>
              <a:spcAft>
                <a:spcPts val="800"/>
              </a:spcAft>
            </a:pPr>
            <a:r>
              <a:rPr sz="1700">
                <a:solidFill>
                  <a:srgbClr val="292934"/>
                </a:solidFill>
              </a:rPr>
              <a:t>Prepared by Bill Hibbard  ·  USGPD Special Projects  ·  6/5/26</a:t>
            </a:r>
          </a:p>
        </p:txBody>
      </p:sp>
      <p:sp>
        <p:nvSpPr>
          <p:cNvPr id="3" name="Title 2"/>
          <p:cNvSpPr>
            <a:spLocks noGrp="1"/>
          </p:cNvSpPr>
          <p:nvPr>
            <p:ph type="title"/>
          </p:nvPr>
        </p:nvSpPr>
        <p:spPr/>
        <p:txBody>
          <a:bodyPr wrap="square"/>
          <a:lstStyle/>
          <a:p>
            <a:r>
              <a:t>Recommendation</a:t>
            </a:r>
          </a:p>
        </p:txBody>
      </p:sp>
      <p:sp>
        <p:nvSpPr>
          <p:cNvPr id="4" name="Text Placeholder 3"/>
          <p:cNvSpPr>
            <a:spLocks noGrp="1"/>
          </p:cNvSpPr>
          <p:nvPr>
            <p:ph type="body" idx="13" sz="quarter"/>
          </p:nvPr>
        </p:nvSpPr>
        <p:spPr/>
        <p:txBody>
          <a:bodyPr wrap="square"/>
          <a:lstStyle/>
          <a:p>
            <a:r>
              <a:rPr>
                <a:solidFill>
                  <a:srgbClr val="AA2226"/>
                </a:solidFill>
              </a:rPr>
              <a:t>Include the CUP as part of the overall Casino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Internal Comparison Agent</a:t>
            </a:r>
          </a:p>
        </p:txBody>
      </p:sp>
      <p:sp>
        <p:nvSpPr>
          <p:cNvPr id="3" name="TextBox 2"/>
          <p:cNvSpPr txBox="1"/>
          <p:nvPr/>
        </p:nvSpPr>
        <p:spPr>
          <a:xfrm>
            <a:off x="457200" y="868680"/>
            <a:ext cx="11247120" cy="457200"/>
          </a:xfrm>
          <a:prstGeom prst="rect">
            <a:avLst/>
          </a:prstGeom>
          <a:noFill/>
        </p:spPr>
        <p:txBody>
          <a:bodyPr wrap="square">
            <a:spAutoFit/>
          </a:bodyPr>
          <a:lstStyle/>
          <a:p>
            <a:r>
              <a:rPr sz="1300">
                <a:solidFill>
                  <a:srgbClr val="292934"/>
                </a:solidFill>
              </a:rPr>
              <a:t>A dependency-free agent (embedded in this file) scores the three CUP delivery options against weighted criteria.</a:t>
            </a:r>
          </a:p>
        </p:txBody>
      </p:sp>
      <p:graphicFrame>
        <p:nvGraphicFramePr>
          <p:cNvPr id="4" name="Table 3"/>
          <p:cNvGraphicFramePr>
            <a:graphicFrameLocks noGrp="1"/>
          </p:cNvGraphicFramePr>
          <p:nvPr/>
        </p:nvGraphicFramePr>
        <p:xfrm>
          <a:off x="457200" y="1463040"/>
          <a:ext cx="11247120" cy="4206240"/>
        </p:xfrm>
        <a:graphic>
          <a:graphicData uri="http://schemas.openxmlformats.org/drawingml/2006/table">
            <a:tbl>
              <a:tblPr firstRow="1" bandRow="1">
                <a:tableStyleId>{5C22544A-7EE6-4342-B048-85BDC9FD1C3A}</a:tableStyleId>
              </a:tblPr>
              <a:tblGrid>
                <a:gridCol w="4572000"/>
                <a:gridCol w="1188720"/>
                <a:gridCol w="1828800"/>
                <a:gridCol w="1828800"/>
                <a:gridCol w="1828800"/>
              </a:tblGrid>
              <a:tr h="525780">
                <a:tc>
                  <a:txBody>
                    <a:bodyPr wrap="square"/>
                    <a:lstStyle/>
                    <a:p>
                      <a:pPr algn="l"/>
                      <a:r>
                        <a:rPr sz="1200" b="1">
                          <a:solidFill>
                            <a:srgbClr val="FFFFFF"/>
                          </a:solidFill>
                        </a:rPr>
                        <a:t>Criterion</a:t>
                      </a:r>
                    </a:p>
                  </a:txBody>
                  <a:tcPr marT="25400" marB="25400" anchor="ctr">
                    <a:solidFill>
                      <a:srgbClr val="0F113C"/>
                    </a:solidFill>
                  </a:tcPr>
                </a:tc>
                <a:tc>
                  <a:txBody>
                    <a:bodyPr wrap="square"/>
                    <a:lstStyle/>
                    <a:p>
                      <a:pPr algn="ctr"/>
                      <a:r>
                        <a:rPr sz="1200" b="1">
                          <a:solidFill>
                            <a:srgbClr val="FFFFFF"/>
                          </a:solidFill>
                        </a:rPr>
                        <a:t>Weight</a:t>
                      </a:r>
                    </a:p>
                  </a:txBody>
                  <a:tcPr marT="25400" marB="25400" anchor="ctr">
                    <a:solidFill>
                      <a:srgbClr val="0F113C"/>
                    </a:solidFill>
                  </a:tcPr>
                </a:tc>
                <a:tc>
                  <a:txBody>
                    <a:bodyPr wrap="square"/>
                    <a:lstStyle/>
                    <a:p>
                      <a:pPr algn="ctr"/>
                      <a:r>
                        <a:rPr sz="1200" b="1">
                          <a:solidFill>
                            <a:srgbClr val="FFFFFF"/>
                          </a:solidFill>
                        </a:rPr>
                        <a:t>Self-Develop</a:t>
                      </a:r>
                      <a:br/>
                      <a:r>
                        <a:rPr sz="1200" b="1">
                          <a:solidFill>
                            <a:srgbClr val="FFFFFF"/>
                          </a:solidFill>
                        </a:rPr>
                        <a:t>(USGPD)</a:t>
                      </a:r>
                    </a:p>
                  </a:txBody>
                  <a:tcPr marT="25400" marB="25400" anchor="ctr">
                    <a:solidFill>
                      <a:srgbClr val="0F113C"/>
                    </a:solidFill>
                  </a:tcPr>
                </a:tc>
                <a:tc>
                  <a:txBody>
                    <a:bodyPr wrap="square"/>
                    <a:lstStyle/>
                    <a:p>
                      <a:pPr algn="ctr"/>
                      <a:r>
                        <a:rPr sz="1200" b="1">
                          <a:solidFill>
                            <a:srgbClr val="FFFFFF"/>
                          </a:solidFill>
                        </a:rPr>
                        <a:t>Mini-District</a:t>
                      </a:r>
                      <a:br/>
                      <a:r>
                        <a:rPr sz="1200" b="1">
                          <a:solidFill>
                            <a:srgbClr val="FFFFFF"/>
                          </a:solidFill>
                        </a:rPr>
                        <a:t>(3rd party)</a:t>
                      </a:r>
                    </a:p>
                  </a:txBody>
                  <a:tcPr marT="25400" marB="25400" anchor="ctr">
                    <a:solidFill>
                      <a:srgbClr val="0F113C"/>
                    </a:solidFill>
                  </a:tcPr>
                </a:tc>
                <a:tc>
                  <a:txBody>
                    <a:bodyPr wrap="square"/>
                    <a:lstStyle/>
                    <a:p>
                      <a:pPr algn="ctr"/>
                      <a:r>
                        <a:rPr sz="1200" b="1">
                          <a:solidFill>
                            <a:srgbClr val="FFFFFF"/>
                          </a:solidFill>
                        </a:rPr>
                        <a:t>Grid-Only</a:t>
                      </a:r>
                      <a:br/>
                      <a:r>
                        <a:rPr sz="1200" b="1">
                          <a:solidFill>
                            <a:srgbClr val="FFFFFF"/>
                          </a:solidFill>
                        </a:rPr>
                        <a:t>(Xcel)</a:t>
                      </a:r>
                    </a:p>
                  </a:txBody>
                  <a:tcPr marT="25400" marB="25400" anchor="ctr">
                    <a:solidFill>
                      <a:srgbClr val="0F113C"/>
                    </a:solidFill>
                  </a:tcPr>
                </a:tc>
              </a:tr>
              <a:tr h="525780">
                <a:tc>
                  <a:txBody>
                    <a:bodyPr wrap="square"/>
                    <a:lstStyle/>
                    <a:p>
                      <a:pPr algn="l"/>
                      <a:r>
                        <a:rPr sz="1200" b="0">
                          <a:solidFill>
                            <a:srgbClr val="292934"/>
                          </a:solidFill>
                        </a:rPr>
                        <a:t>Control &amp; Decision-Making</a:t>
                      </a:r>
                    </a:p>
                  </a:txBody>
                  <a:tcPr marT="25400" marB="25400" anchor="ctr">
                    <a:solidFill>
                      <a:srgbClr val="F3F2DC"/>
                    </a:solidFill>
                  </a:tcPr>
                </a:tc>
                <a:tc>
                  <a:txBody>
                    <a:bodyPr wrap="square"/>
                    <a:lstStyle/>
                    <a:p>
                      <a:pPr algn="ctr"/>
                      <a:r>
                        <a:rPr sz="1200" b="0">
                          <a:solidFill>
                            <a:srgbClr val="292934"/>
                          </a:solidFill>
                        </a:rPr>
                        <a:t>20%</a:t>
                      </a:r>
                    </a:p>
                  </a:txBody>
                  <a:tcPr marT="25400" marB="25400" anchor="ctr">
                    <a:solidFill>
                      <a:srgbClr val="F3F2DC"/>
                    </a:solidFill>
                  </a:tcPr>
                </a:tc>
                <a:tc>
                  <a:txBody>
                    <a:bodyPr wrap="square"/>
                    <a:lstStyle/>
                    <a:p>
                      <a:pPr algn="ctr"/>
                      <a:r>
                        <a:rPr sz="1200" b="0">
                          <a:solidFill>
                            <a:srgbClr val="292934"/>
                          </a:solidFill>
                        </a:rPr>
                        <a:t>5</a:t>
                      </a:r>
                    </a:p>
                  </a:txBody>
                  <a:tcPr marT="25400" marB="25400" anchor="ctr">
                    <a:solidFill>
                      <a:srgbClr val="F3F2DC"/>
                    </a:solidFill>
                  </a:tcPr>
                </a:tc>
                <a:tc>
                  <a:txBody>
                    <a:bodyPr wrap="square"/>
                    <a:lstStyle/>
                    <a:p>
                      <a:pPr algn="ctr"/>
                      <a:r>
                        <a:rPr sz="1200" b="0">
                          <a:solidFill>
                            <a:srgbClr val="292934"/>
                          </a:solidFill>
                        </a:rPr>
                        <a:t>2</a:t>
                      </a:r>
                    </a:p>
                  </a:txBody>
                  <a:tcPr marT="25400" marB="25400" anchor="ctr">
                    <a:solidFill>
                      <a:srgbClr val="F3F2DC"/>
                    </a:solidFill>
                  </a:tcPr>
                </a:tc>
                <a:tc>
                  <a:txBody>
                    <a:bodyPr wrap="square"/>
                    <a:lstStyle/>
                    <a:p>
                      <a:pPr algn="ctr"/>
                      <a:r>
                        <a:rPr sz="1200" b="0">
                          <a:solidFill>
                            <a:srgbClr val="292934"/>
                          </a:solidFill>
                        </a:rPr>
                        <a:t>1</a:t>
                      </a:r>
                    </a:p>
                  </a:txBody>
                  <a:tcPr marT="25400" marB="25400" anchor="ctr">
                    <a:solidFill>
                      <a:srgbClr val="F3F2DC"/>
                    </a:solidFill>
                  </a:tcPr>
                </a:tc>
              </a:tr>
              <a:tr h="525780">
                <a:tc>
                  <a:txBody>
                    <a:bodyPr wrap="square"/>
                    <a:lstStyle/>
                    <a:p>
                      <a:pPr algn="l"/>
                      <a:r>
                        <a:rPr sz="1200" b="0">
                          <a:solidFill>
                            <a:srgbClr val="292934"/>
                          </a:solidFill>
                        </a:rPr>
                        <a:t>Delivery Timeline / Schedule Certainty</a:t>
                      </a:r>
                    </a:p>
                  </a:txBody>
                  <a:tcPr marT="25400" marB="25400" anchor="ctr">
                    <a:solidFill>
                      <a:srgbClr val="FFFFFF"/>
                    </a:solidFill>
                  </a:tcPr>
                </a:tc>
                <a:tc>
                  <a:txBody>
                    <a:bodyPr wrap="square"/>
                    <a:lstStyle/>
                    <a:p>
                      <a:pPr algn="ctr"/>
                      <a:r>
                        <a:rPr sz="1200" b="0">
                          <a:solidFill>
                            <a:srgbClr val="292934"/>
                          </a:solidFill>
                        </a:rPr>
                        <a:t>20%</a:t>
                      </a:r>
                    </a:p>
                  </a:txBody>
                  <a:tcPr marT="25400" marB="25400" anchor="ctr">
                    <a:solidFill>
                      <a:srgbClr val="FFFFFF"/>
                    </a:solidFill>
                  </a:tcPr>
                </a:tc>
                <a:tc>
                  <a:txBody>
                    <a:bodyPr wrap="square"/>
                    <a:lstStyle/>
                    <a:p>
                      <a:pPr algn="ctr"/>
                      <a:r>
                        <a:rPr sz="1200" b="0">
                          <a:solidFill>
                            <a:srgbClr val="292934"/>
                          </a:solidFill>
                        </a:rPr>
                        <a:t>5</a:t>
                      </a:r>
                    </a:p>
                  </a:txBody>
                  <a:tcPr marT="25400" marB="25400" anchor="ctr">
                    <a:solidFill>
                      <a:srgbClr val="FFFFFF"/>
                    </a:solidFill>
                  </a:tcPr>
                </a:tc>
                <a:tc>
                  <a:txBody>
                    <a:bodyPr wrap="square"/>
                    <a:lstStyle/>
                    <a:p>
                      <a:pPr algn="ctr"/>
                      <a:r>
                        <a:rPr sz="1200" b="0">
                          <a:solidFill>
                            <a:srgbClr val="292934"/>
                          </a:solidFill>
                        </a:rPr>
                        <a:t>2</a:t>
                      </a:r>
                    </a:p>
                  </a:txBody>
                  <a:tcPr marT="25400" marB="25400" anchor="ctr">
                    <a:solidFill>
                      <a:srgbClr val="FFFFFF"/>
                    </a:solidFill>
                  </a:tcPr>
                </a:tc>
                <a:tc>
                  <a:txBody>
                    <a:bodyPr wrap="square"/>
                    <a:lstStyle/>
                    <a:p>
                      <a:pPr algn="ctr"/>
                      <a:r>
                        <a:rPr sz="1200" b="0">
                          <a:solidFill>
                            <a:srgbClr val="292934"/>
                          </a:solidFill>
                        </a:rPr>
                        <a:t>1</a:t>
                      </a:r>
                    </a:p>
                  </a:txBody>
                  <a:tcPr marT="25400" marB="25400" anchor="ctr">
                    <a:solidFill>
                      <a:srgbClr val="FFFFFF"/>
                    </a:solidFill>
                  </a:tcPr>
                </a:tc>
              </a:tr>
              <a:tr h="525780">
                <a:tc>
                  <a:txBody>
                    <a:bodyPr wrap="square"/>
                    <a:lstStyle/>
                    <a:p>
                      <a:pPr algn="l"/>
                      <a:r>
                        <a:rPr sz="1200" b="0">
                          <a:solidFill>
                            <a:srgbClr val="292934"/>
                          </a:solidFill>
                        </a:rPr>
                        <a:t>Reliability &amp; Risk</a:t>
                      </a:r>
                    </a:p>
                  </a:txBody>
                  <a:tcPr marT="25400" marB="25400" anchor="ctr">
                    <a:solidFill>
                      <a:srgbClr val="F3F2DC"/>
                    </a:solidFill>
                  </a:tcPr>
                </a:tc>
                <a:tc>
                  <a:txBody>
                    <a:bodyPr wrap="square"/>
                    <a:lstStyle/>
                    <a:p>
                      <a:pPr algn="ctr"/>
                      <a:r>
                        <a:rPr sz="1200" b="0">
                          <a:solidFill>
                            <a:srgbClr val="292934"/>
                          </a:solidFill>
                        </a:rPr>
                        <a:t>20%</a:t>
                      </a:r>
                    </a:p>
                  </a:txBody>
                  <a:tcPr marT="25400" marB="25400" anchor="ctr">
                    <a:solidFill>
                      <a:srgbClr val="F3F2DC"/>
                    </a:solidFill>
                  </a:tcPr>
                </a:tc>
                <a:tc>
                  <a:txBody>
                    <a:bodyPr wrap="square"/>
                    <a:lstStyle/>
                    <a:p>
                      <a:pPr algn="ctr"/>
                      <a:r>
                        <a:rPr sz="1200" b="0">
                          <a:solidFill>
                            <a:srgbClr val="292934"/>
                          </a:solidFill>
                        </a:rPr>
                        <a:t>5</a:t>
                      </a:r>
                    </a:p>
                  </a:txBody>
                  <a:tcPr marT="25400" marB="25400" anchor="ctr">
                    <a:solidFill>
                      <a:srgbClr val="F3F2DC"/>
                    </a:solidFill>
                  </a:tcPr>
                </a:tc>
                <a:tc>
                  <a:txBody>
                    <a:bodyPr wrap="square"/>
                    <a:lstStyle/>
                    <a:p>
                      <a:pPr algn="ctr"/>
                      <a:r>
                        <a:rPr sz="1200" b="0">
                          <a:solidFill>
                            <a:srgbClr val="292934"/>
                          </a:solidFill>
                        </a:rPr>
                        <a:t>3</a:t>
                      </a:r>
                    </a:p>
                  </a:txBody>
                  <a:tcPr marT="25400" marB="25400" anchor="ctr">
                    <a:solidFill>
                      <a:srgbClr val="F3F2DC"/>
                    </a:solidFill>
                  </a:tcPr>
                </a:tc>
                <a:tc>
                  <a:txBody>
                    <a:bodyPr wrap="square"/>
                    <a:lstStyle/>
                    <a:p>
                      <a:pPr algn="ctr"/>
                      <a:r>
                        <a:rPr sz="1200" b="0">
                          <a:solidFill>
                            <a:srgbClr val="292934"/>
                          </a:solidFill>
                        </a:rPr>
                        <a:t>2</a:t>
                      </a:r>
                    </a:p>
                  </a:txBody>
                  <a:tcPr marT="25400" marB="25400" anchor="ctr">
                    <a:solidFill>
                      <a:srgbClr val="F3F2DC"/>
                    </a:solidFill>
                  </a:tcPr>
                </a:tc>
              </a:tr>
              <a:tr h="525780">
                <a:tc>
                  <a:txBody>
                    <a:bodyPr wrap="square"/>
                    <a:lstStyle/>
                    <a:p>
                      <a:pPr algn="l"/>
                      <a:r>
                        <a:rPr sz="1200" b="0">
                          <a:solidFill>
                            <a:srgbClr val="292934"/>
                          </a:solidFill>
                        </a:rPr>
                        <a:t>Utility Cost Control</a:t>
                      </a:r>
                    </a:p>
                  </a:txBody>
                  <a:tcPr marT="25400" marB="25400" anchor="ctr">
                    <a:solidFill>
                      <a:srgbClr val="FFFFFF"/>
                    </a:solidFill>
                  </a:tcPr>
                </a:tc>
                <a:tc>
                  <a:txBody>
                    <a:bodyPr wrap="square"/>
                    <a:lstStyle/>
                    <a:p>
                      <a:pPr algn="ctr"/>
                      <a:r>
                        <a:rPr sz="1200" b="0">
                          <a:solidFill>
                            <a:srgbClr val="292934"/>
                          </a:solidFill>
                        </a:rPr>
                        <a:t>15%</a:t>
                      </a:r>
                    </a:p>
                  </a:txBody>
                  <a:tcPr marT="25400" marB="25400" anchor="ctr">
                    <a:solidFill>
                      <a:srgbClr val="FFFFFF"/>
                    </a:solidFill>
                  </a:tcPr>
                </a:tc>
                <a:tc>
                  <a:txBody>
                    <a:bodyPr wrap="square"/>
                    <a:lstStyle/>
                    <a:p>
                      <a:pPr algn="ctr"/>
                      <a:r>
                        <a:rPr sz="1200" b="0">
                          <a:solidFill>
                            <a:srgbClr val="292934"/>
                          </a:solidFill>
                        </a:rPr>
                        <a:t>5</a:t>
                      </a:r>
                    </a:p>
                  </a:txBody>
                  <a:tcPr marT="25400" marB="25400" anchor="ctr">
                    <a:solidFill>
                      <a:srgbClr val="FFFFFF"/>
                    </a:solidFill>
                  </a:tcPr>
                </a:tc>
                <a:tc>
                  <a:txBody>
                    <a:bodyPr wrap="square"/>
                    <a:lstStyle/>
                    <a:p>
                      <a:pPr algn="ctr"/>
                      <a:r>
                        <a:rPr sz="1200" b="0">
                          <a:solidFill>
                            <a:srgbClr val="292934"/>
                          </a:solidFill>
                        </a:rPr>
                        <a:t>2</a:t>
                      </a:r>
                    </a:p>
                  </a:txBody>
                  <a:tcPr marT="25400" marB="25400" anchor="ctr">
                    <a:solidFill>
                      <a:srgbClr val="FFFFFF"/>
                    </a:solidFill>
                  </a:tcPr>
                </a:tc>
                <a:tc>
                  <a:txBody>
                    <a:bodyPr wrap="square"/>
                    <a:lstStyle/>
                    <a:p>
                      <a:pPr algn="ctr"/>
                      <a:r>
                        <a:rPr sz="1200" b="0">
                          <a:solidFill>
                            <a:srgbClr val="292934"/>
                          </a:solidFill>
                        </a:rPr>
                        <a:t>2</a:t>
                      </a:r>
                    </a:p>
                  </a:txBody>
                  <a:tcPr marT="25400" marB="25400" anchor="ctr">
                    <a:solidFill>
                      <a:srgbClr val="FFFFFF"/>
                    </a:solidFill>
                  </a:tcPr>
                </a:tc>
              </a:tr>
              <a:tr h="525780">
                <a:tc>
                  <a:txBody>
                    <a:bodyPr wrap="square"/>
                    <a:lstStyle/>
                    <a:p>
                      <a:pPr algn="l"/>
                      <a:r>
                        <a:rPr sz="1200" b="0">
                          <a:solidFill>
                            <a:srgbClr val="292934"/>
                          </a:solidFill>
                        </a:rPr>
                        <a:t>Capital / Time Value of Money</a:t>
                      </a:r>
                    </a:p>
                  </a:txBody>
                  <a:tcPr marT="25400" marB="25400" anchor="ctr">
                    <a:solidFill>
                      <a:srgbClr val="F3F2DC"/>
                    </a:solidFill>
                  </a:tcPr>
                </a:tc>
                <a:tc>
                  <a:txBody>
                    <a:bodyPr wrap="square"/>
                    <a:lstStyle/>
                    <a:p>
                      <a:pPr algn="ctr"/>
                      <a:r>
                        <a:rPr sz="1200" b="0">
                          <a:solidFill>
                            <a:srgbClr val="292934"/>
                          </a:solidFill>
                        </a:rPr>
                        <a:t>15%</a:t>
                      </a:r>
                    </a:p>
                  </a:txBody>
                  <a:tcPr marT="25400" marB="25400" anchor="ctr">
                    <a:solidFill>
                      <a:srgbClr val="F3F2DC"/>
                    </a:solidFill>
                  </a:tcPr>
                </a:tc>
                <a:tc>
                  <a:txBody>
                    <a:bodyPr wrap="square"/>
                    <a:lstStyle/>
                    <a:p>
                      <a:pPr algn="ctr"/>
                      <a:r>
                        <a:rPr sz="1200" b="0">
                          <a:solidFill>
                            <a:srgbClr val="292934"/>
                          </a:solidFill>
                        </a:rPr>
                        <a:t>2</a:t>
                      </a:r>
                    </a:p>
                  </a:txBody>
                  <a:tcPr marT="25400" marB="25400" anchor="ctr">
                    <a:solidFill>
                      <a:srgbClr val="F3F2DC"/>
                    </a:solidFill>
                  </a:tcPr>
                </a:tc>
                <a:tc>
                  <a:txBody>
                    <a:bodyPr wrap="square"/>
                    <a:lstStyle/>
                    <a:p>
                      <a:pPr algn="ctr"/>
                      <a:r>
                        <a:rPr sz="1200" b="0">
                          <a:solidFill>
                            <a:srgbClr val="292934"/>
                          </a:solidFill>
                        </a:rPr>
                        <a:t>4</a:t>
                      </a:r>
                    </a:p>
                  </a:txBody>
                  <a:tcPr marT="25400" marB="25400" anchor="ctr">
                    <a:solidFill>
                      <a:srgbClr val="F3F2DC"/>
                    </a:solidFill>
                  </a:tcPr>
                </a:tc>
                <a:tc>
                  <a:txBody>
                    <a:bodyPr wrap="square"/>
                    <a:lstStyle/>
                    <a:p>
                      <a:pPr algn="ctr"/>
                      <a:r>
                        <a:rPr sz="1200" b="0">
                          <a:solidFill>
                            <a:srgbClr val="292934"/>
                          </a:solidFill>
                        </a:rPr>
                        <a:t>5</a:t>
                      </a:r>
                    </a:p>
                  </a:txBody>
                  <a:tcPr marT="25400" marB="25400" anchor="ctr">
                    <a:solidFill>
                      <a:srgbClr val="F3F2DC"/>
                    </a:solidFill>
                  </a:tcPr>
                </a:tc>
              </a:tr>
              <a:tr h="525780">
                <a:tc>
                  <a:txBody>
                    <a:bodyPr wrap="square"/>
                    <a:lstStyle/>
                    <a:p>
                      <a:pPr algn="l"/>
                      <a:r>
                        <a:rPr sz="1200" b="0">
                          <a:solidFill>
                            <a:srgbClr val="292934"/>
                          </a:solidFill>
                        </a:rPr>
                        <a:t>Long-Term Economic Payback (thermal)</a:t>
                      </a:r>
                    </a:p>
                  </a:txBody>
                  <a:tcPr marT="25400" marB="25400" anchor="ctr">
                    <a:solidFill>
                      <a:srgbClr val="FFFFFF"/>
                    </a:solidFill>
                  </a:tcPr>
                </a:tc>
                <a:tc>
                  <a:txBody>
                    <a:bodyPr wrap="square"/>
                    <a:lstStyle/>
                    <a:p>
                      <a:pPr algn="ctr"/>
                      <a:r>
                        <a:rPr sz="1200" b="0">
                          <a:solidFill>
                            <a:srgbClr val="292934"/>
                          </a:solidFill>
                        </a:rPr>
                        <a:t>10%</a:t>
                      </a:r>
                    </a:p>
                  </a:txBody>
                  <a:tcPr marT="25400" marB="25400" anchor="ctr">
                    <a:solidFill>
                      <a:srgbClr val="FFFFFF"/>
                    </a:solidFill>
                  </a:tcPr>
                </a:tc>
                <a:tc>
                  <a:txBody>
                    <a:bodyPr wrap="square"/>
                    <a:lstStyle/>
                    <a:p>
                      <a:pPr algn="ctr"/>
                      <a:r>
                        <a:rPr sz="1200" b="0">
                          <a:solidFill>
                            <a:srgbClr val="292934"/>
                          </a:solidFill>
                        </a:rPr>
                        <a:t>5</a:t>
                      </a:r>
                    </a:p>
                  </a:txBody>
                  <a:tcPr marT="25400" marB="25400" anchor="ctr">
                    <a:solidFill>
                      <a:srgbClr val="FFFFFF"/>
                    </a:solidFill>
                  </a:tcPr>
                </a:tc>
                <a:tc>
                  <a:txBody>
                    <a:bodyPr wrap="square"/>
                    <a:lstStyle/>
                    <a:p>
                      <a:pPr algn="ctr"/>
                      <a:r>
                        <a:rPr sz="1200" b="0">
                          <a:solidFill>
                            <a:srgbClr val="292934"/>
                          </a:solidFill>
                        </a:rPr>
                        <a:t>3</a:t>
                      </a:r>
                    </a:p>
                  </a:txBody>
                  <a:tcPr marT="25400" marB="25400" anchor="ctr">
                    <a:solidFill>
                      <a:srgbClr val="FFFFFF"/>
                    </a:solidFill>
                  </a:tcPr>
                </a:tc>
                <a:tc>
                  <a:txBody>
                    <a:bodyPr wrap="square"/>
                    <a:lstStyle/>
                    <a:p>
                      <a:pPr algn="ctr"/>
                      <a:r>
                        <a:rPr sz="1200" b="0">
                          <a:solidFill>
                            <a:srgbClr val="292934"/>
                          </a:solidFill>
                        </a:rPr>
                        <a:t>1</a:t>
                      </a:r>
                    </a:p>
                  </a:txBody>
                  <a:tcPr marT="25400" marB="25400" anchor="ctr">
                    <a:solidFill>
                      <a:srgbClr val="FFFFFF"/>
                    </a:solidFill>
                  </a:tcPr>
                </a:tc>
              </a:tr>
              <a:tr h="525780">
                <a:tc>
                  <a:txBody>
                    <a:bodyPr wrap="square"/>
                    <a:lstStyle/>
                    <a:p>
                      <a:pPr algn="l"/>
                      <a:r>
                        <a:rPr sz="1200" b="1">
                          <a:solidFill>
                            <a:srgbClr val="FFFFFF"/>
                          </a:solidFill>
                        </a:rPr>
                        <a:t>WEIGHTED SCORE  (1–5, higher = better)</a:t>
                      </a:r>
                    </a:p>
                  </a:txBody>
                  <a:tcPr marT="25400" marB="25400" anchor="ctr">
                    <a:solidFill>
                      <a:srgbClr val="AA2226"/>
                    </a:solidFill>
                  </a:tcPr>
                </a:tc>
                <a:tc>
                  <a:txBody>
                    <a:bodyPr wrap="square"/>
                    <a:lstStyle/>
                    <a:p>
                      <a:pPr algn="ctr"/>
                      <a:r>
                        <a:rPr sz="1200" b="1">
                          <a:solidFill>
                            <a:srgbClr val="FFFFFF"/>
                          </a:solidFill>
                        </a:rPr>
                        <a:t>100%</a:t>
                      </a:r>
                    </a:p>
                  </a:txBody>
                  <a:tcPr marT="25400" marB="25400" anchor="ctr">
                    <a:solidFill>
                      <a:srgbClr val="AA2226"/>
                    </a:solidFill>
                  </a:tcPr>
                </a:tc>
                <a:tc>
                  <a:txBody>
                    <a:bodyPr wrap="square"/>
                    <a:lstStyle/>
                    <a:p>
                      <a:pPr algn="ctr"/>
                      <a:r>
                        <a:rPr sz="1200" b="1">
                          <a:solidFill>
                            <a:srgbClr val="FFFFFF"/>
                          </a:solidFill>
                        </a:rPr>
                        <a:t>4.55</a:t>
                      </a:r>
                    </a:p>
                  </a:txBody>
                  <a:tcPr marT="25400" marB="25400" anchor="ctr">
                    <a:solidFill>
                      <a:srgbClr val="AA2226"/>
                    </a:solidFill>
                  </a:tcPr>
                </a:tc>
                <a:tc>
                  <a:txBody>
                    <a:bodyPr wrap="square"/>
                    <a:lstStyle/>
                    <a:p>
                      <a:pPr algn="ctr"/>
                      <a:r>
                        <a:rPr sz="1200" b="1">
                          <a:solidFill>
                            <a:srgbClr val="FFFFFF"/>
                          </a:solidFill>
                        </a:rPr>
                        <a:t>2.60</a:t>
                      </a:r>
                    </a:p>
                  </a:txBody>
                  <a:tcPr marT="25400" marB="25400" anchor="ctr">
                    <a:solidFill>
                      <a:srgbClr val="AA2226"/>
                    </a:solidFill>
                  </a:tcPr>
                </a:tc>
                <a:tc>
                  <a:txBody>
                    <a:bodyPr wrap="square"/>
                    <a:lstStyle/>
                    <a:p>
                      <a:pPr algn="ctr"/>
                      <a:r>
                        <a:rPr sz="1200" b="1">
                          <a:solidFill>
                            <a:srgbClr val="FFFFFF"/>
                          </a:solidFill>
                        </a:rPr>
                        <a:t>1.95</a:t>
                      </a:r>
                    </a:p>
                  </a:txBody>
                  <a:tcPr marT="25400" marB="25400" anchor="ctr">
                    <a:solidFill>
                      <a:srgbClr val="AA2226"/>
                    </a:solidFill>
                  </a:tcPr>
                </a:tc>
              </a:tr>
            </a:tbl>
          </a:graphicData>
        </a:graphic>
      </p:graphicFrame>
      <p:sp>
        <p:nvSpPr>
          <p:cNvPr id="5" name="TextBox 4"/>
          <p:cNvSpPr txBox="1"/>
          <p:nvPr/>
        </p:nvSpPr>
        <p:spPr>
          <a:xfrm>
            <a:off x="457200" y="5806440"/>
            <a:ext cx="11247120" cy="548640"/>
          </a:xfrm>
          <a:prstGeom prst="rect">
            <a:avLst/>
          </a:prstGeom>
          <a:noFill/>
        </p:spPr>
        <p:txBody>
          <a:bodyPr wrap="square">
            <a:spAutoFit/>
          </a:bodyPr>
          <a:lstStyle/>
          <a:p>
            <a:r>
              <a:rPr sz="1300" b="1">
                <a:solidFill>
                  <a:srgbClr val="0F113C"/>
                </a:solidFill>
              </a:rPr>
              <a:t>▶ Recommend: USGPD develops, owns &amp; operates the CUP (Mammoth Hill) (weighted 4.55/5.0). Include the CUP as part of the overall Casino project.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Custom for Pres 1">
      <a:dk1>
        <a:srgbClr val="292934"/>
      </a:dk1>
      <a:lt1>
        <a:srgbClr val="FFFFFF"/>
      </a:lt1>
      <a:dk2>
        <a:srgbClr val="3B3B4B"/>
      </a:dk2>
      <a:lt2>
        <a:srgbClr val="F3F2DC"/>
      </a:lt2>
      <a:accent1>
        <a:srgbClr val="0F113C"/>
      </a:accent1>
      <a:accent2>
        <a:srgbClr val="AA2226"/>
      </a:accent2>
      <a:accent3>
        <a:srgbClr val="814747"/>
      </a:accent3>
      <a:accent4>
        <a:srgbClr val="1D3A18"/>
      </a:accent4>
      <a:accent5>
        <a:srgbClr val="808DA0"/>
      </a:accent5>
      <a:accent6>
        <a:srgbClr val="C60000"/>
      </a:accent6>
      <a:hlink>
        <a:srgbClr val="0D3B97"/>
      </a:hlink>
      <a:folHlink>
        <a:srgbClr val="80008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sz="3000" b="1" dirty="0" smtClean="0">
            <a:solidFill>
              <a:schemeClr val="bg1"/>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348403F942BFA48A2FACB706BB5AC36" ma:contentTypeVersion="18" ma:contentTypeDescription="Create a new document." ma:contentTypeScope="" ma:versionID="9ef2eeb5ba4f0a6ea57c34aa11982122">
  <xsd:schema xmlns:xsd="http://www.w3.org/2001/XMLSchema" xmlns:xs="http://www.w3.org/2001/XMLSchema" xmlns:p="http://schemas.microsoft.com/office/2006/metadata/properties" xmlns:ns2="6da79504-3b38-4dc1-99b2-1c8e24983edd" xmlns:ns3="95e74e6a-7931-4d76-8cfd-fd6de9f4133c" targetNamespace="http://schemas.microsoft.com/office/2006/metadata/properties" ma:root="true" ma:fieldsID="d719a4c56fb14cf680d40c913e29e811" ns2:_="" ns3:_="">
    <xsd:import namespace="6da79504-3b38-4dc1-99b2-1c8e24983edd"/>
    <xsd:import namespace="95e74e6a-7931-4d76-8cfd-fd6de9f4133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ServiceAutoKeyPoints" minOccurs="0"/>
                <xsd:element ref="ns2:MediaServiceKeyPoints" minOccurs="0"/>
                <xsd:element ref="ns2:MediaServiceLocation" minOccurs="0"/>
                <xsd:element ref="ns2:lcf76f155ced4ddcb4097134ff3c332f" minOccurs="0"/>
                <xsd:element ref="ns3:TaxCatchAll"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a79504-3b38-4dc1-99b2-1c8e24983ed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MediaServiceAutoTags" ma:internalName="MediaServiceAutoTags" ma:readOnly="true">
      <xsd:simpleType>
        <xsd:restriction base="dms:Text"/>
      </xsd:simpleType>
    </xsd:element>
    <xsd:element name="MediaServiceOCR" ma:index="11" nillable="true" ma:displayName="MediaServiceOCR"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4b204247-93f4-49f1-9b5f-bf0a18c64e66"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5e74e6a-7931-4d76-8cfd-fd6de9f4133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806a0985-fbe2-4e94-8ecc-e0d6e04544d4}" ma:internalName="TaxCatchAll" ma:showField="CatchAllData" ma:web="95e74e6a-7931-4d76-8cfd-fd6de9f4133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95e74e6a-7931-4d76-8cfd-fd6de9f4133c">
      <UserInfo>
        <DisplayName>Brandon Standifird</DisplayName>
        <AccountId>18</AccountId>
        <AccountType/>
      </UserInfo>
      <UserInfo>
        <DisplayName>Jared Christianson</DisplayName>
        <AccountId>12</AccountId>
        <AccountType/>
      </UserInfo>
      <UserInfo>
        <DisplayName>Bobby Davis</DisplayName>
        <AccountId>15</AccountId>
        <AccountType/>
      </UserInfo>
      <UserInfo>
        <DisplayName>Morgan Spears</DisplayName>
        <AccountId>16</AccountId>
        <AccountType/>
      </UserInfo>
      <UserInfo>
        <DisplayName>Todd Witmer</DisplayName>
        <AccountId>23</AccountId>
        <AccountType/>
      </UserInfo>
    </SharedWithUsers>
    <lcf76f155ced4ddcb4097134ff3c332f xmlns="6da79504-3b38-4dc1-99b2-1c8e24983edd">
      <Terms xmlns="http://schemas.microsoft.com/office/infopath/2007/PartnerControls"/>
    </lcf76f155ced4ddcb4097134ff3c332f>
    <TaxCatchAll xmlns="95e74e6a-7931-4d76-8cfd-fd6de9f4133c"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64FDF84-27E3-4B13-B3F5-B8F9E44FF70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da79504-3b38-4dc1-99b2-1c8e24983edd"/>
    <ds:schemaRef ds:uri="95e74e6a-7931-4d76-8cfd-fd6de9f4133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8D34B58-9E4A-4E03-B6E9-69480D87DB41}">
  <ds:schemaRefs>
    <ds:schemaRef ds:uri="6da79504-3b38-4dc1-99b2-1c8e24983edd"/>
    <ds:schemaRef ds:uri="95e74e6a-7931-4d76-8cfd-fd6de9f4133c"/>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A4EDDFDD-9110-4277-A6A7-0BEA15A8D7F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56</TotalTime>
  <Words>469</Words>
  <Application>Microsoft Office PowerPoint</Application>
  <PresentationFormat>Widescreen</PresentationFormat>
  <Paragraphs>136</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Wingdings</vt:lpstr>
      <vt:lpstr>Office Theme</vt:lpstr>
      <vt:lpstr>PowerPoint Presentation</vt:lpstr>
      <vt:lpstr>PowerPoint Presentation</vt:lpstr>
      <vt:lpstr>PowerPoint Presentation</vt:lpstr>
      <vt:lpstr>PowerPoint Presentation</vt:lpstr>
      <vt:lpstr>% CWI</vt:lpstr>
      <vt:lpstr>% CWI</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Nick DiLeo</dc:creator>
  <cp:lastModifiedBy>Rohit Gupta</cp:lastModifiedBy>
  <cp:revision>5</cp:revision>
  <cp:lastPrinted>2022-02-10T20:30:28Z</cp:lastPrinted>
  <dcterms:created xsi:type="dcterms:W3CDTF">2018-09-13T20:55:24Z</dcterms:created>
  <dcterms:modified xsi:type="dcterms:W3CDTF">2026-06-23T15:35:54Z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0x0101005348403F942BFA48A2FACB706BB5AC36</vt:lpwstr>
  </property>
  <property fmtid="{D5CDD505-2E9C-101B-9397-08002B2CF9AE}" pid="3" name="AuthorIds_UIVersion_1024">
    <vt:lpwstr>13</vt:lpwstr>
  </property>
  <property fmtid="{D5CDD505-2E9C-101B-9397-08002B2CF9AE}" pid="4" name="AuthorIds_UIVersion_2048">
    <vt:lpwstr>13</vt:lpwstr>
  </property>
  <property fmtid="{D5CDD505-2E9C-101B-9397-08002B2CF9AE}" pid="5" name="MediaServiceImageTags">
    <vt:lpwstr/>
  </property>
</Properties>
</file>